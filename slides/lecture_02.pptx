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fc65d341f0479c" /><Relationship Type="http://schemas.openxmlformats.org/officeDocument/2006/relationships/extended-properties" Target="/docProps/app.xml" Id="Re9902d5f03234fcd" /><Relationship Type="http://schemas.openxmlformats.org/officeDocument/2006/relationships/officeDocument" Target="/ppt/presentation.xml" Id="R0ce07d5a86ff49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3bade6ca7e4600"/>
  </p:sldMasterIdLst>
  <p:notesMasterIdLst>
    <p:notesMasterId xmlns:r="http://schemas.openxmlformats.org/officeDocument/2006/relationships" r:id="Re510c4e29b06491c"/>
  </p:notesMasterIdLst>
  <p:sldIdLst>
    <p:sldId xmlns:r="http://schemas.openxmlformats.org/officeDocument/2006/relationships" id="256" r:id="R9612941f1bc44043"/>
    <p:sldId xmlns:r="http://schemas.openxmlformats.org/officeDocument/2006/relationships" id="257" r:id="Rf346c81e38d14980"/>
    <p:sldId xmlns:r="http://schemas.openxmlformats.org/officeDocument/2006/relationships" id="258" r:id="R44f7cba23d764958"/>
    <p:sldId xmlns:r="http://schemas.openxmlformats.org/officeDocument/2006/relationships" id="259" r:id="Rad2cd7c8b03b42f3"/>
    <p:sldId xmlns:r="http://schemas.openxmlformats.org/officeDocument/2006/relationships" id="260" r:id="R8ccb6f8449b34c18"/>
    <p:sldId xmlns:r="http://schemas.openxmlformats.org/officeDocument/2006/relationships" id="261" r:id="Rf69fcd20d1e34b65"/>
    <p:sldId xmlns:r="http://schemas.openxmlformats.org/officeDocument/2006/relationships" id="262" r:id="R7f46f83fc06a4a6b"/>
    <p:sldId xmlns:r="http://schemas.openxmlformats.org/officeDocument/2006/relationships" id="263" r:id="Ra747cbbe675640e8"/>
    <p:sldId xmlns:r="http://schemas.openxmlformats.org/officeDocument/2006/relationships" id="264" r:id="R9c2e1e118dc54245"/>
    <p:sldId xmlns:r="http://schemas.openxmlformats.org/officeDocument/2006/relationships" id="265" r:id="R69dd6f52b9524f04"/>
    <p:sldId xmlns:r="http://schemas.openxmlformats.org/officeDocument/2006/relationships" id="266" r:id="R96259296f1da4549"/>
    <p:sldId xmlns:r="http://schemas.openxmlformats.org/officeDocument/2006/relationships" id="267" r:id="Rc0997873fc0c42b6"/>
    <p:sldId xmlns:r="http://schemas.openxmlformats.org/officeDocument/2006/relationships" id="268" r:id="R614018c9fc594a6f"/>
    <p:sldId xmlns:r="http://schemas.openxmlformats.org/officeDocument/2006/relationships" id="269" r:id="Rcac43f0e019d454d"/>
    <p:sldId xmlns:r="http://schemas.openxmlformats.org/officeDocument/2006/relationships" id="270" r:id="Rb26fac8cd4604a9c"/>
    <p:sldId xmlns:r="http://schemas.openxmlformats.org/officeDocument/2006/relationships" id="271" r:id="R22c17fb4a07a4299"/>
    <p:sldId xmlns:r="http://schemas.openxmlformats.org/officeDocument/2006/relationships" id="272" r:id="R419ee3e4cc6e4f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22bd1cdb624251" /><Relationship Type="http://schemas.openxmlformats.org/officeDocument/2006/relationships/slideMaster" Target="/ppt/slideMasters/slideMaster1.xml" Id="R393bade6ca7e4600" /><Relationship Type="http://schemas.openxmlformats.org/officeDocument/2006/relationships/notesMaster" Target="/ppt/notesMasters/notesMaster1.xml" Id="Re510c4e29b06491c" /><Relationship Type="http://schemas.openxmlformats.org/officeDocument/2006/relationships/presProps" Target="/ppt/presProps.xml" Id="Rbf2ebc4b74144614" /><Relationship Type="http://schemas.openxmlformats.org/officeDocument/2006/relationships/tableStyles" Target="/ppt/tableStyles.xml" Id="R1455ed4d0b244dec" /><Relationship Type="http://schemas.openxmlformats.org/officeDocument/2006/relationships/slide" Target="/ppt/slides/slide1.xml" Id="R9612941f1bc44043" /><Relationship Type="http://schemas.openxmlformats.org/officeDocument/2006/relationships/slide" Target="/ppt/slides/slide2.xml" Id="Rf346c81e38d14980" /><Relationship Type="http://schemas.openxmlformats.org/officeDocument/2006/relationships/slide" Target="/ppt/slides/slide3.xml" Id="R44f7cba23d764958" /><Relationship Type="http://schemas.openxmlformats.org/officeDocument/2006/relationships/slide" Target="/ppt/slides/slide4.xml" Id="Rad2cd7c8b03b42f3" /><Relationship Type="http://schemas.openxmlformats.org/officeDocument/2006/relationships/slide" Target="/ppt/slides/slide5.xml" Id="R8ccb6f8449b34c18" /><Relationship Type="http://schemas.openxmlformats.org/officeDocument/2006/relationships/slide" Target="/ppt/slides/slide6.xml" Id="Rf69fcd20d1e34b65" /><Relationship Type="http://schemas.openxmlformats.org/officeDocument/2006/relationships/slide" Target="/ppt/slides/slide7.xml" Id="R7f46f83fc06a4a6b" /><Relationship Type="http://schemas.openxmlformats.org/officeDocument/2006/relationships/slide" Target="/ppt/slides/slide8.xml" Id="Ra747cbbe675640e8" /><Relationship Type="http://schemas.openxmlformats.org/officeDocument/2006/relationships/slide" Target="/ppt/slides/slide9.xml" Id="R9c2e1e118dc54245" /><Relationship Type="http://schemas.openxmlformats.org/officeDocument/2006/relationships/slide" Target="/ppt/slides/slide10.xml" Id="R69dd6f52b9524f04" /><Relationship Type="http://schemas.openxmlformats.org/officeDocument/2006/relationships/slide" Target="/ppt/slides/slide11.xml" Id="R96259296f1da4549" /><Relationship Type="http://schemas.openxmlformats.org/officeDocument/2006/relationships/slide" Target="/ppt/slides/slide12.xml" Id="Rc0997873fc0c42b6" /><Relationship Type="http://schemas.openxmlformats.org/officeDocument/2006/relationships/slide" Target="/ppt/slides/slide13.xml" Id="R614018c9fc594a6f" /><Relationship Type="http://schemas.openxmlformats.org/officeDocument/2006/relationships/slide" Target="/ppt/slides/slide14.xml" Id="Rcac43f0e019d454d" /><Relationship Type="http://schemas.openxmlformats.org/officeDocument/2006/relationships/slide" Target="/ppt/slides/slide15.xml" Id="Rb26fac8cd4604a9c" /><Relationship Type="http://schemas.openxmlformats.org/officeDocument/2006/relationships/slide" Target="/ppt/slides/slide16.xml" Id="R22c17fb4a07a4299" /><Relationship Type="http://schemas.openxmlformats.org/officeDocument/2006/relationships/slide" Target="/ppt/slides/slide17.xml" Id="R419ee3e4cc6e4f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cb8dd6b2e343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34422ca9674701" /><Relationship Type="http://schemas.openxmlformats.org/officeDocument/2006/relationships/notesMaster" Target="/ppt/notesMasters/notesMaster1.xml" Id="R8fcd272036634c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791ad68fa2493c" /><Relationship Type="http://schemas.openxmlformats.org/officeDocument/2006/relationships/notesMaster" Target="/ppt/notesMasters/notesMaster1.xml" Id="Rcf857f6cbb5e42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962eec25934676" /><Relationship Type="http://schemas.openxmlformats.org/officeDocument/2006/relationships/notesMaster" Target="/ppt/notesMasters/notesMaster1.xml" Id="R4163e3e6afda4e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20651d71894d5a" /><Relationship Type="http://schemas.openxmlformats.org/officeDocument/2006/relationships/notesMaster" Target="/ppt/notesMasters/notesMaster1.xml" Id="R4e50c2e2deeb4d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cf8f721317409f" /><Relationship Type="http://schemas.openxmlformats.org/officeDocument/2006/relationships/notesMaster" Target="/ppt/notesMasters/notesMaster1.xml" Id="R236f4d2183bd42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910a64e4ac4af0" /><Relationship Type="http://schemas.openxmlformats.org/officeDocument/2006/relationships/notesMaster" Target="/ppt/notesMasters/notesMaster1.xml" Id="R11937e8c76e947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69dd8e9bf14074" /><Relationship Type="http://schemas.openxmlformats.org/officeDocument/2006/relationships/notesMaster" Target="/ppt/notesMasters/notesMaster1.xml" Id="R7b25a623ebe84d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9715a2826d4a98" /><Relationship Type="http://schemas.openxmlformats.org/officeDocument/2006/relationships/notesMaster" Target="/ppt/notesMasters/notesMaster1.xml" Id="R6ed0d4abc7b946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0d23e7ddaf435d" /><Relationship Type="http://schemas.openxmlformats.org/officeDocument/2006/relationships/notesMaster" Target="/ppt/notesMasters/notesMaster1.xml" Id="Rf4d667b7bdec4b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9e8880b1dc44ab" /><Relationship Type="http://schemas.openxmlformats.org/officeDocument/2006/relationships/notesMaster" Target="/ppt/notesMasters/notesMaster1.xml" Id="R7d956816dca642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426d8039674a20" /><Relationship Type="http://schemas.openxmlformats.org/officeDocument/2006/relationships/notesMaster" Target="/ppt/notesMasters/notesMaster1.xml" Id="R9fea70e300f847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f955fd983a472c" /><Relationship Type="http://schemas.openxmlformats.org/officeDocument/2006/relationships/notesMaster" Target="/ppt/notesMasters/notesMaster1.xml" Id="R2e64f0a0984148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6bafe9998747c5" /><Relationship Type="http://schemas.openxmlformats.org/officeDocument/2006/relationships/notesMaster" Target="/ppt/notesMasters/notesMaster1.xml" Id="Rc73ea367923a48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76c7da87094e74" /><Relationship Type="http://schemas.openxmlformats.org/officeDocument/2006/relationships/notesMaster" Target="/ppt/notesMasters/notesMaster1.xml" Id="Ra950061ba9ef4a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65beed626f483d" /><Relationship Type="http://schemas.openxmlformats.org/officeDocument/2006/relationships/notesMaster" Target="/ppt/notesMasters/notesMaster1.xml" Id="R38a5010649b84e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e670bb95e34eb8" /><Relationship Type="http://schemas.openxmlformats.org/officeDocument/2006/relationships/notesMaster" Target="/ppt/notesMasters/notesMaster1.xml" Id="R0a5a3a2f534c49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d035b1a2a74c00" /><Relationship Type="http://schemas.openxmlformats.org/officeDocument/2006/relationships/notesMaster" Target="/ppt/notesMasters/notesMaster1.xml" Id="Rb59599ff78e640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Функции из первой лекции работают со списком оценок. Теперь соединим оценки с ID, именем и группой студента. Базовые множества уже известны и пригодятся для поиска повторов.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Хранить записи о студентах и выполнять поиск, изменение, фильтрацию и группировку.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Словарь связывает ключи со значениями. Одна запись о студенте содержит несколько разных характеристик: ID, имя, группу и список оценок. Имена ключей делают назначение полей явным. Если использовать список ["S01", "Анна", "ИС-21", [4, 5]], придётся помнить смысл каждого индекса. Словарь позволяет обращаться к student["name"].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Договоритесь об одинаковых ключах во всех записях. В одной записи нельзя использовать name, а в другой full_name, если функции ожидают единую схему. Схема — это описание обязательных полей и их типов. Пока мы соблюдаем её вручную; позднее проверка станет частью класса.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Квадратные скобки подходят для обязательного поля: отсутствие ключа означает, что данные нарушают договорённость. get удобен для необязательного поля, когда отсутствие предусмотрено. Не следует заменять каждое обращение на get: это может скрыть ошибку в названии ключа и отложить проблему до другого участка программы.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Когда отсутствие name должно считаться ошибкой?</a:t>
            </a:r>
          </a:p>
          <a:p xmlns:a="http://schemas.openxmlformats.org/drawingml/2006/main">
            <a:r>
              <a:t>Ответ: Когда name является обязательным полем принятой схемы.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Анна</a:t>
            </a:r>
          </a:p>
          <a:p xmlns:a="http://schemas.openxmlformats.org/drawingml/2006/main">
            <a:r>
              <a:t>не указан</a:t>
            </a:r>
          </a:p>
          <a:p xmlns:a="http://schemas.openxmlformats.org/drawingml/2006/main">
            <a:r>
              <a:t>[4, 5, 3]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Когда отсутствие name должно считаться ошибкой?</a:t>
            </a:r>
          </a:p>
          <a:p xmlns:a="http://schemas.openxmlformats.org/drawingml/2006/main">
            <a:r>
              <a:t>Когда name является обязательным полем принятой схемы.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разных студентов могут совпадать имена. Поэтому имя не подходит как надёжный идентификатор. В учебном журнале используем отдельный строковый ID. Внешний словарь связывает ID с записью: book["S01"] возвращает конкретного студента. Число в строке и число как int — разные ключи, поэтому единый тип ID принципиален.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Вставка book[id] = record заменяет старое значение, если ключ уже существует. Для учебного журнала такое молчаливое обновление опасно: можно потерять оценки. Сначала проверяем наличие ключа. На этой лекции функция возвращает bool, а в семестровой работе позже будет установлен контракт с ValueError. Контракт учебного упражнения не следует автоматически переносить в итоговое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поиска по ID словарь удобнее полного перебора списка. Но для поиска по части имени всё равно нужно просмотреть записи. Выбор структуры зависит от наиболее частых операций, а не от того, какая конструкция выглядит короче.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нельзя использовать фамилию как уникальный ключ?</a:t>
            </a:r>
          </a:p>
          <a:p xmlns:a="http://schemas.openxmlformats.org/drawingml/2006/main">
            <a:r>
              <a:t>Ответ: У разных людей бывают одинаковые фамилии, а фамилия одного человека может измениться.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True</a:t>
            </a:r>
          </a:p>
          <a:p xmlns:a="http://schemas.openxmlformats.org/drawingml/2006/main">
            <a:r>
              <a:t>False</a:t>
            </a:r>
          </a:p>
          <a:p xmlns:a="http://schemas.openxmlformats.org/drawingml/2006/main">
            <a:r>
              <a:t>Анна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Почему нельзя использовать фамилию как уникальный ключ?</a:t>
            </a:r>
          </a:p>
          <a:p xmlns:a="http://schemas.openxmlformats.org/drawingml/2006/main">
            <a:r>
              <a:t>У разных людей бывают одинаковые фамилии, а фамилия одного человека может измениться.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Поиск по условию строится знакомым циклом: просмотреть элементы, проверить условие, добавить подходящие в новый список. Фильтрация не должна менять исходную коллекцию. В примере требуется точное совпадение группы: ИС-21 и ис-21 считаются разными строками, пока явно не задано правило нормализации.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Обсудите отличие пустого результата от ошибки. Если в группе нет студентов, пустой список является нормальным ответом. Вызывающий код решит, показать ли сообщение «Записей нет». Возвращать иногда список, а иногда строку «не найдено» неудобно: каждый потребитель будет вынужден разбирать два несвязанных типа.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Списковое включение способно записать ту же операцию короче, но сначала важно понять обычный цикл. На практике допустимы оба варианта. Критерий — студент может объяснить условие включения записи и предсказать результат для пустого входа.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Будут ли словари внутри result независимыми копиями?</a:t>
            </a:r>
          </a:p>
          <a:p xmlns:a="http://schemas.openxmlformats.org/drawingml/2006/main">
            <a:r>
              <a:t>Ответ: Нет. Новый только внешний список, его элементы ссылаются на исходные словари.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[{'name': 'Анна', 'group': 'A'}]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Будут ли словари внутри result независимыми копиями?</a:t>
            </a:r>
          </a:p>
          <a:p xmlns:a="http://schemas.openxmlformats.org/drawingml/2006/main">
            <a:r>
              <a:t>Нет. Новый только внешний список, его элементы ссылаются на исходные словари.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изменением нужно определить, какую запись меняем и что делать, если её нет. В учебном примере сначала используем membership-проверку key in book. Затем изменяем конкретное поле. Удаление через del удаляет связь ключа и записи во внешнем словаре. Оно не означает автоматического удаления всех других ссылок на этот объект.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Нельзя бездумно удалять элементы словаря во время обхода того же словаря: меняется размер коллекции, что нарушает обход. Если задача — удалить несколько записей по условию, сначала соберите их ключи в отдельный список, затем выполните удаление по этому списку. Так алгоритм остаётся понятным.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интерфейсе перед удалением потребуется подтверждение пользователя. Однако вычислительная функция не должна спрашивать подтверждение через input. Интерфейс получает ответ, после чего вызывает функцию удаления. Эта граница сохраняется и при переходе к классам.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Зачем нужен отдельный список keys?</a:t>
            </a:r>
          </a:p>
          <a:p xmlns:a="http://schemas.openxmlformats.org/drawingml/2006/main">
            <a:r>
              <a:t>Ответ: Он позволяет менять book, не меняя коллекцию, по которой сейчас выполняется обход.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{'1': {'name': 'Анна', 'group': 'B'}}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Зачем нужен отдельный список keys?</a:t>
            </a:r>
          </a:p>
          <a:p xmlns:a="http://schemas.openxmlformats.org/drawingml/2006/main">
            <a:r>
              <a:t>Он позволяет менять book, не меняя коллекцию, по которой сейчас выполняется обход.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Группировка отличается от фильтрации: нам нужны все группы сразу. Создаём словарь, в котором ключом будет название группы, а значением — список её студентов. При первом появлении группы создаём пустой список. Затем добавляем запись в список соответствующей группы.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Частотный подсчёт использует ту же идею, но хранит число вместо списка. Если ключа ещё нет, счётчик начинается с нуля. Выражение counts.get(group, 0) + 1 удобно показывает начальное значение. Важно не создавать пустой список повторно на каждой итерации: это уничтожило бы уже накопленные записи.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Группировка полезна для отчётов: количество студентов по группам, распределение товаров по категориям, число заявок каждого статуса. Сначала отделяем формирование данных от их печати. Тогда одна функция может использоваться для текстового отчёта и дальнейшего экспорта.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изменить этот алгоритм, чтобы хранить имена по группам?</a:t>
            </a:r>
          </a:p>
          <a:p xmlns:a="http://schemas.openxmlformats.org/drawingml/2006/main">
            <a:r>
              <a:t>Ответ: Создавать для новой группы список и добавлять в него имя вместо увеличения числа.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{'A': 2, 'B': 1}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изменить этот алгоритм, чтобы хранить имена по группам?</a:t>
            </a:r>
          </a:p>
          <a:p xmlns:a="http://schemas.openxmlformats.org/drawingml/2006/main">
            <a:r>
              <a:t>Создавать для новой группы список и добавлять в него имя вместо увеличения числа.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Копия словаря создаёт новый внешний контейнер, но не копирует вложенный список оценок. Поэтому student.copy()["grades"].append(2) изменит список, который доступен и через исходную запись. Это не ошибка метода copy: он выполняет поверхностное копирование по своему контракту.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Когда схема небольшая и известна, удобно собрать новую запись явно и отдельно скопировать grades. Это показывает, какие данные должны быть независимыми. Существует deepcopy для рекурсивного копирования, но в текущей задаче он скрывает важное для обучения устройство данных. Сначала разберём ручной вариант.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 проверке копирования недостаточно сравнить две записи сразу после создания. Они должны быть равны по содержимому. Затем измените вложенную коллекцию одной записи и убедитесь, что другая осталась прежней. Именно второй шаг выявляет совместное использование списка.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Какой тест обнаружит поверхностную копию вместо нужной независимой?</a:t>
            </a:r>
          </a:p>
          <a:p xmlns:a="http://schemas.openxmlformats.org/drawingml/2006/main">
            <a:r>
              <a:t>Ответ: Добавить оценку в copied и проверить, что original["grades"] не изменился.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{'id': '1', 'grades': [4, 5]}</a:t>
            </a:r>
          </a:p>
          <a:p xmlns:a="http://schemas.openxmlformats.org/drawingml/2006/main">
            <a:r>
              <a:t>{'id': '1', 'grades': [4, 5, 2]}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Какой тест обнаружит поверхностную копию вместо нужной независимой?</a:t>
            </a:r>
          </a:p>
          <a:p xmlns:a="http://schemas.openxmlformats.org/drawingml/2006/main">
            <a:r>
              <a:t>Добавить оценку в copied и проверить, что original["grades"] не изменился.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Порядок добавления записей не всегда совпадает с порядком удобного отчёта. Для вывода используем sorted с функцией key. Она вычисляет значение, по которому сравниваются записи. В примере основным ключом является имя без учёта регистра, дополнительным — ID. Дополнительный ключ делает порядок однозначным при одинаковых именах.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sorted возвращает новый список, поэтому исходная коллекция не перестраивается. Это особенно полезно, если входом являются значения словаря. У строки casefold назначение связано с сравнением без учёта регистра; исходное имя при этом можно сохранить для вывода.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учебном журнале применяется лексикографическое сравнение строк Python. Это не полноценная библиотечная сортировка по правилам русского алфавита для всех языковых особенностей. Достаточно явного простого правила, одинакового в программе, задании и тестах.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произойдёт при одинаковых именах после casefold?</a:t>
            </a:r>
          </a:p>
          <a:p xmlns:a="http://schemas.openxmlformats.org/drawingml/2006/main">
            <a:r>
              <a:t>Ответ: Порядок определит строковый ID, второй элемент кортежа ключа.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['1', '2', '3']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Что произойдёт при одинаковых именах после casefold?</a:t>
            </a:r>
          </a:p>
          <a:p xmlns:a="http://schemas.openxmlformats.org/drawingml/2006/main">
            <a:r>
              <a:t>Порядок определит строковый ID, второй элемент кортежа ключа.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Добавьте к справочнику фильтр по группе и отчёт с числом студентов по группам. Приведите примеры пустого результата и одинаковых имён. Объясните, какие контейнеры ваша программа изменяет.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Справочники: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lectures/02/README.md</a:t>
            </a:r>
          </a:p>
          <a:p xmlns:a="http://schemas.openxmlformats.org/drawingml/2006/main">
            <a:r>
              <a:t>https://docs.python.org/3/tutorial/datastructures.html#dictionaries</a:t>
            </a:r>
          </a:p>
          <a:p xmlns:a="http://schemas.openxmlformats.org/drawingml/2006/main">
            <a:r>
              <a:t>https://docs.python.org/3/library/stdtypes.html#mapping-types-dict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941c8e2734a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b336665758474a" /><Relationship Type="http://schemas.openxmlformats.org/officeDocument/2006/relationships/slideLayout" Target="/ppt/slideLayouts/slideLayout1.xml" Id="Rdd70431b071c47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70431b071c47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1c488ec5841c9" /><Relationship Type="http://schemas.openxmlformats.org/officeDocument/2006/relationships/notesSlide" Target="/ppt/notesSlides/notesSlide1.xml" Id="R340eeb1ef75941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0e0f752564a40" /><Relationship Type="http://schemas.openxmlformats.org/officeDocument/2006/relationships/notesSlide" Target="/ppt/notesSlides/notesSlide2.xml" Id="R02f5017e83c649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d222fcc3b4558" /><Relationship Type="http://schemas.openxmlformats.org/officeDocument/2006/relationships/notesSlide" Target="/ppt/notesSlides/notesSlide3.xml" Id="Rb9d2631ccaa847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622b25b3847f9" /><Relationship Type="http://schemas.openxmlformats.org/officeDocument/2006/relationships/notesSlide" Target="/ppt/notesSlides/notesSlide4.xml" Id="R02f4ab93735e43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46f8449184b4f" /><Relationship Type="http://schemas.openxmlformats.org/officeDocument/2006/relationships/notesSlide" Target="/ppt/notesSlides/notesSlide5.xml" Id="Rbd9e8a19604448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3c96934a24604" /><Relationship Type="http://schemas.openxmlformats.org/officeDocument/2006/relationships/notesSlide" Target="/ppt/notesSlides/notesSlide6.xml" Id="R96c5be7642bf4a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2feea9b194917" /><Relationship Type="http://schemas.openxmlformats.org/officeDocument/2006/relationships/notesSlide" Target="/ppt/notesSlides/notesSlide7.xml" Id="R79c2ee36c35a44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847a3cdcc4a59" /><Relationship Type="http://schemas.openxmlformats.org/officeDocument/2006/relationships/notesSlide" Target="/ppt/notesSlides/notesSlide8.xml" Id="R3019ff91ef4942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70e05aa084a3c" /><Relationship Type="http://schemas.openxmlformats.org/officeDocument/2006/relationships/notesSlide" Target="/ppt/notesSlides/notesSlide9.xml" Id="Ra988e561cead48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73b075852477d" /><Relationship Type="http://schemas.openxmlformats.org/officeDocument/2006/relationships/notesSlide" Target="/ppt/notesSlides/notesSlide10.xml" Id="R6d4444bc967349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b9ee6fe664b23" /><Relationship Type="http://schemas.openxmlformats.org/officeDocument/2006/relationships/notesSlide" Target="/ppt/notesSlides/notesSlide11.xml" Id="R6888e24e4f9640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2c0229a944eab" /><Relationship Type="http://schemas.openxmlformats.org/officeDocument/2006/relationships/notesSlide" Target="/ppt/notesSlides/notesSlide12.xml" Id="R557f1cc5a87541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e551571354db9" /><Relationship Type="http://schemas.openxmlformats.org/officeDocument/2006/relationships/notesSlide" Target="/ppt/notesSlides/notesSlide13.xml" Id="Rc34da306cdff45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7a66f01ef488a" /><Relationship Type="http://schemas.openxmlformats.org/officeDocument/2006/relationships/notesSlide" Target="/ppt/notesSlides/notesSlide14.xml" Id="R75dbfe27da4740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d78a3b7f84e49" /><Relationship Type="http://schemas.openxmlformats.org/officeDocument/2006/relationships/notesSlide" Target="/ppt/notesSlides/notesSlide15.xml" Id="R72d234cc231049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4dbf869544898" /><Relationship Type="http://schemas.openxmlformats.org/officeDocument/2006/relationships/notesSlide" Target="/ppt/notesSlides/notesSlide16.xml" Id="R1ec807b030db41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b7eebbf414596" /><Relationship Type="http://schemas.openxmlformats.org/officeDocument/2006/relationships/notesSlide" Target="/ppt/notesSlides/notesSlide17.xml" Id="R8a6c4e2cae5747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60BF2-2A0A-48A8-ABE2-85D30F23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D6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D6C3"/>
                </a:solidFill>
                <a:latin typeface="Arial"/>
                <a:ea typeface="Arial"/>
                <a:cs typeface="Arial"/>
              </a:rPr>
              <a:t>PYTHON / 2 КУРС / ЛЕКЦИЯ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3BD41-5E35-4DD7-9BCD-5AD8126B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Словари и вложенные коллекции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F81D5-1923-45D4-84E4-2C351E01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BDD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DE5"/>
                </a:solidFill>
                <a:latin typeface="Arial"/>
                <a:ea typeface="Arial"/>
                <a:cs typeface="Arial"/>
              </a:rPr>
              <a:t>Алгоритмизация и программирование</a:t>
            </a:r>
          </a:p>
          <a:p xmlns:a="http://schemas.openxmlformats.org/drawingml/2006/main">
            <a:pPr>
              <a:defRPr sz="2175" b="0">
                <a:solidFill>
                  <a:srgbClr val="CBDD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DE5"/>
                </a:solidFill>
                <a:latin typeface="Arial"/>
                <a:ea typeface="Arial"/>
                <a:cs typeface="Arial"/>
              </a:rPr>
              <a:t>Прикладной курс · 90 минут</a:t>
            </a:r>
          </a:p>
        </p:txBody>
      </p:sp>
    </p:spTree>
    <p:extLst>
      <p:ext uri="{BB962C8B-B14F-4D97-AF65-F5344CB8AC3E}">
        <p14:creationId xmlns:p14="http://schemas.microsoft.com/office/powerpoint/2010/main" val="1055651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5EE59-307A-469D-9B93-AF790C0B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Результат занятия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6EC0D-4920-4EA1-B5EE-013272B7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Выбрать между списком записей и словарём по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Безопасно добавить и удалить запись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Объяснить разницу копии списка и копии вложенных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Сформировать группировку без потери записей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BAACE-F03C-4F13-BF24-2C99A84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2 из 17</a:t>
            </a:r>
          </a:p>
        </p:txBody>
      </p:sp>
    </p:spTree>
    <p:extLst>
      <p:ext uri="{BB962C8B-B14F-4D97-AF65-F5344CB8AC3E}">
        <p14:creationId xmlns:p14="http://schemas.microsoft.com/office/powerpoint/2010/main" val="2135333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E6BE1-02DC-4C06-B60D-B87B9E76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Запись как словарь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3259E-3DE2-4319-9A56-EC77A072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Одна запись содержит поля с именами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Схема должна быть одинаковой у всех записей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get применяется к необязательным полям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63B2-6438-4D4B-A82B-234C9D99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3 из 17</a:t>
            </a:r>
          </a:p>
        </p:txBody>
      </p:sp>
    </p:spTree>
    <p:extLst>
      <p:ext uri="{BB962C8B-B14F-4D97-AF65-F5344CB8AC3E}">
        <p14:creationId xmlns:p14="http://schemas.microsoft.com/office/powerpoint/2010/main" val="1010312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E8A45-A4C0-44BF-A0D0-6DEEC338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Запись как словарь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4AF30-1634-42EA-8D3F-935D2B0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student = {"id": "S01", "name": "Анна",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"group": "ИС-21", "grades": [4, 5]}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print(student["name"])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print(student.get("email", "не указан"))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student["grades"].append(3)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print(student["grades"])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E2236-C2D3-4EE2-AFE0-7DC24F4E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4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893003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9F052-164D-4AC8-AD38-AE06E45D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Словарь записей по 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9D8B8-BE63-4B00-9D6A-77DD4D72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ID не зависит от имени студента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Присваивание существующему ключу заменяет запись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Добавление требует проверки дубликата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68455-460C-4B43-A46F-D9F8D21B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5 из 17</a:t>
            </a:r>
          </a:p>
        </p:txBody>
      </p:sp>
    </p:spTree>
    <p:extLst>
      <p:ext uri="{BB962C8B-B14F-4D97-AF65-F5344CB8AC3E}">
        <p14:creationId xmlns:p14="http://schemas.microsoft.com/office/powerpoint/2010/main" val="7406524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4F1B5-BA30-4199-8BC3-51378255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Словарь записей по 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BC351-B0E6-482B-A2E4-A305584C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def add_record(book, record):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key = record["id"]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if key in book: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return False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book[key] = record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return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book = {}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print(add_record(book, {"id": "S01", "name": "Анна"}))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print(add_record(book, {"id": "S01", "name": "Борис"}))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print(book["S01"]["name"])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B31BF-9139-4594-82B4-C7DB43B5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6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285799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885EF-8B64-486E-9B2E-B2F54C45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Поиск и фильтрация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B6FA1-7F7B-40B3-8BF9-756D269F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Фильтрация создаёт список подходящих записей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Пустой список означает отсутствие совпадений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Правило сравнения строк задаётся явно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E1182-EF62-4F60-A66A-E79B4DB7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7 из 17</a:t>
            </a:r>
          </a:p>
        </p:txBody>
      </p:sp>
    </p:spTree>
    <p:extLst>
      <p:ext uri="{BB962C8B-B14F-4D97-AF65-F5344CB8AC3E}">
        <p14:creationId xmlns:p14="http://schemas.microsoft.com/office/powerpoint/2010/main" val="3932781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B9709-F8EC-4AF9-BE6D-B1EA485E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Поиск и фильтрация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FBD30-CDBE-4C77-B63F-652C1E0B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def select_group(students, group):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result = []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for student in students: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if student["group"] == group: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result.append(student)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rows = [{"name": "Анна", "group": "A"},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{"name": "Борис", "group": "B"}]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print(select_group(rows, "A"))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8D838-7640-49E3-9690-C3C3D439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8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4379773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26F82-3513-41BA-9604-D985DE41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Изменение и удаление записи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5245F-7DD4-4753-90A7-15AFF1C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Изменяется конкретное поле найденной записи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Сначала собираются ключи для массового удаления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Подтверждение пользователя относится к интерфейсу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EA7FD-FCB0-44EF-95A5-81A83CEC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9 из 17</a:t>
            </a:r>
          </a:p>
        </p:txBody>
      </p:sp>
    </p:spTree>
    <p:extLst>
      <p:ext uri="{BB962C8B-B14F-4D97-AF65-F5344CB8AC3E}">
        <p14:creationId xmlns:p14="http://schemas.microsoft.com/office/powerpoint/2010/main" val="433374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EF273-75C2-42A4-9A6F-109484C9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Изменение и удаление записи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D0718-69BA-40BE-89C6-FC65F1BB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book = {"1": {"name": "Анна", "group": "A"},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"2": {"name": "Борис", "group": "B"}}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book["1"]["group"] = "B"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keys = [key for key in book if book[key]["name"] == "Борис"]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for key in keys: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del book[key]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print(book)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22151-753F-4ED2-B6A8-146AD24D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10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0414819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A7401-2371-4A62-8746-73230386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Группировка и подсчёт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234A6-F5BF-4F49-A00B-62F01480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Ключ группировки выбирается по задаче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Первое появление ключа требует начального значения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Счётчик и список решают разные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4D562-8B9D-45D9-A8B2-1E34B971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11 из 17</a:t>
            </a:r>
          </a:p>
        </p:txBody>
      </p:sp>
    </p:spTree>
    <p:extLst>
      <p:ext uri="{BB962C8B-B14F-4D97-AF65-F5344CB8AC3E}">
        <p14:creationId xmlns:p14="http://schemas.microsoft.com/office/powerpoint/2010/main" val="1794258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8B182-8B33-49B9-9C47-DCB8DC39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Группировка и подсчёт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20BA0-2C14-4BED-B505-5846C701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students = [{"name": "Анна", "group": "A"},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{"name": "Борис", "group": "B"},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{"name": "Вера", "group": "A"}]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counts = {}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for student in students: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group = student["group"]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counts[group] = counts.get(group, 0) + 1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print(counts)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CDF73-7F21-406E-9D03-336E2373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12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4981077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677FE-2E3A-4367-8A86-014CEAE4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Поверхностная копия и вложенные списки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7A5D6-6AFB-49C1-9A06-A40FF0D7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copy не копирует вложенные объекты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Независимость проверяется после изменения копии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Известную схему можно скопировать явно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90097-9D63-4D9A-9245-66485766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13 из 17</a:t>
            </a:r>
          </a:p>
        </p:txBody>
      </p:sp>
    </p:spTree>
    <p:extLst>
      <p:ext uri="{BB962C8B-B14F-4D97-AF65-F5344CB8AC3E}">
        <p14:creationId xmlns:p14="http://schemas.microsoft.com/office/powerpoint/2010/main" val="12273829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D892A-F2E6-40AB-9609-15F9C962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Поверхностная копия и вложенные списки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ADDDB-BB1E-43AA-9318-F6565D20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original = {"id": "1", "grades": [4, 5]}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copied = {"id": original["id"],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"grades": original["grades"].copy()}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copied["grades"].append(2)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print(original)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print(copied)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5D409-AC14-4CE0-912B-0BE3E703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14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2463795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159CD-9730-49C3-8231-18B3A55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Упорядоченный отчёт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6999F-44DA-4C89-9B99-B8867D3F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sorted создаёт новый список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key задаёт правило сравнения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Второй ключ разрешает совпадения первого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3814F-98AC-442E-BDEA-2BFD4F9B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15 из 17</a:t>
            </a:r>
          </a:p>
        </p:txBody>
      </p:sp>
    </p:spTree>
    <p:extLst>
      <p:ext uri="{BB962C8B-B14F-4D97-AF65-F5344CB8AC3E}">
        <p14:creationId xmlns:p14="http://schemas.microsoft.com/office/powerpoint/2010/main" val="17384155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DC2F6-EF1A-4D0A-9F9B-6582798A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Упорядоченный отчёт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E1BDF-9107-40E5-9EBB-DBCC463C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rows = [{"id": "2", "name": "анна"},</a:t>
            </a:r>
          </a:p>
          <a:p xmlns:a="http://schemas.openxmlformats.org/drawingml/2006/main">
            <a:pPr>
              <a:def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{"id": "1", "name": "Анна"},</a:t>
            </a:r>
          </a:p>
          <a:p xmlns:a="http://schemas.openxmlformats.org/drawingml/2006/main">
            <a:pPr>
              <a:def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{"id": "3", "name": "Борис"}]</a:t>
            </a:r>
          </a:p>
          <a:p xmlns:a="http://schemas.openxmlformats.org/drawingml/2006/main">
            <a:pPr>
              <a:def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ordered = sorted(rows, key=lambda row: (row["name"].casefold(), row["id"]))</a:t>
            </a:r>
          </a:p>
          <a:p xmlns:a="http://schemas.openxmlformats.org/drawingml/2006/main">
            <a:pPr>
              <a:def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print([row["id"] for row in ordered])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62168-5D37-487A-B713-83EF057A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16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9008179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39077-2C3E-4AAB-A5EA-F448E702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Самопроверка и практика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D32F3-FF1E-4890-AE31-857C5D29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Почему нельзя использовать фамилию как уникальный ключ?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Как изменить этот алгоритм, чтобы хранить имена по группам?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Практики 3 и 4: применение материала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ADC9C-A32D-45AE-A727-480F65B6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2   /   17 из 17</a:t>
            </a:r>
          </a:p>
        </p:txBody>
      </p:sp>
    </p:spTree>
    <p:extLst>
      <p:ext uri="{BB962C8B-B14F-4D97-AF65-F5344CB8AC3E}">
        <p14:creationId xmlns:p14="http://schemas.microsoft.com/office/powerpoint/2010/main" val="1886746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2026-09-09T09:52:03.6750000Z</dcterms:created>
  <dcterms:modified xsi:type="dcterms:W3CDTF">2026-09-09T09:52:03.6750000Z</dcterms:modified>
</coreProperties>
</file>