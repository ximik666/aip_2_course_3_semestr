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cb3632f4f14a51" /><Relationship Type="http://schemas.openxmlformats.org/officeDocument/2006/relationships/extended-properties" Target="/docProps/app.xml" Id="R18a5cd13f64b426d" /><Relationship Type="http://schemas.openxmlformats.org/officeDocument/2006/relationships/officeDocument" Target="/ppt/presentation.xml" Id="Rb06e8ec85a5944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0e196e47bb4ec7"/>
  </p:sldMasterIdLst>
  <p:notesMasterIdLst>
    <p:notesMasterId xmlns:r="http://schemas.openxmlformats.org/officeDocument/2006/relationships" r:id="Re8fe2ece878347a5"/>
  </p:notesMasterIdLst>
  <p:sldIdLst>
    <p:sldId xmlns:r="http://schemas.openxmlformats.org/officeDocument/2006/relationships" id="256" r:id="Rd984cb5069f14b84"/>
    <p:sldId xmlns:r="http://schemas.openxmlformats.org/officeDocument/2006/relationships" id="257" r:id="Rbc14c8ec1b5f4728"/>
    <p:sldId xmlns:r="http://schemas.openxmlformats.org/officeDocument/2006/relationships" id="258" r:id="R348e78fa7e544e36"/>
    <p:sldId xmlns:r="http://schemas.openxmlformats.org/officeDocument/2006/relationships" id="259" r:id="R4ed28384e5724f7d"/>
    <p:sldId xmlns:r="http://schemas.openxmlformats.org/officeDocument/2006/relationships" id="260" r:id="R61c1c2d03fa74704"/>
    <p:sldId xmlns:r="http://schemas.openxmlformats.org/officeDocument/2006/relationships" id="261" r:id="R4af7e9b820134f37"/>
    <p:sldId xmlns:r="http://schemas.openxmlformats.org/officeDocument/2006/relationships" id="262" r:id="Re400e649ebc54c28"/>
    <p:sldId xmlns:r="http://schemas.openxmlformats.org/officeDocument/2006/relationships" id="263" r:id="R966cddb2a7644d8b"/>
    <p:sldId xmlns:r="http://schemas.openxmlformats.org/officeDocument/2006/relationships" id="264" r:id="Rfbde617f3c2e4c75"/>
    <p:sldId xmlns:r="http://schemas.openxmlformats.org/officeDocument/2006/relationships" id="265" r:id="R6f4c395b75794bbf"/>
    <p:sldId xmlns:r="http://schemas.openxmlformats.org/officeDocument/2006/relationships" id="266" r:id="Raa19e4a603e74eb8"/>
    <p:sldId xmlns:r="http://schemas.openxmlformats.org/officeDocument/2006/relationships" id="267" r:id="R35ed888fa119439d"/>
    <p:sldId xmlns:r="http://schemas.openxmlformats.org/officeDocument/2006/relationships" id="268" r:id="R9bf08e93c28b4dd2"/>
    <p:sldId xmlns:r="http://schemas.openxmlformats.org/officeDocument/2006/relationships" id="269" r:id="R1339b1058a7d46da"/>
    <p:sldId xmlns:r="http://schemas.openxmlformats.org/officeDocument/2006/relationships" id="270" r:id="Rc73c400dcda6475b"/>
    <p:sldId xmlns:r="http://schemas.openxmlformats.org/officeDocument/2006/relationships" id="271" r:id="R22df6e439c3941a9"/>
    <p:sldId xmlns:r="http://schemas.openxmlformats.org/officeDocument/2006/relationships" id="272" r:id="R4c8b42b3cae24f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67dd62a1364291" /><Relationship Type="http://schemas.openxmlformats.org/officeDocument/2006/relationships/slideMaster" Target="/ppt/slideMasters/slideMaster1.xml" Id="Rba0e196e47bb4ec7" /><Relationship Type="http://schemas.openxmlformats.org/officeDocument/2006/relationships/notesMaster" Target="/ppt/notesMasters/notesMaster1.xml" Id="Re8fe2ece878347a5" /><Relationship Type="http://schemas.openxmlformats.org/officeDocument/2006/relationships/presProps" Target="/ppt/presProps.xml" Id="Rb96d759c01d74dfc" /><Relationship Type="http://schemas.openxmlformats.org/officeDocument/2006/relationships/tableStyles" Target="/ppt/tableStyles.xml" Id="R41149fecb23f4de8" /><Relationship Type="http://schemas.openxmlformats.org/officeDocument/2006/relationships/slide" Target="/ppt/slides/slide1.xml" Id="Rd984cb5069f14b84" /><Relationship Type="http://schemas.openxmlformats.org/officeDocument/2006/relationships/slide" Target="/ppt/slides/slide2.xml" Id="Rbc14c8ec1b5f4728" /><Relationship Type="http://schemas.openxmlformats.org/officeDocument/2006/relationships/slide" Target="/ppt/slides/slide3.xml" Id="R348e78fa7e544e36" /><Relationship Type="http://schemas.openxmlformats.org/officeDocument/2006/relationships/slide" Target="/ppt/slides/slide4.xml" Id="R4ed28384e5724f7d" /><Relationship Type="http://schemas.openxmlformats.org/officeDocument/2006/relationships/slide" Target="/ppt/slides/slide5.xml" Id="R61c1c2d03fa74704" /><Relationship Type="http://schemas.openxmlformats.org/officeDocument/2006/relationships/slide" Target="/ppt/slides/slide6.xml" Id="R4af7e9b820134f37" /><Relationship Type="http://schemas.openxmlformats.org/officeDocument/2006/relationships/slide" Target="/ppt/slides/slide7.xml" Id="Re400e649ebc54c28" /><Relationship Type="http://schemas.openxmlformats.org/officeDocument/2006/relationships/slide" Target="/ppt/slides/slide8.xml" Id="R966cddb2a7644d8b" /><Relationship Type="http://schemas.openxmlformats.org/officeDocument/2006/relationships/slide" Target="/ppt/slides/slide9.xml" Id="Rfbde617f3c2e4c75" /><Relationship Type="http://schemas.openxmlformats.org/officeDocument/2006/relationships/slide" Target="/ppt/slides/slide10.xml" Id="R6f4c395b75794bbf" /><Relationship Type="http://schemas.openxmlformats.org/officeDocument/2006/relationships/slide" Target="/ppt/slides/slide11.xml" Id="Raa19e4a603e74eb8" /><Relationship Type="http://schemas.openxmlformats.org/officeDocument/2006/relationships/slide" Target="/ppt/slides/slide12.xml" Id="R35ed888fa119439d" /><Relationship Type="http://schemas.openxmlformats.org/officeDocument/2006/relationships/slide" Target="/ppt/slides/slide13.xml" Id="R9bf08e93c28b4dd2" /><Relationship Type="http://schemas.openxmlformats.org/officeDocument/2006/relationships/slide" Target="/ppt/slides/slide14.xml" Id="R1339b1058a7d46da" /><Relationship Type="http://schemas.openxmlformats.org/officeDocument/2006/relationships/slide" Target="/ppt/slides/slide15.xml" Id="Rc73c400dcda6475b" /><Relationship Type="http://schemas.openxmlformats.org/officeDocument/2006/relationships/slide" Target="/ppt/slides/slide16.xml" Id="R22df6e439c3941a9" /><Relationship Type="http://schemas.openxmlformats.org/officeDocument/2006/relationships/slide" Target="/ppt/slides/slide17.xml" Id="R4c8b42b3cae24f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4010b97ae046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47b48fd8f94615" /><Relationship Type="http://schemas.openxmlformats.org/officeDocument/2006/relationships/notesMaster" Target="/ppt/notesMasters/notesMaster1.xml" Id="R4e80d071b7744b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e8dd1e1d264710" /><Relationship Type="http://schemas.openxmlformats.org/officeDocument/2006/relationships/notesMaster" Target="/ppt/notesMasters/notesMaster1.xml" Id="R49ad0794d5fc42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39584dd2164fd4" /><Relationship Type="http://schemas.openxmlformats.org/officeDocument/2006/relationships/notesMaster" Target="/ppt/notesMasters/notesMaster1.xml" Id="R267a393bffb249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bea918eb394a44" /><Relationship Type="http://schemas.openxmlformats.org/officeDocument/2006/relationships/notesMaster" Target="/ppt/notesMasters/notesMaster1.xml" Id="R7b781ac028af4e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d59de051754a5e" /><Relationship Type="http://schemas.openxmlformats.org/officeDocument/2006/relationships/notesMaster" Target="/ppt/notesMasters/notesMaster1.xml" Id="R143995b0a9c14e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bcbf4f4faa40ff" /><Relationship Type="http://schemas.openxmlformats.org/officeDocument/2006/relationships/notesMaster" Target="/ppt/notesMasters/notesMaster1.xml" Id="R16e5c9fac40540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851fade4f441e9" /><Relationship Type="http://schemas.openxmlformats.org/officeDocument/2006/relationships/notesMaster" Target="/ppt/notesMasters/notesMaster1.xml" Id="R7bc13f9f87a044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eeb901b7fe4c64" /><Relationship Type="http://schemas.openxmlformats.org/officeDocument/2006/relationships/notesMaster" Target="/ppt/notesMasters/notesMaster1.xml" Id="R9e8c55c98a294a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35e2ab05ce4fe8" /><Relationship Type="http://schemas.openxmlformats.org/officeDocument/2006/relationships/notesMaster" Target="/ppt/notesMasters/notesMaster1.xml" Id="R4868e5dc27e747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444a7a28a543b3" /><Relationship Type="http://schemas.openxmlformats.org/officeDocument/2006/relationships/notesMaster" Target="/ppt/notesMasters/notesMaster1.xml" Id="R972db2d6c64d4a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338d5be133477a" /><Relationship Type="http://schemas.openxmlformats.org/officeDocument/2006/relationships/notesMaster" Target="/ppt/notesMasters/notesMaster1.xml" Id="R85d57c577dc14d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8af56db7b64813" /><Relationship Type="http://schemas.openxmlformats.org/officeDocument/2006/relationships/notesMaster" Target="/ppt/notesMasters/notesMaster1.xml" Id="Red1a427c798f46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d27352c1964747" /><Relationship Type="http://schemas.openxmlformats.org/officeDocument/2006/relationships/notesMaster" Target="/ppt/notesMasters/notesMaster1.xml" Id="R4af0d71ae2144d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e01493ac204772" /><Relationship Type="http://schemas.openxmlformats.org/officeDocument/2006/relationships/notesMaster" Target="/ppt/notesMasters/notesMaster1.xml" Id="R6c4ec3a5419b48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ebc765581cb408f" /><Relationship Type="http://schemas.openxmlformats.org/officeDocument/2006/relationships/notesMaster" Target="/ppt/notesMasters/notesMaster1.xml" Id="Rce3e3547342148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d6d229bc194cda" /><Relationship Type="http://schemas.openxmlformats.org/officeDocument/2006/relationships/notesMaster" Target="/ppt/notesMasters/notesMaster1.xml" Id="R52b1fb5be4a24b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2e89ae43e2141fa" /><Relationship Type="http://schemas.openxmlformats.org/officeDocument/2006/relationships/notesMaster" Target="/ppt/notesMasters/notesMaster1.xml" Id="R9bc850598ac745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Файлы знакомы по первому курсу. Теперь задача — хранить согласованную структуру записей, а не произвольные строки. Используем словари и очистку текста из предыдущих лекций.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lectures/04/README.md</a:t>
            </a:r>
          </a:p>
          <a:p xmlns:a="http://schemas.openxmlformats.org/drawingml/2006/main">
            <a:r>
              <a:t>https://docs.python.org/3/library/json.html</a:t>
            </a:r>
          </a:p>
          <a:p xmlns:a="http://schemas.openxmlformats.org/drawingml/2006/main">
            <a:r>
              <a:t>https://docs.python.org/3/library/csv.html</a:t>
            </a:r>
          </a:p>
          <a:p xmlns:a="http://schemas.openxmlformats.org/drawingml/2006/main">
            <a:r>
              <a:t>https://docs.python.org/3/library/pathlib.html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Сохранять состояние программы между запусками и формировать табличные отчёты.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lectures/04/README.md</a:t>
            </a:r>
          </a:p>
          <a:p xmlns:a="http://schemas.openxmlformats.org/drawingml/2006/main">
            <a:r>
              <a:t>https://docs.python.org/3/library/json.html</a:t>
            </a:r>
          </a:p>
          <a:p xmlns:a="http://schemas.openxmlformats.org/drawingml/2006/main">
            <a:r>
              <a:t>https://docs.python.org/3/library/csv.html</a:t>
            </a:r>
          </a:p>
          <a:p xmlns:a="http://schemas.openxmlformats.org/drawingml/2006/main">
            <a:r>
              <a:t>https://docs.python.org/3/library/pathlib.html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Словарь существует в памяти запущенной программы. После завершения процесса он не восстанавливается автоматически. Сохранение переводит данные в последовательность символов или байтов, а загрузка выполняет обратное преобразование. Это называется сериализацией и десериализацией.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Перед выбором формата определяем назначение файла. Если нужно сохранить студентов с разным количеством оценок, удобна вложенная структура JSON. Если нужно передать итоговый отчёт в табличный редактор, удобен CSV: одна строка на студента, одинаковые столбцы. Один и тот же формат не обязан решать обе задачи.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Путь к файлу также является входным значением. Относительный путь отсчитывается от текущего рабочего каталога процесса, а не автоматически от расположения Python-файла. Поэтому в инструкции запуска обязательно указываем каталог. В переносимых программах используем pathlib, чтобы не собирать пути вручную через слеши.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Почему один и тот же относительный путь может открыть разные файлы?</a:t>
            </a:r>
          </a:p>
          <a:p xmlns:a="http://schemas.openxmlformats.org/drawingml/2006/main">
            <a:r>
              <a:t>Ответ: Программу могут запустить из разных рабочих каталогов.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lectures/04/README.md</a:t>
            </a:r>
          </a:p>
          <a:p xmlns:a="http://schemas.openxmlformats.org/drawingml/2006/main">
            <a:r>
              <a:t>https://docs.python.org/3/library/json.html</a:t>
            </a:r>
          </a:p>
          <a:p xmlns:a="http://schemas.openxmlformats.org/drawingml/2006/main">
            <a:r>
              <a:t>https://docs.python.org/3/library/csv.html</a:t>
            </a:r>
          </a:p>
          <a:p xmlns:a="http://schemas.openxmlformats.org/drawingml/2006/main">
            <a:r>
              <a:t>https://docs.python.org/3/library/pathlib.html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journal.json</a:t>
            </a:r>
          </a:p>
          <a:p xmlns:a="http://schemas.openxmlformats.org/drawingml/2006/main">
            <a:r>
              <a:t>.json</a:t>
            </a:r>
          </a:p>
          <a:p xmlns:a="http://schemas.openxmlformats.org/drawingml/2006/main">
            <a:r>
              <a:t>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Почему один и тот же относительный путь может открыть разные файлы?</a:t>
            </a:r>
          </a:p>
          <a:p xmlns:a="http://schemas.openxmlformats.org/drawingml/2006/main">
            <a:r>
              <a:t>Программу могут запустить из разных рабочих каталогов.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lectures/04/README.md</a:t>
            </a:r>
          </a:p>
          <a:p xmlns:a="http://schemas.openxmlformats.org/drawingml/2006/main">
            <a:r>
              <a:t>https://docs.python.org/3/library/json.html</a:t>
            </a:r>
          </a:p>
          <a:p xmlns:a="http://schemas.openxmlformats.org/drawingml/2006/main">
            <a:r>
              <a:t>https://docs.python.org/3/library/csv.html</a:t>
            </a:r>
          </a:p>
          <a:p xmlns:a="http://schemas.openxmlformats.org/drawingml/2006/main">
            <a:r>
              <a:t>https://docs.python.org/3/library/pathlib.html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JSON описывает объекты, массивы, строки, числа, логические значения и null. В Python им соответствуют словари, списки, строки, числа, bool и None. Для учебного формата используем только строковые ключи. Не все объекты Python можно напрямую сохранить: экземпляр собственного класса потребуется сначала преобразовать в словарь.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json.dumps превращает структуру Python в строку, а json.loads разбирает строку. Параметр ensure_ascii=False оставляет русские буквы читаемыми. Без него данные также можно восстановить, но текст файла будет содержать escape-последовательности. indent делает структуру удобной для чтения человеком и просмотра изменений в Git.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Синтаксически корректный JSON ещё не гарантирует правильность данных. Объект {"grades": [9]} успешно разбирается, но нарушает шкалу оценок. Поэтому после разбора следует отдельная проверка полей. Сначала изучаем преобразование формата, а на следующей лекции оформим обработку ошибок.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Можно ли считать оценки верными только потому, что loads завершился успешно?</a:t>
            </a:r>
          </a:p>
          <a:p xmlns:a="http://schemas.openxmlformats.org/drawingml/2006/main">
            <a:r>
              <a:t>Ответ: Нет. loads проверяет формат JSON, а диапазон оценок относится к правилам приложения.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lectures/04/README.md</a:t>
            </a:r>
          </a:p>
          <a:p xmlns:a="http://schemas.openxmlformats.org/drawingml/2006/main">
            <a:r>
              <a:t>https://docs.python.org/3/library/json.html</a:t>
            </a:r>
          </a:p>
          <a:p xmlns:a="http://schemas.openxmlformats.org/drawingml/2006/main">
            <a:r>
              <a:t>https://docs.python.org/3/library/csv.html</a:t>
            </a:r>
          </a:p>
          <a:p xmlns:a="http://schemas.openxmlformats.org/drawingml/2006/main">
            <a:r>
              <a:t>https://docs.python.org/3/library/pathlib.html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{"name": "Анна", "grades": [4, 5], "active": true}</a:t>
            </a:r>
          </a:p>
          <a:p xmlns:a="http://schemas.openxmlformats.org/drawingml/2006/main">
            <a:r>
              <a:t>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Можно ли считать оценки верными только потому, что loads завершился успешно?</a:t>
            </a:r>
          </a:p>
          <a:p xmlns:a="http://schemas.openxmlformats.org/drawingml/2006/main">
            <a:r>
              <a:t>Нет. loads проверяет формат JSON, а диапазон оценок относится к правилам приложения.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lectures/04/README.md</a:t>
            </a:r>
          </a:p>
          <a:p xmlns:a="http://schemas.openxmlformats.org/drawingml/2006/main">
            <a:r>
              <a:t>https://docs.python.org/3/library/json.html</a:t>
            </a:r>
          </a:p>
          <a:p xmlns:a="http://schemas.openxmlformats.org/drawingml/2006/main">
            <a:r>
              <a:t>https://docs.python.org/3/library/csv.html</a:t>
            </a:r>
          </a:p>
          <a:p xmlns:a="http://schemas.openxmlformats.org/drawingml/2006/main">
            <a:r>
              <a:t>https://docs.python.org/3/library/pathlib.html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 работе с текстовыми файлами явно задаём encoding="utf-8". Это делает обработку русских букв одинаковой на разных системах. Конструкция with закрывает файл при выходе из блока, включая случай исключения. Для коротких текстов pathlib предлагает read_text и write_text с тем же явным указанием кодировки.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Режим w заменяет содержимое существующего файла. Поэтому учебная демонстрация использует временный каталог, а рабочее приложение должно явно сообщать, какой файл сохраняется. Режим a добавляет текст в конец и не подходит для сохранения единственного JSON-документа: несколько документов подряд не образуют один корректный документ.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Проверку сохранения выполняем полным циклом: создать данные, записать, прочитать, сравнить. Недостаточно убедиться, что файл появился. Он может содержать неполные данные или неверную кодировку. Сравниваем структуры, а не форматирование пробелов в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Почему режим a не подходит для обычного файла журнала JSON?</a:t>
            </a:r>
          </a:p>
          <a:p xmlns:a="http://schemas.openxmlformats.org/drawingml/2006/main">
            <a:r>
              <a:t>Ответ: При повторном сохранении появятся два документа подряд вместо одного документа принятого формата.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lectures/04/README.md</a:t>
            </a:r>
          </a:p>
          <a:p xmlns:a="http://schemas.openxmlformats.org/drawingml/2006/main">
            <a:r>
              <a:t>https://docs.python.org/3/library/json.html</a:t>
            </a:r>
          </a:p>
          <a:p xmlns:a="http://schemas.openxmlformats.org/drawingml/2006/main">
            <a:r>
              <a:t>https://docs.python.org/3/library/csv.html</a:t>
            </a:r>
          </a:p>
          <a:p xmlns:a="http://schemas.openxmlformats.org/drawingml/2006/main">
            <a:r>
              <a:t>https://docs.python.org/3/library/pathlib.html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['Анна']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Почему режим a не подходит для обычного файла журнала JSON?</a:t>
            </a:r>
          </a:p>
          <a:p xmlns:a="http://schemas.openxmlformats.org/drawingml/2006/main">
            <a:r>
              <a:t>При повторном сохранении появятся два документа подряд вместо одного документа принятого формата.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lectures/04/README.md</a:t>
            </a:r>
          </a:p>
          <a:p xmlns:a="http://schemas.openxmlformats.org/drawingml/2006/main">
            <a:r>
              <a:t>https://docs.python.org/3/library/json.html</a:t>
            </a:r>
          </a:p>
          <a:p xmlns:a="http://schemas.openxmlformats.org/drawingml/2006/main">
            <a:r>
              <a:t>https://docs.python.org/3/library/csv.html</a:t>
            </a:r>
          </a:p>
          <a:p xmlns:a="http://schemas.openxmlformats.org/drawingml/2006/main">
            <a:r>
              <a:t>https://docs.python.org/3/library/pathlib.html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CSV хранит строки с одинаковым набором столбцов. Несмотря на название, разделителем может быть точка с запятой. Его необходимо явно согласовать при записи и чтении. Модуль csv умеет экранировать разделитель, кавычки и переводы строк внутри значения. Самостоятельное разбиение через split(";") этих правил не учитывает.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DictReader использует заголовок как имена полей и возвращает каждую строку как словарь. Значения при чтении являются строками. Если столбец grade должен содержать число, выполняем отдельное преобразование int и проверку диапазона. Пустая ячейка тоже остаётся строкой, поэтому её смысл нужно определить заранее.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Файлы CSV открываем с newline="", чтобы модуль управлял переводами строк. В демонстрации используется StringIO — текстовый поток в памяти. Он позволяет увидеть поведение CSV без создания постоянного файла и пригодится для коротких тестов.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сломает split(";") в этом примере?</a:t>
            </a:r>
          </a:p>
          <a:p xmlns:a="http://schemas.openxmlformats.org/drawingml/2006/main">
            <a:r>
              <a:t>Ответ: Точка с запятой внутри имени будет ошибочно воспринята как граница столбца.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lectures/04/README.md</a:t>
            </a:r>
          </a:p>
          <a:p xmlns:a="http://schemas.openxmlformats.org/drawingml/2006/main">
            <a:r>
              <a:t>https://docs.python.org/3/library/json.html</a:t>
            </a:r>
          </a:p>
          <a:p xmlns:a="http://schemas.openxmlformats.org/drawingml/2006/main">
            <a:r>
              <a:t>https://docs.python.org/3/library/csv.html</a:t>
            </a:r>
          </a:p>
          <a:p xmlns:a="http://schemas.openxmlformats.org/drawingml/2006/main">
            <a:r>
              <a:t>https://docs.python.org/3/library/pathlib.html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Анна; староста</a:t>
            </a:r>
          </a:p>
          <a:p xmlns:a="http://schemas.openxmlformats.org/drawingml/2006/main">
            <a:r>
              <a:t>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Что сломает split(";") в этом примере?</a:t>
            </a:r>
          </a:p>
          <a:p xmlns:a="http://schemas.openxmlformats.org/drawingml/2006/main">
            <a:r>
              <a:t>Точка с запятой внутри имени будет ошибочно воспринята как граница столбца.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lectures/04/README.md</a:t>
            </a:r>
          </a:p>
          <a:p xmlns:a="http://schemas.openxmlformats.org/drawingml/2006/main">
            <a:r>
              <a:t>https://docs.python.org/3/library/json.html</a:t>
            </a:r>
          </a:p>
          <a:p xmlns:a="http://schemas.openxmlformats.org/drawingml/2006/main">
            <a:r>
              <a:t>https://docs.python.org/3/library/csv.html</a:t>
            </a:r>
          </a:p>
          <a:p xmlns:a="http://schemas.openxmlformats.org/drawingml/2006/main">
            <a:r>
              <a:t>https://docs.python.org/3/library/pathlib.html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 экспорте сначала формируем строки отчёта, затем передаём их DictWriter. Список fieldnames определяет состав и порядок столбцов. writeheader записывает заголовок даже при отсутствии строк. Благодаря этому пустой отчёт остаётся корректной таблицей известной структуры.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Числовое среднее удобно вычислять без округления, а в отчёте преобразовывать в строку с двумя знаками. Для отсутствия оценок используем пустую ячейку. Логическое поле долга в семестровом формате записывается как yes или no. Это заранее согласованные значения, а не результат случайного преобразования bool в строку.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изменяйте исходный словарь отчёта только ради оформления CSV, если другие части программы ещё используют числовые значения. Создайте отдельную строку или копию. Так экспорт не превратит данные приложения из чисел в строки.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Зачем сохранять заголовок, если в отчёте нет студентов?</a:t>
            </a:r>
          </a:p>
          <a:p xmlns:a="http://schemas.openxmlformats.org/drawingml/2006/main">
            <a:r>
              <a:t>Ответ: Он сообщает структуру таблицы и позволяет прочитать пустой отчёт обычным CSV-парсером.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lectures/04/README.md</a:t>
            </a:r>
          </a:p>
          <a:p xmlns:a="http://schemas.openxmlformats.org/drawingml/2006/main">
            <a:r>
              <a:t>https://docs.python.org/3/library/json.html</a:t>
            </a:r>
          </a:p>
          <a:p xmlns:a="http://schemas.openxmlformats.org/drawingml/2006/main">
            <a:r>
              <a:t>https://docs.python.org/3/library/csv.html</a:t>
            </a:r>
          </a:p>
          <a:p xmlns:a="http://schemas.openxmlformats.org/drawingml/2006/main">
            <a:r>
              <a:t>https://docs.python.org/3/library/pathlib.html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name;average</a:t>
            </a:r>
          </a:p>
          <a:p xmlns:a="http://schemas.openxmlformats.org/drawingml/2006/main">
            <a:r>
              <a:t>Анна;4.67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Зачем сохранять заголовок, если в отчёте нет студентов?</a:t>
            </a:r>
          </a:p>
          <a:p xmlns:a="http://schemas.openxmlformats.org/drawingml/2006/main">
            <a:r>
              <a:t>Он сообщает структуру таблицы и позволяет прочитать пустой отчёт обычным CSV-парсером.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lectures/04/README.md</a:t>
            </a:r>
          </a:p>
          <a:p xmlns:a="http://schemas.openxmlformats.org/drawingml/2006/main">
            <a:r>
              <a:t>https://docs.python.org/3/library/json.html</a:t>
            </a:r>
          </a:p>
          <a:p xmlns:a="http://schemas.openxmlformats.org/drawingml/2006/main">
            <a:r>
              <a:t>https://docs.python.org/3/library/csv.html</a:t>
            </a:r>
          </a:p>
          <a:p xmlns:a="http://schemas.openxmlformats.org/drawingml/2006/main">
            <a:r>
              <a:t>https://docs.python.org/3/library/pathlib.html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Формат файла со временем может измениться. Небольшое поле version позволяет отличить знакомую структуру от неизвестной. В нашем журнале корневой объект содержит version=1 и список students. При неподдерживаемой версии загрузчик должен сообщить об ошибке, а не пытаться молча угадать смысл полей.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Проверка схемы отвечает на конкретные вопросы: корень является словарём? Есть обязательные поля? students является списком? Каждый элемент содержит ID, имя, группу и оценки? ID уникальны? Для учебного проекта лишние поля также считаются нарушением, чтобы контракт оставался однозначным.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примере показываем простую диагностическую проверку корня. Полная проверка будет частью семестровой работы. Не загружайте часть правильных записей, молча пропуская неправильные: пользователь решит, что восстановлен весь журнал. Сначала проверяем новый объект полностью, затем заменяем им текущее состояние.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Почему проверка версии включает type(...) is int?</a:t>
            </a:r>
          </a:p>
          <a:p xmlns:a="http://schemas.openxmlformats.org/drawingml/2006/main">
            <a:r>
              <a:t>Ответ: True сравнивается равным 1, но логическое значение не является допустимым номером версии по контракту.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lectures/04/README.md</a:t>
            </a:r>
          </a:p>
          <a:p xmlns:a="http://schemas.openxmlformats.org/drawingml/2006/main">
            <a:r>
              <a:t>https://docs.python.org/3/library/json.html</a:t>
            </a:r>
          </a:p>
          <a:p xmlns:a="http://schemas.openxmlformats.org/drawingml/2006/main">
            <a:r>
              <a:t>https://docs.python.org/3/library/csv.html</a:t>
            </a:r>
          </a:p>
          <a:p xmlns:a="http://schemas.openxmlformats.org/drawingml/2006/main">
            <a:r>
              <a:t>https://docs.python.org/3/library/pathlib.html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True</a:t>
            </a:r>
          </a:p>
          <a:p xmlns:a="http://schemas.openxmlformats.org/drawingml/2006/main">
            <a:r>
              <a:t>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Почему проверка версии включает type(...) is int?</a:t>
            </a:r>
          </a:p>
          <a:p xmlns:a="http://schemas.openxmlformats.org/drawingml/2006/main">
            <a:r>
              <a:t>True сравнивается равным 1, но логическое значение не является допустимым номером версии по контракту.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lectures/04/README.md</a:t>
            </a:r>
          </a:p>
          <a:p xmlns:a="http://schemas.openxmlformats.org/drawingml/2006/main">
            <a:r>
              <a:t>https://docs.python.org/3/library/json.html</a:t>
            </a:r>
          </a:p>
          <a:p xmlns:a="http://schemas.openxmlformats.org/drawingml/2006/main">
            <a:r>
              <a:t>https://docs.python.org/3/library/csv.html</a:t>
            </a:r>
          </a:p>
          <a:p xmlns:a="http://schemas.openxmlformats.org/drawingml/2006/main">
            <a:r>
              <a:t>https://docs.python.org/3/library/pathlib.html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Полный цикл сохранения и загрузки проверяет взаимодействие преобразований. Создайте вход, сохраните, загрузите и сравните структуру. Затем измените восстановленные данные и убедитесь, что это не влияет на исходный объект в памяти. Сериализация создаёт новые контейнеры при разборе, что удобно для независимого состояния.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Кроме удачного сценария нужны пустой документ принятой схемы, отсутствующий файл, повреждённый синтаксис и неверная оценка внутри правильного JSON. Эти случаи относятся к разным уровням проверки. Пока обсуждаем ожидаемое поведение словами; следующая лекция даст механизм исключений и автоматических тестов.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Рабочие файлы пользователей и учебные примеры следует разделять. Пример в репозитории должен оставаться неизменным, чтобы на него можно было сослаться в задании. Результаты студента сохраняются в его рабочем каталоге, который не требуется включать в исходные материалы курса.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Доказывает ли успешный круговой тест, что загрузчик отклоняет неверные данные?</a:t>
            </a:r>
          </a:p>
          <a:p xmlns:a="http://schemas.openxmlformats.org/drawingml/2006/main">
            <a:r>
              <a:t>Ответ: Нет. Для ошибок схемы и повреждённых файлов нужны отдельные отрицательные тесты.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lectures/04/README.md</a:t>
            </a:r>
          </a:p>
          <a:p xmlns:a="http://schemas.openxmlformats.org/drawingml/2006/main">
            <a:r>
              <a:t>https://docs.python.org/3/library/json.html</a:t>
            </a:r>
          </a:p>
          <a:p xmlns:a="http://schemas.openxmlformats.org/drawingml/2006/main">
            <a:r>
              <a:t>https://docs.python.org/3/library/csv.html</a:t>
            </a:r>
          </a:p>
          <a:p xmlns:a="http://schemas.openxmlformats.org/drawingml/2006/main">
            <a:r>
              <a:t>https://docs.python.org/3/library/pathlib.html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Ожидаемый вывод:</a:t>
            </a:r>
          </a:p>
          <a:p xmlns:a="http://schemas.openxmlformats.org/drawingml/2006/main">
            <a:r>
              <a:t>[4]</a:t>
            </a:r>
          </a:p>
          <a:p xmlns:a="http://schemas.openxmlformats.org/drawingml/2006/main">
            <a:r>
              <a:t>[4, 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Доказывает ли успешный круговой тест, что загрузчик отклоняет неверные данные?</a:t>
            </a:r>
          </a:p>
          <a:p xmlns:a="http://schemas.openxmlformats.org/drawingml/2006/main">
            <a:r>
              <a:t>Нет. Для ошибок схемы и повреждённых файлов нужны отдельные отрицательные тесты.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lectures/04/README.md</a:t>
            </a:r>
          </a:p>
          <a:p xmlns:a="http://schemas.openxmlformats.org/drawingml/2006/main">
            <a:r>
              <a:t>https://docs.python.org/3/library/json.html</a:t>
            </a:r>
          </a:p>
          <a:p xmlns:a="http://schemas.openxmlformats.org/drawingml/2006/main">
            <a:r>
              <a:t>https://docs.python.org/3/library/csv.html</a:t>
            </a:r>
          </a:p>
          <a:p xmlns:a="http://schemas.openxmlformats.org/drawingml/2006/main">
            <a:r>
              <a:t>https://docs.python.org/3/library/pathlib.html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Добавьте JSON-сохранение справочника и CSV-экспорт отчёта. Проверьте русские имена, пустой справочник и значение с точкой с запятой. Опишите формат в README и приведите короткий пример файла.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Справочники:</a:t>
            </a:r>
          </a:p>
          <a:p xmlns:a="http://schemas.openxmlformats.org/drawingml/2006/main">
            <a:r>
              <a:t>https://docs.python.org/3/library/json.html</a:t>
            </a:r>
          </a:p>
          <a:p xmlns:a="http://schemas.openxmlformats.org/drawingml/2006/main">
            <a:r>
              <a:t>https://docs.python.org/3/library/csv.html</a:t>
            </a:r>
          </a:p>
          <a:p xmlns:a="http://schemas.openxmlformats.org/drawingml/2006/main">
            <a:r>
              <a:t>https://docs.python.org/3/library/pathlib.html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Учебный конспект: lectures/04/README.md</a:t>
            </a:r>
          </a:p>
          <a:p xmlns:a="http://schemas.openxmlformats.org/drawingml/2006/main">
            <a:r>
              <a:t>https://docs.python.org/3/library/json.html</a:t>
            </a:r>
          </a:p>
          <a:p xmlns:a="http://schemas.openxmlformats.org/drawingml/2006/main">
            <a:r>
              <a:t>https://docs.python.org/3/library/csv.html</a:t>
            </a:r>
          </a:p>
          <a:p xmlns:a="http://schemas.openxmlformats.org/drawingml/2006/main">
            <a:r>
              <a:t>https://docs.python.org/3/library/pathlib.html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9d228c90244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660d9675464677" /><Relationship Type="http://schemas.openxmlformats.org/officeDocument/2006/relationships/slideLayout" Target="/ppt/slideLayouts/slideLayout1.xml" Id="Raf7caccdbb5248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7caccdbb5248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9157de1454772" /><Relationship Type="http://schemas.openxmlformats.org/officeDocument/2006/relationships/notesSlide" Target="/ppt/notesSlides/notesSlide1.xml" Id="R6fc410c7f6834e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06e5cd2684b05" /><Relationship Type="http://schemas.openxmlformats.org/officeDocument/2006/relationships/notesSlide" Target="/ppt/notesSlides/notesSlide2.xml" Id="Ra9f431a4605a44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a26d8fa504eb5" /><Relationship Type="http://schemas.openxmlformats.org/officeDocument/2006/relationships/notesSlide" Target="/ppt/notesSlides/notesSlide3.xml" Id="Rd30f0483a55548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ea9d17ba941c1" /><Relationship Type="http://schemas.openxmlformats.org/officeDocument/2006/relationships/notesSlide" Target="/ppt/notesSlides/notesSlide4.xml" Id="Rbab70c953c234c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31440ce0143f4" /><Relationship Type="http://schemas.openxmlformats.org/officeDocument/2006/relationships/notesSlide" Target="/ppt/notesSlides/notesSlide5.xml" Id="Rbc6c7f4e588046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ae1fcb0a84726" /><Relationship Type="http://schemas.openxmlformats.org/officeDocument/2006/relationships/notesSlide" Target="/ppt/notesSlides/notesSlide6.xml" Id="Rd723c4bab69c4c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91023aa6442de" /><Relationship Type="http://schemas.openxmlformats.org/officeDocument/2006/relationships/notesSlide" Target="/ppt/notesSlides/notesSlide7.xml" Id="Ra360b6ae290e4d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2c646b6634c52" /><Relationship Type="http://schemas.openxmlformats.org/officeDocument/2006/relationships/notesSlide" Target="/ppt/notesSlides/notesSlide8.xml" Id="R9c54fc842bb84f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5651258284878" /><Relationship Type="http://schemas.openxmlformats.org/officeDocument/2006/relationships/notesSlide" Target="/ppt/notesSlides/notesSlide9.xml" Id="Rd6cac152e8684b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20dd90baa445d" /><Relationship Type="http://schemas.openxmlformats.org/officeDocument/2006/relationships/notesSlide" Target="/ppt/notesSlides/notesSlide10.xml" Id="R489b3058fa094e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b6e579b3f4911" /><Relationship Type="http://schemas.openxmlformats.org/officeDocument/2006/relationships/notesSlide" Target="/ppt/notesSlides/notesSlide11.xml" Id="Rc27fb49ba20840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d141ed61340d3" /><Relationship Type="http://schemas.openxmlformats.org/officeDocument/2006/relationships/notesSlide" Target="/ppt/notesSlides/notesSlide12.xml" Id="Ra7ac60838cdd42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21b328aa34633" /><Relationship Type="http://schemas.openxmlformats.org/officeDocument/2006/relationships/notesSlide" Target="/ppt/notesSlides/notesSlide13.xml" Id="R39404c7ab48e47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88570642a4d81" /><Relationship Type="http://schemas.openxmlformats.org/officeDocument/2006/relationships/notesSlide" Target="/ppt/notesSlides/notesSlide14.xml" Id="R4dd18a4342c749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5f33f5a8a4cac" /><Relationship Type="http://schemas.openxmlformats.org/officeDocument/2006/relationships/notesSlide" Target="/ppt/notesSlides/notesSlide15.xml" Id="R49503da13be847c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76667d54f41a4" /><Relationship Type="http://schemas.openxmlformats.org/officeDocument/2006/relationships/notesSlide" Target="/ppt/notesSlides/notesSlide16.xml" Id="R0b9a7a853f2d4b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5cbb48b21488e" /><Relationship Type="http://schemas.openxmlformats.org/officeDocument/2006/relationships/notesSlide" Target="/ppt/notesSlides/notesSlide17.xml" Id="Rc0762813ca134d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D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3BAE5-101D-4307-9D19-02D3F358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3D6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3D6C3"/>
                </a:solidFill>
                <a:latin typeface="Arial"/>
                <a:ea typeface="Arial"/>
                <a:cs typeface="Arial"/>
              </a:rPr>
              <a:t>PYTHON / 2 КУРС / ЛЕКЦИЯ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E830A-2C4A-43AB-92C5-2D459412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Хранение данных в JSON и CSV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9CE92-2CE3-4F5F-8B44-8E1850A3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BDDE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DE5"/>
                </a:solidFill>
                <a:latin typeface="Arial"/>
                <a:ea typeface="Arial"/>
                <a:cs typeface="Arial"/>
              </a:rPr>
              <a:t>Алгоритмизация и программирование</a:t>
            </a:r>
          </a:p>
          <a:p xmlns:a="http://schemas.openxmlformats.org/drawingml/2006/main">
            <a:pPr>
              <a:defRPr sz="2175" b="0">
                <a:solidFill>
                  <a:srgbClr val="CBDDE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DE5"/>
                </a:solidFill>
                <a:latin typeface="Arial"/>
                <a:ea typeface="Arial"/>
                <a:cs typeface="Arial"/>
              </a:rPr>
              <a:t>Прикладной курс · 90 минут</a:t>
            </a:r>
          </a:p>
        </p:txBody>
      </p:sp>
    </p:spTree>
    <p:extLst>
      <p:ext uri="{BB962C8B-B14F-4D97-AF65-F5344CB8AC3E}">
        <p14:creationId xmlns:p14="http://schemas.microsoft.com/office/powerpoint/2010/main" val="3852758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5BEF2-7734-4DC2-A1F4-C31D0493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Результат занятия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FD5C5-1D6A-4EDA-8BD0-84799255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Выбрать JSON для вложенных данных и CSV для таблицы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Прочитать и записать UTF-8 файл с помощью with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Преобразовать строки CSV в числа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Разделить чтение файла и проверку структуры 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85254-1AD4-443D-8D27-1A0BE930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4   /   2 из 17</a:t>
            </a:r>
          </a:p>
        </p:txBody>
      </p:sp>
    </p:spTree>
    <p:extLst>
      <p:ext uri="{BB962C8B-B14F-4D97-AF65-F5344CB8AC3E}">
        <p14:creationId xmlns:p14="http://schemas.microsoft.com/office/powerpoint/2010/main" val="20998487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3C4E9-993C-45A6-9664-5C1F355C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Состояние программы и файл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1300D-9DF9-4539-875C-A1CEC13F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Память процесса не сохраняется после выхода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JSON хранит структуру, CSV представляет таблицу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Относительный путь зависит от рабочего каталога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9259D-3888-4323-B6F4-4E2A9AB6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4   /   3 из 17</a:t>
            </a:r>
          </a:p>
        </p:txBody>
      </p:sp>
    </p:spTree>
    <p:extLst>
      <p:ext uri="{BB962C8B-B14F-4D97-AF65-F5344CB8AC3E}">
        <p14:creationId xmlns:p14="http://schemas.microsoft.com/office/powerpoint/2010/main" val="8517828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19F74-5E0F-404E-AA9B-4BB99D87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Состояние программы и файл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F483C-38B7-4FA3-9F1F-595EDAD7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from pathlib import Path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base = Path("data")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path = base / "journal.json"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print(path.name)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print(path.suffix)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print(path.parent.name)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10AC9-78E0-409D-9566-A4205E27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4   /   4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14481303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A7F58-362B-41B8-B39B-CB8FC295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JSON и типы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E0B42-ED19-4A0C-A1F4-6515EC42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dumps создаёт JSON-строку, loads разбирает её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ensure_ascii=False сохраняет читаемую кириллицу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Корректный JSON может содержать неверные учебные данные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EDF79-2970-4576-A1EF-A467A5BC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4   /   5 из 17</a:t>
            </a:r>
          </a:p>
        </p:txBody>
      </p:sp>
    </p:spTree>
    <p:extLst>
      <p:ext uri="{BB962C8B-B14F-4D97-AF65-F5344CB8AC3E}">
        <p14:creationId xmlns:p14="http://schemas.microsoft.com/office/powerpoint/2010/main" val="19047368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2E25B-F0CA-46D3-A88E-C07E8A8B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JSON и типы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66215-5789-45CA-8027-6E2C05D0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import 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student = {"name": "Анна", "grades": [4, 5], "active": True}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text = json.dumps(student, ensure_ascii=False)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print(text)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restored = json.loads(text)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print(restored == student)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A64B1-A07E-4D1A-851D-02401A22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4   /   6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20975502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DFC73-0DBA-467D-B39E-1264F6D9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Чтение и запись UTF-8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FF312-BD87-4775-9CA1-416748C3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Кодировка указывается явно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Режим w заменяет содержимое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Проверка включает повторное чтение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A57BF-B296-46E4-A69C-1FF487A8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4   /   7 из 17</a:t>
            </a:r>
          </a:p>
        </p:txBody>
      </p:sp>
    </p:spTree>
    <p:extLst>
      <p:ext uri="{BB962C8B-B14F-4D97-AF65-F5344CB8AC3E}">
        <p14:creationId xmlns:p14="http://schemas.microsoft.com/office/powerpoint/2010/main" val="1051369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EC87A-DB8F-4BD8-BB41-7A225520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Чтение и запись UTF-8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72FB1-FE9F-401A-8CB0-E708DF36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import json</a:t>
            </a:r>
          </a:p>
          <a:p xmlns:a="http://schemas.openxmlformats.org/drawingml/2006/main">
            <a:pPr>
              <a:def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import tempfile</a:t>
            </a:r>
          </a:p>
          <a:p xmlns:a="http://schemas.openxmlformats.org/drawingml/2006/main">
            <a:pPr>
              <a:def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from pathlib import Path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with tempfile.TemporaryDirectory() as folder:</a:t>
            </a:r>
          </a:p>
          <a:p xmlns:a="http://schemas.openxmlformats.org/drawingml/2006/main">
            <a:pPr>
              <a:def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path = Path(folder) / "data.json"</a:t>
            </a:r>
          </a:p>
          <a:p xmlns:a="http://schemas.openxmlformats.org/drawingml/2006/main">
            <a:pPr>
              <a:def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path.write_text(json.dumps(["Анна"], ensure_ascii=False), encoding="utf-8")</a:t>
            </a:r>
          </a:p>
          <a:p xmlns:a="http://schemas.openxmlformats.org/drawingml/2006/main">
            <a:pPr>
              <a:def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loaded = json.loads(path.read_text(encoding="utf-8"))</a:t>
            </a:r>
          </a:p>
          <a:p xmlns:a="http://schemas.openxmlformats.org/drawingml/2006/main">
            <a:pPr>
              <a:def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print(loaded)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90855-5AD7-49EB-BCA5-86250940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4   /   8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4835749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B33B7-5AC1-40CB-96B2-42CBE8DF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CSV и разделители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BE279-D378-4EE6-BD49-075ED1B9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Разделитель задаётся явно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DictReader использует имена из заголовка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Значения CSV нужно преобразовывать из строк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FAF12-4E89-49E8-B68A-29E4BC17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4   /   9 из 17</a:t>
            </a:r>
          </a:p>
        </p:txBody>
      </p:sp>
    </p:spTree>
    <p:extLst>
      <p:ext uri="{BB962C8B-B14F-4D97-AF65-F5344CB8AC3E}">
        <p14:creationId xmlns:p14="http://schemas.microsoft.com/office/powerpoint/2010/main" val="12665125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E3EEC-DB33-417A-879F-FD77129E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CSV и разделители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B9C10-019F-4C7E-8880-3D56FFA9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import csv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import 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source = 'name;grade\n"Анна; староста";5\n'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rows = list(csv.DictReader(io.StringIO(source), delimiter=";"))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print(rows[0]["name"])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print(int(rows[0]["grade"]) + 1)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F86E7-FB2E-4E71-A3D3-473457D1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4   /   10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17588245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F887F-2BC5-480F-AAB0-F7763D0D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Экспорт отчёта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46F1D-A970-4416-9127-CAB536EA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fieldnames задаёт порядок столбцов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Заголовок нужен и пустому отчёту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Оформление чисел выполняется на границе экспорта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C3C52-CCA8-4329-A3EB-A15458BE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4   /   11 из 17</a:t>
            </a:r>
          </a:p>
        </p:txBody>
      </p:sp>
    </p:spTree>
    <p:extLst>
      <p:ext uri="{BB962C8B-B14F-4D97-AF65-F5344CB8AC3E}">
        <p14:creationId xmlns:p14="http://schemas.microsoft.com/office/powerpoint/2010/main" val="8157724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702FF-7363-4BB5-80FE-B2A3A222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Экспорт отчёта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2CF10-D2BB-4BA7-B516-09AA118D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import csv</a:t>
            </a:r>
          </a:p>
          <a:p xmlns:a="http://schemas.openxmlformats.org/drawingml/2006/main">
            <a:pPr>
              <a:def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import 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stream = io.StringIO(newline="")</a:t>
            </a:r>
          </a:p>
          <a:p xmlns:a="http://schemas.openxmlformats.org/drawingml/2006/main">
            <a:pPr>
              <a:def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writer = csv.DictWriter(stream, fieldnames=["name", "average"], delimiter=";")</a:t>
            </a:r>
          </a:p>
          <a:p xmlns:a="http://schemas.openxmlformats.org/drawingml/2006/main">
            <a:pPr>
              <a:def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writer.writeheader()</a:t>
            </a:r>
          </a:p>
          <a:p xmlns:a="http://schemas.openxmlformats.org/drawingml/2006/main">
            <a:pPr>
              <a:def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writer.writerow({"name": "Анна", "average": f"{14 / 3:.2f}"})</a:t>
            </a:r>
          </a:p>
          <a:p xmlns:a="http://schemas.openxmlformats.org/drawingml/2006/main">
            <a:pPr>
              <a:def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print(stream.getvalue(), end="")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1FDE3-FB53-4EB8-9146-9F98206A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4   /   12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3544966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4C148-359E-468F-AA1D-602E3DBC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Версия и схема документа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C524E-44AC-496E-BD52-2E7F419E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version отличает форматы документа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Проверка структуры следует после разбора 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Новый журнал заменяет текущий только после успешной загрузки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2D7BC-F0F1-4F5F-A867-8D63256C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4   /   13 из 17</a:t>
            </a:r>
          </a:p>
        </p:txBody>
      </p:sp>
    </p:spTree>
    <p:extLst>
      <p:ext uri="{BB962C8B-B14F-4D97-AF65-F5344CB8AC3E}">
        <p14:creationId xmlns:p14="http://schemas.microsoft.com/office/powerpoint/2010/main" val="6622702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79C53-D13F-4828-8C45-C27F4747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Версия и схема документа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BB5AB-4346-4963-808C-FE8184D4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def valid_root(data):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return (isinstance(data, dict)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    and set(data) == {"version", "students"}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    and type(data["version"]) is int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    and data["version"] == 1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            and isinstance(data["students"], list))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print(valid_root({"version": 1, "students": []}))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print(valid_root({"version": True, "students": []}))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F0ECB-7551-4B12-8272-20AB8E12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4   /   14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18464849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34CD6-ABDD-475B-97EF-C31AC504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Проверка полного цикла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DFADB-D87A-4F4F-B6C0-3B259981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Проверяется содержимое после загрузки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Нужны ошибки синтаксиса и ошибки схемы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Демонстрационные данные сохраняются отдельно от рабочих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88C86-2C95-43BF-8853-19B93773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4   /   15 из 17</a:t>
            </a:r>
          </a:p>
        </p:txBody>
      </p:sp>
    </p:spTree>
    <p:extLst>
      <p:ext uri="{BB962C8B-B14F-4D97-AF65-F5344CB8AC3E}">
        <p14:creationId xmlns:p14="http://schemas.microsoft.com/office/powerpoint/2010/main" val="10123289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6BFA3-4CAD-4AC1-A1CF-2F0FD33E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Проверка полного цикла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35AE9-C83D-4CED-80BC-4D9BE2C3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5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import 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original = {"version": 1, "students": [{"grades": [4]}]}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restored = json.loads(json.dumps(original))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assert restored == original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restored["students"][0]["grades"].append(5)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print(original["students"][0]["grades"])</a:t>
            </a:r>
          </a:p>
          <a:p xmlns:a="http://schemas.openxmlformats.org/drawingml/2006/main">
            <a:pPr>
              <a:def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74B5B"/>
                </a:solidFill>
                <a:latin typeface="Courier New"/>
                <a:ea typeface="Courier New"/>
                <a:cs typeface="Courier New"/>
              </a:rPr>
              <a:t>print(restored["students"][0]["grades"])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C5A30-82C7-42BD-B74A-037A442B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4   /   16 из 17   /   Разбор кода</a:t>
            </a:r>
          </a:p>
        </p:txBody>
      </p:sp>
    </p:spTree>
    <p:extLst>
      <p:ext uri="{BB962C8B-B14F-4D97-AF65-F5344CB8AC3E}">
        <p14:creationId xmlns:p14="http://schemas.microsoft.com/office/powerpoint/2010/main" val="7413255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D686F-BB14-41CF-B6A9-3D56DCA3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D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3F"/>
                </a:solidFill>
                <a:latin typeface="Arial"/>
                <a:ea typeface="Arial"/>
                <a:cs typeface="Arial"/>
              </a:rPr>
              <a:t>Самопроверка и практика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D6C74-BDAF-469E-99C2-0CB370D4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66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Можно ли считать оценки верными только потому, что loads завершился успешно?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Зачем сохранять заголовок, если в отчёте нет студентов?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33C4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C4A"/>
                </a:solidFill>
                <a:latin typeface="Arial"/>
                <a:ea typeface="Arial"/>
                <a:cs typeface="Arial"/>
              </a:rPr>
              <a:t>Практики 7 и 8: применение материала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D9D63-970C-434E-B3D0-5612B25D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E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E8C"/>
                </a:solidFill>
                <a:latin typeface="Arial"/>
                <a:ea typeface="Arial"/>
                <a:cs typeface="Arial"/>
              </a:rPr>
              <a:t>Лекция 4   /   17 из 17</a:t>
            </a:r>
          </a:p>
        </p:txBody>
      </p:sp>
    </p:spTree>
    <p:extLst>
      <p:ext uri="{BB962C8B-B14F-4D97-AF65-F5344CB8AC3E}">
        <p14:creationId xmlns:p14="http://schemas.microsoft.com/office/powerpoint/2010/main" val="861127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2026-09-09T09:52:06.8520000Z</dcterms:created>
  <dcterms:modified xsi:type="dcterms:W3CDTF">2026-09-09T09:52:06.8520000Z</dcterms:modified>
</coreProperties>
</file>