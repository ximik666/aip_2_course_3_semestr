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52dad4c8e743dd" /><Relationship Type="http://schemas.openxmlformats.org/officeDocument/2006/relationships/extended-properties" Target="/docProps/app.xml" Id="R12948ed662ed47c2" /><Relationship Type="http://schemas.openxmlformats.org/officeDocument/2006/relationships/officeDocument" Target="/ppt/presentation.xml" Id="R4134dca7a0a746a5" /></Relationships>
</file>

<file path=ppt/presentation.xml><?xml version="1.0" encoding="utf-8"?>
<p:presentation xmlns:p="http://schemas.openxmlformats.org/presentationml/2006/main">
  <p:sldMasterIdLst>
    <p:sldMasterId xmlns:r="http://schemas.openxmlformats.org/officeDocument/2006/relationships" id="2147483648" r:id="R21a99a24981240cb"/>
  </p:sldMasterIdLst>
  <p:notesMasterIdLst>
    <p:notesMasterId xmlns:r="http://schemas.openxmlformats.org/officeDocument/2006/relationships" r:id="Rbe8c4c41970c4169"/>
  </p:notesMasterIdLst>
  <p:sldIdLst>
    <p:sldId xmlns:r="http://schemas.openxmlformats.org/officeDocument/2006/relationships" id="256" r:id="R48af8dbd14154768"/>
    <p:sldId xmlns:r="http://schemas.openxmlformats.org/officeDocument/2006/relationships" id="257" r:id="R571ddeb3a5774eb9"/>
    <p:sldId xmlns:r="http://schemas.openxmlformats.org/officeDocument/2006/relationships" id="258" r:id="Rd502aa3410ab4f10"/>
    <p:sldId xmlns:r="http://schemas.openxmlformats.org/officeDocument/2006/relationships" id="259" r:id="Ra590e271c89042e7"/>
    <p:sldId xmlns:r="http://schemas.openxmlformats.org/officeDocument/2006/relationships" id="260" r:id="Rb3fc3b6bbc6a45a3"/>
    <p:sldId xmlns:r="http://schemas.openxmlformats.org/officeDocument/2006/relationships" id="261" r:id="Ra19b27e3ddb64840"/>
    <p:sldId xmlns:r="http://schemas.openxmlformats.org/officeDocument/2006/relationships" id="262" r:id="R1eaacebab1334657"/>
    <p:sldId xmlns:r="http://schemas.openxmlformats.org/officeDocument/2006/relationships" id="263" r:id="R0c1ce6c55d414d2e"/>
    <p:sldId xmlns:r="http://schemas.openxmlformats.org/officeDocument/2006/relationships" id="264" r:id="Rbe569e4bef65403a"/>
    <p:sldId xmlns:r="http://schemas.openxmlformats.org/officeDocument/2006/relationships" id="265" r:id="R0c6e87da3067488d"/>
    <p:sldId xmlns:r="http://schemas.openxmlformats.org/officeDocument/2006/relationships" id="266" r:id="Rba1928bb434940e3"/>
    <p:sldId xmlns:r="http://schemas.openxmlformats.org/officeDocument/2006/relationships" id="267" r:id="R779d4cf9a3304692"/>
    <p:sldId xmlns:r="http://schemas.openxmlformats.org/officeDocument/2006/relationships" id="268" r:id="R3c138a1bf3c24884"/>
    <p:sldId xmlns:r="http://schemas.openxmlformats.org/officeDocument/2006/relationships" id="269" r:id="R6621d8b7f0054e2e"/>
    <p:sldId xmlns:r="http://schemas.openxmlformats.org/officeDocument/2006/relationships" id="270" r:id="R64b487a529fa42cf"/>
    <p:sldId xmlns:r="http://schemas.openxmlformats.org/officeDocument/2006/relationships" id="271" r:id="R2b3fc0a33a8e464f"/>
    <p:sldId xmlns:r="http://schemas.openxmlformats.org/officeDocument/2006/relationships" id="272" r:id="R230db7e55c9444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17332957164c36" /><Relationship Type="http://schemas.openxmlformats.org/officeDocument/2006/relationships/slideMaster" Target="/ppt/slideMasters/slideMaster1.xml" Id="R21a99a24981240cb" /><Relationship Type="http://schemas.openxmlformats.org/officeDocument/2006/relationships/notesMaster" Target="/ppt/notesMasters/notesMaster1.xml" Id="Rbe8c4c41970c4169" /><Relationship Type="http://schemas.openxmlformats.org/officeDocument/2006/relationships/presProps" Target="/ppt/presProps.xml" Id="Rd62e2506f36b4e58" /><Relationship Type="http://schemas.openxmlformats.org/officeDocument/2006/relationships/tableStyles" Target="/ppt/tableStyles.xml" Id="Rd4a481517b6a4911" /><Relationship Type="http://schemas.openxmlformats.org/officeDocument/2006/relationships/slide" Target="/ppt/slides/slide1.xml" Id="R48af8dbd14154768" /><Relationship Type="http://schemas.openxmlformats.org/officeDocument/2006/relationships/slide" Target="/ppt/slides/slide2.xml" Id="R571ddeb3a5774eb9" /><Relationship Type="http://schemas.openxmlformats.org/officeDocument/2006/relationships/slide" Target="/ppt/slides/slide3.xml" Id="Rd502aa3410ab4f10" /><Relationship Type="http://schemas.openxmlformats.org/officeDocument/2006/relationships/slide" Target="/ppt/slides/slide4.xml" Id="Ra590e271c89042e7" /><Relationship Type="http://schemas.openxmlformats.org/officeDocument/2006/relationships/slide" Target="/ppt/slides/slide5.xml" Id="Rb3fc3b6bbc6a45a3" /><Relationship Type="http://schemas.openxmlformats.org/officeDocument/2006/relationships/slide" Target="/ppt/slides/slide6.xml" Id="Ra19b27e3ddb64840" /><Relationship Type="http://schemas.openxmlformats.org/officeDocument/2006/relationships/slide" Target="/ppt/slides/slide7.xml" Id="R1eaacebab1334657" /><Relationship Type="http://schemas.openxmlformats.org/officeDocument/2006/relationships/slide" Target="/ppt/slides/slide8.xml" Id="R0c1ce6c55d414d2e" /><Relationship Type="http://schemas.openxmlformats.org/officeDocument/2006/relationships/slide" Target="/ppt/slides/slide9.xml" Id="Rbe569e4bef65403a" /><Relationship Type="http://schemas.openxmlformats.org/officeDocument/2006/relationships/slide" Target="/ppt/slides/slide10.xml" Id="R0c6e87da3067488d" /><Relationship Type="http://schemas.openxmlformats.org/officeDocument/2006/relationships/slide" Target="/ppt/slides/slide11.xml" Id="Rba1928bb434940e3" /><Relationship Type="http://schemas.openxmlformats.org/officeDocument/2006/relationships/slide" Target="/ppt/slides/slide12.xml" Id="R779d4cf9a3304692" /><Relationship Type="http://schemas.openxmlformats.org/officeDocument/2006/relationships/slide" Target="/ppt/slides/slide13.xml" Id="R3c138a1bf3c24884" /><Relationship Type="http://schemas.openxmlformats.org/officeDocument/2006/relationships/slide" Target="/ppt/slides/slide14.xml" Id="R6621d8b7f0054e2e" /><Relationship Type="http://schemas.openxmlformats.org/officeDocument/2006/relationships/slide" Target="/ppt/slides/slide15.xml" Id="R64b487a529fa42cf" /><Relationship Type="http://schemas.openxmlformats.org/officeDocument/2006/relationships/slide" Target="/ppt/slides/slide16.xml" Id="R2b3fc0a33a8e464f" /><Relationship Type="http://schemas.openxmlformats.org/officeDocument/2006/relationships/slide" Target="/ppt/slides/slide17.xml" Id="R230db7e55c9444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fdea8589e243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77b88c4b35413d" /><Relationship Type="http://schemas.openxmlformats.org/officeDocument/2006/relationships/notesMaster" Target="/ppt/notesMasters/notesMaster1.xml" Id="R102c7f4aa3b0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34d22b189045ed" /><Relationship Type="http://schemas.openxmlformats.org/officeDocument/2006/relationships/notesMaster" Target="/ppt/notesMasters/notesMaster1.xml" Id="R79e0732ca78547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10a993b25a4ee0" /><Relationship Type="http://schemas.openxmlformats.org/officeDocument/2006/relationships/notesMaster" Target="/ppt/notesMasters/notesMaster1.xml" Id="Rf5587febf6c440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4f2c5283294a36" /><Relationship Type="http://schemas.openxmlformats.org/officeDocument/2006/relationships/notesMaster" Target="/ppt/notesMasters/notesMaster1.xml" Id="R94d2959ccc06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50e2d3aa8f4b17" /><Relationship Type="http://schemas.openxmlformats.org/officeDocument/2006/relationships/notesMaster" Target="/ppt/notesMasters/notesMaster1.xml" Id="Rdb8b976fa7d44c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0cdfed09404792" /><Relationship Type="http://schemas.openxmlformats.org/officeDocument/2006/relationships/notesMaster" Target="/ppt/notesMasters/notesMaster1.xml" Id="R91fab13d393d4b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354cb88e749b7" /><Relationship Type="http://schemas.openxmlformats.org/officeDocument/2006/relationships/notesMaster" Target="/ppt/notesMasters/notesMaster1.xml" Id="R7cfde6106e21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71918179d049b7" /><Relationship Type="http://schemas.openxmlformats.org/officeDocument/2006/relationships/notesMaster" Target="/ppt/notesMasters/notesMaster1.xml" Id="Rb376c1bfe41b48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d7785d2c944d5b" /><Relationship Type="http://schemas.openxmlformats.org/officeDocument/2006/relationships/notesMaster" Target="/ppt/notesMasters/notesMaster1.xml" Id="R9dc1ee0878d441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daf2787bf2494d" /><Relationship Type="http://schemas.openxmlformats.org/officeDocument/2006/relationships/notesMaster" Target="/ppt/notesMasters/notesMaster1.xml" Id="R624b58ec46a54e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f66ad06fbb404c" /><Relationship Type="http://schemas.openxmlformats.org/officeDocument/2006/relationships/notesMaster" Target="/ppt/notesMasters/notesMaster1.xml" Id="Rd6a66541c8334a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d224ec73d84d0c" /><Relationship Type="http://schemas.openxmlformats.org/officeDocument/2006/relationships/notesMaster" Target="/ppt/notesMasters/notesMaster1.xml" Id="R41f8a2dd6ea64c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250ac49d654cbe" /><Relationship Type="http://schemas.openxmlformats.org/officeDocument/2006/relationships/notesMaster" Target="/ppt/notesMasters/notesMaster1.xml" Id="R027b95e1466f4e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77dc316b174e61" /><Relationship Type="http://schemas.openxmlformats.org/officeDocument/2006/relationships/notesMaster" Target="/ppt/notesMasters/notesMaster1.xml" Id="R2cc0891151f542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fa59882ce142a3" /><Relationship Type="http://schemas.openxmlformats.org/officeDocument/2006/relationships/notesMaster" Target="/ppt/notesMasters/notesMaster1.xml" Id="R76bcf37d85884c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e7a40a3331462c" /><Relationship Type="http://schemas.openxmlformats.org/officeDocument/2006/relationships/notesMaster" Target="/ppt/notesMasters/notesMaster1.xml" Id="Re65e0460f8d044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8265b111e34d8c" /><Relationship Type="http://schemas.openxmlformats.org/officeDocument/2006/relationships/notesMaster" Target="/ppt/notesMasters/notesMaster1.xml" Id="R9439da135eba42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первом курсе функции уже использовались. Здесь мы учимся выбирать границы функций и проверять их независимо от меню. Сквозной пример — вычисление показателей успеваемости.</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Разделять прикладную задачу на небольшие функции с понятными входами и результатами.</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Представим, что преподавателю нужен отчёт: сколько оценок у студента, каков средний балл и есть ли двойки. Если поместить ввод, вычисления и печать в один длинный цикл, каждое изменение затронет несколько частей программы. Сначала выпишем отдельные действия и данные, которые им нужны. Вычислению среднего нужен только список чисел. Форматированию нужны имя и готовое среднее. Меню знает, когда вызвать эти операции.</a:t>
            </a:r>
          </a:p>
          <a:p xmlns:a="http://schemas.openxmlformats.org/drawingml/2006/main">
            <a:r>
              <a:t/>
            </a:r>
          </a:p>
          <a:p xmlns:a="http://schemas.openxmlformats.org/drawingml/2006/main">
            <a:r>
              <a:t>Функция полезна, когда её ответственность можно назвать одним глагольным выражением: «вычислить среднее», «найти задолженности», «сформировать строку». Не следует создавать функцию для каждой строки кода. Граница определяется смыслом и возможностью отдельно проверить результат. Начинаем с конкретного примера и затем заменяем значения параметрами.</a:t>
            </a:r>
          </a:p>
          <a:p xmlns:a="http://schemas.openxmlformats.org/drawingml/2006/main">
            <a:r>
              <a:t/>
            </a:r>
          </a:p>
          <a:p xmlns:a="http://schemas.openxmlformats.org/drawingml/2006/main">
            <a:r>
              <a:t>При разборе попросите студентов сначала решить задачу словами. Какие значения входят? Что получаем? Изменятся ли входные данные? После этого им легче заметить, что печать результата не является частью самого вычисления.</a:t>
            </a:r>
          </a:p>
          <a:p xmlns:a="http://schemas.openxmlformats.org/drawingml/2006/main">
            <a:r>
              <a:t/>
            </a:r>
          </a:p>
          <a:p xmlns:a="http://schemas.openxmlformats.org/drawingml/2006/main">
            <a:r>
              <a:t>Вопрос: Почему функция принимает список оценок, а не читает его через input?</a:t>
            </a:r>
          </a:p>
          <a:p xmlns:a="http://schemas.openxmlformats.org/drawingml/2006/main">
            <a:r>
              <a:t>Ответ: Так её можно вызвать из меню, теста или другой функции без имитации клавиатурного ввода.</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2</a:t>
            </a:r>
          </a:p>
          <a:p xmlns:a="http://schemas.openxmlformats.org/drawingml/2006/main">
            <a:r>
              <a:t/>
            </a:r>
          </a:p>
          <a:p xmlns:a="http://schemas.openxmlformats.org/drawingml/2006/main">
            <a:r>
              <a:t>Почему функция принимает список оценок, а не читает его через input?</a:t>
            </a:r>
          </a:p>
          <a:p xmlns:a="http://schemas.openxmlformats.org/drawingml/2006/main">
            <a:r>
              <a:t>Так её можно вызвать из меню, теста или другой функции без имитации клавиатурного ввода.</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Контракт описывает допустимые входы, результат и особые случаи. Для average(grades) договоримся: на входе список целых оценок 2–5, на выходе среднее без округления либо None, если оценок нет. Пока проверку неверных типов не реализуем: до лекции об исключениях работаем с корректными входами. Это явное ограничение учебного примера.</a:t>
            </a:r>
          </a:p>
          <a:p xmlns:a="http://schemas.openxmlformats.org/drawingml/2006/main">
            <a:r>
              <a:t/>
            </a:r>
          </a:p>
          <a:p xmlns:a="http://schemas.openxmlformats.org/drawingml/2006/main">
            <a:r>
              <a:t>Пустой список — допустимые данные, а не обязательно ошибка. Ноль в качестве среднего был бы двусмысленным: это число, которого нет в принятой шкале, но другие функции могли бы ошибочно включить его в статистику. None явно обозначает отсутствие результата. Ветку для пустых данных располагаем до деления, чтобы деление на ноль вообще не выполнялось.</a:t>
            </a:r>
          </a:p>
          <a:p xmlns:a="http://schemas.openxmlformats.org/drawingml/2006/main">
            <a:r>
              <a:t/>
            </a:r>
          </a:p>
          <a:p xmlns:a="http://schemas.openxmlformats.org/drawingml/2006/main">
            <a:r>
              <a:t>Не округляйте среднее внутри вычисления, если контракт этого не требует. Отчёт может показывать два знака, а последующее сравнение должно использовать исходный результат. Правила представления и правила расчёта выполняют разные задачи.</a:t>
            </a:r>
          </a:p>
          <a:p xmlns:a="http://schemas.openxmlformats.org/drawingml/2006/main">
            <a:r>
              <a:t/>
            </a:r>
          </a:p>
          <a:p xmlns:a="http://schemas.openxmlformats.org/drawingml/2006/main">
            <a:r>
              <a:t>Вопрос: Чем отсутствие оценок отличается от среднего балла 2?</a:t>
            </a:r>
          </a:p>
          <a:p xmlns:a="http://schemas.openxmlformats.org/drawingml/2006/main">
            <a:r>
              <a:t>Ответ: В первом случае нет данных для вычисления. Во втором есть оценки и вычислен конкретный результат.</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4.666666666666667</a:t>
            </a:r>
          </a:p>
          <a:p xmlns:a="http://schemas.openxmlformats.org/drawingml/2006/main">
            <a:r>
              <a:t>None</a:t>
            </a:r>
          </a:p>
          <a:p xmlns:a="http://schemas.openxmlformats.org/drawingml/2006/main">
            <a:r>
              <a:t/>
            </a:r>
          </a:p>
          <a:p xmlns:a="http://schemas.openxmlformats.org/drawingml/2006/main">
            <a:r>
              <a:t>Чем отсутствие оценок отличается от среднего балла 2?</a:t>
            </a:r>
          </a:p>
          <a:p xmlns:a="http://schemas.openxmlformats.org/drawingml/2006/main">
            <a:r>
              <a:t>В первом случае нет данных для вычисления. Во втором есть оценки и вычислен конкретный результат.</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print отправляет текст в поток вывода. return завершает текущий вызов функции и передаёт значение вызывающему коду. Если функция только печатает среднее, другая функция не сможет получить его для сравнения или записи. При отсутствии явного return Python возвращает None. Это часто объясняет загадочное появление None в выводе начинающих.</a:t>
            </a:r>
          </a:p>
          <a:p xmlns:a="http://schemas.openxmlformats.org/drawingml/2006/main">
            <a:r>
              <a:t/>
            </a:r>
          </a:p>
          <a:p xmlns:a="http://schemas.openxmlformats.org/drawingml/2006/main">
            <a:r>
              <a:t>Полезно разделить вычисление и оформление. format_average получает уже вычисленное значение и возвращает строку. Тогда одну и ту же функцию можно использовать в консоли, при построении отчёта или в тесте. Формат .2f означает два знака после десятичной точки; это строковое представление, а не изменение исходного числа.</a:t>
            </a:r>
          </a:p>
          <a:p xmlns:a="http://schemas.openxmlformats.org/drawingml/2006/main">
            <a:r>
              <a:t/>
            </a:r>
          </a:p>
          <a:p xmlns:a="http://schemas.openxmlformats.org/drawingml/2006/main">
            <a:r>
              <a:t>В живом разборе сначала замените return на print и попросите предсказать значение переменной result. Затем верните правильный вариант и покажите, как он участвует в более крупном выражении. Студент должен увидеть поток значений, а не только текст на экране.</a:t>
            </a:r>
          </a:p>
          <a:p xmlns:a="http://schemas.openxmlformats.org/drawingml/2006/main">
            <a:r>
              <a:t/>
            </a:r>
          </a:p>
          <a:p xmlns:a="http://schemas.openxmlformats.org/drawingml/2006/main">
            <a:r>
              <a:t>Вопрос: Как проверить оформление, не читая текст с экрана?</a:t>
            </a:r>
          </a:p>
          <a:p xmlns:a="http://schemas.openxmlformats.org/drawingml/2006/main">
            <a:r>
              <a:t>Ответ: Сравнить возвращённую строку: assert format_average(None) == "нет оценок".</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Средний балл: 4.67</a:t>
            </a:r>
          </a:p>
          <a:p xmlns:a="http://schemas.openxmlformats.org/drawingml/2006/main">
            <a:r>
              <a:t>нет оценок</a:t>
            </a:r>
          </a:p>
          <a:p xmlns:a="http://schemas.openxmlformats.org/drawingml/2006/main">
            <a:r>
              <a:t/>
            </a:r>
          </a:p>
          <a:p xmlns:a="http://schemas.openxmlformats.org/drawingml/2006/main">
            <a:r>
              <a:t>Как проверить оформление, не читая текст с экрана?</a:t>
            </a:r>
          </a:p>
          <a:p xmlns:a="http://schemas.openxmlformats.org/drawingml/2006/main">
            <a:r>
              <a:t>Сравнить возвращённую строку: assert format_average(None) == "нет оценок".</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Параметр — имя в определении функции, аргумент — конкретное значение при вызове. Значение по умолчанию удобно для часто используемого режима. В примере passing(grades, minimum=3) обычный порог равен трём, но вызывающий код может запросить оценки не ниже четырёх. Именованный аргумент делает смысл вызова заметным без обращения к определению.</a:t>
            </a:r>
          </a:p>
          <a:p xmlns:a="http://schemas.openxmlformats.org/drawingml/2006/main">
            <a:r>
              <a:t/>
            </a:r>
          </a:p>
          <a:p xmlns:a="http://schemas.openxmlformats.org/drawingml/2006/main">
            <a:r>
              <a:t>Значение по умолчанию вычисляется при определении функции. Поэтому изменяемый список в таком месте может неожиданно сохранять накопленные данные между вызовами. До знакомства с классами придерживаемся простого правила: для необязательной коллекции используем None и создаём новую коллекцию внутри функции. Числа и строки в примере безопасны, потому что они неизменяемые.</a:t>
            </a:r>
          </a:p>
          <a:p xmlns:a="http://schemas.openxmlformats.org/drawingml/2006/main">
            <a:r>
              <a:t/>
            </a:r>
          </a:p>
          <a:p xmlns:a="http://schemas.openxmlformats.org/drawingml/2006/main">
            <a:r>
              <a:t>Не следует добавлять десяток флагов в одну функцию «на все случаи». Если разные режимы выполняют разные задачи, понятнее несколько функций с отдельными именами. Для учебного курса достаточно позиционных и именованных аргументов, без сложных сочетаний *args и **kwargs.</a:t>
            </a:r>
          </a:p>
          <a:p xmlns:a="http://schemas.openxmlformats.org/drawingml/2006/main">
            <a:r>
              <a:t/>
            </a:r>
          </a:p>
          <a:p xmlns:a="http://schemas.openxmlformats.org/drawingml/2006/main">
            <a:r>
              <a:t>Вопрос: Что означает minimum=4 в вызове?</a:t>
            </a:r>
          </a:p>
          <a:p xmlns:a="http://schemas.openxmlformats.org/drawingml/2006/main">
            <a:r>
              <a:t>Ответ: Аргумент 4 передаётся параметру minimum, заменяя стандартный порог 3.</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[3, 4, 5]</a:t>
            </a:r>
          </a:p>
          <a:p xmlns:a="http://schemas.openxmlformats.org/drawingml/2006/main">
            <a:r>
              <a:t>[4, 5]</a:t>
            </a:r>
          </a:p>
          <a:p xmlns:a="http://schemas.openxmlformats.org/drawingml/2006/main">
            <a:r>
              <a:t/>
            </a:r>
          </a:p>
          <a:p xmlns:a="http://schemas.openxmlformats.org/drawingml/2006/main">
            <a:r>
              <a:t>Что означает minimum=4 в вызове?</a:t>
            </a:r>
          </a:p>
          <a:p xmlns:a="http://schemas.openxmlformats.org/drawingml/2006/main">
            <a:r>
              <a:t>Аргумент 4 передаётся параметру minimum, заменяя стандартный порог 3.</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Имя переменной ссылается на объект. Когда список передаётся функции, новая независимая коллекция автоматически не создаётся. Вызов append внутри функции изменит тот же список, который виден вызывающему коду. Иногда это и требуется, но такой эффект должен входить в контракт.</a:t>
            </a:r>
          </a:p>
          <a:p xmlns:a="http://schemas.openxmlformats.org/drawingml/2006/main">
            <a:r>
              <a:t/>
            </a:r>
          </a:p>
          <a:p xmlns:a="http://schemas.openxmlformats.org/drawingml/2006/main">
            <a:r>
              <a:t>Если задача — подготовить новый вариант данных, создаём копию внешнего списка. Метод copy достаточен для плоского списка чисел: числа не изменяются на месте. Для списка словарей поверхностной копии уже недостаточно, если планируется менять вложенные значения. Этот случай отдельно появится во второй лекции.</a:t>
            </a:r>
          </a:p>
          <a:p xmlns:a="http://schemas.openxmlformats.org/drawingml/2006/main">
            <a:r>
              <a:t/>
            </a:r>
          </a:p>
          <a:p xmlns:a="http://schemas.openxmlformats.org/drawingml/2006/main">
            <a:r>
              <a:t>Не считайте любой побочный эффект ошибкой. Метод добавления оценки в журнал обязан изменять состояние. Ошибка возникает, когда изменение неожиданно для вызывающего кода. В названии и описании функции следует сообщить, возвращает она новую коллекцию или меняет переданную.</a:t>
            </a:r>
          </a:p>
          <a:p xmlns:a="http://schemas.openxmlformats.org/drawingml/2006/main">
            <a:r>
              <a:t/>
            </a:r>
          </a:p>
          <a:p xmlns:a="http://schemas.openxmlformats.org/drawingml/2006/main">
            <a:r>
              <a:t>Вопрос: Почему нельзя заменить grades.copy() на grades?</a:t>
            </a:r>
          </a:p>
          <a:p xmlns:a="http://schemas.openxmlformats.org/drawingml/2006/main">
            <a:r>
              <a:t>Ответ: Оба имени будут ссылаться на один список, и добавление изменит original.</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[4, 5]</a:t>
            </a:r>
          </a:p>
          <a:p xmlns:a="http://schemas.openxmlformats.org/drawingml/2006/main">
            <a:r>
              <a:t>[4, 5, 3]</a:t>
            </a:r>
          </a:p>
          <a:p xmlns:a="http://schemas.openxmlformats.org/drawingml/2006/main">
            <a:r>
              <a:t/>
            </a:r>
          </a:p>
          <a:p xmlns:a="http://schemas.openxmlformats.org/drawingml/2006/main">
            <a:r>
              <a:t>Почему нельзя заменить grades.copy() на grades?</a:t>
            </a:r>
          </a:p>
          <a:p xmlns:a="http://schemas.openxmlformats.org/drawingml/2006/main">
            <a:r>
              <a:t>Оба имени будут ссылаться на один список, и добавление изменит original.</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Декомпозиция полезна, когда небольшие функции можно соединить. Сначала вычисляем данные, затем строим результат следующего уровня. В отчёте удобно возвращать словарь с именованными полями: вызывающему коду не нужно запоминать, что означает второй или третий элемент списка. Подробно словари будут разобраны на следующем занятии.</a:t>
            </a:r>
          </a:p>
          <a:p xmlns:a="http://schemas.openxmlformats.org/drawingml/2006/main">
            <a:r>
              <a:t/>
            </a:r>
          </a:p>
          <a:p xmlns:a="http://schemas.openxmlformats.org/drawingml/2006/main">
            <a:r>
              <a:t>Старайтесь не вычислять одно и то же несколько раз. Сохраните среднее в переменную либо передайте его дальше. Следите за согласованностью: если одна функция обозначает отсутствие значения как None, следующая должна это учитывать. Нельзя без проверки складывать None с числом или форматировать его как float.</a:t>
            </a:r>
          </a:p>
          <a:p xmlns:a="http://schemas.openxmlformats.org/drawingml/2006/main">
            <a:r>
              <a:t/>
            </a:r>
          </a:p>
          <a:p xmlns:a="http://schemas.openxmlformats.org/drawingml/2006/main">
            <a:r>
              <a:t>Представленный пример намеренно невелик. Для полноценного приложения понадобятся проверка данных, файл и меню. Однако вычислительная часть уже пригодна для тестирования, потому что в ней нет интерактивного ввода.</a:t>
            </a:r>
          </a:p>
          <a:p xmlns:a="http://schemas.openxmlformats.org/drawingml/2006/main">
            <a:r>
              <a:t/>
            </a:r>
          </a:p>
          <a:p xmlns:a="http://schemas.openxmlformats.org/drawingml/2006/main">
            <a:r>
              <a:t>Вопрос: Какие три отдельные проверки нужны для summary?</a:t>
            </a:r>
          </a:p>
          <a:p xmlns:a="http://schemas.openxmlformats.org/drawingml/2006/main">
            <a:r>
              <a:t>Ответ: Обычный непустой список, пустой список, список с двойкой; дополнительно список без двоек.</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{'count': 3, 'average': 3.6666666666666665, 'debt': True}</a:t>
            </a:r>
          </a:p>
          <a:p xmlns:a="http://schemas.openxmlformats.org/drawingml/2006/main">
            <a:r>
              <a:t/>
            </a:r>
          </a:p>
          <a:p xmlns:a="http://schemas.openxmlformats.org/drawingml/2006/main">
            <a:r>
              <a:t>Какие три отдельные проверки нужны для summary?</a:t>
            </a:r>
          </a:p>
          <a:p xmlns:a="http://schemas.openxmlformats.org/drawingml/2006/main">
            <a:r>
              <a:t>Обычный непустой список, пустой список, список с двойкой; дополнительно список без двоек.</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Прежде чем подключать функцию к меню, вызовите её на нескольких небольших примерах. Ожидаемый результат посчитайте вручную. assert подходит для короткой учебной самопроверки: если условие ложно, выполнение останавливается с AssertionError. Проверять введённые пользователем данные через assert нельзя: такие инструкции могут отключаться в оптимизированном режиме Python.</a:t>
            </a:r>
          </a:p>
          <a:p xmlns:a="http://schemas.openxmlformats.org/drawingml/2006/main">
            <a:r>
              <a:t/>
            </a:r>
          </a:p>
          <a:p xmlns:a="http://schemas.openxmlformats.org/drawingml/2006/main">
            <a:r>
              <a:t>Хорошие имена сообщают назначение: grades, average, count. Однобуквенные имена допустимы в очень коротком локальном фрагменте, но в прикладной программе часто мешают. Комментарий должен объяснять решение, например причину возврата None, а не повторять «увеличиваем счётчик» возле count += 1.</a:t>
            </a:r>
          </a:p>
          <a:p xmlns:a="http://schemas.openxmlformats.org/drawingml/2006/main">
            <a:r>
              <a:t/>
            </a:r>
          </a:p>
          <a:p xmlns:a="http://schemas.openxmlformats.org/drawingml/2006/main">
            <a:r>
              <a:t>На завершение попросите каждого студента объяснить контракт своей функции соседу. Если объяснение требует описать всё меню, граница функции, вероятно, выбрана неудачно. Задание на практику — улучшить структуру уже знакомой программы, сохранив правильные результаты.</a:t>
            </a:r>
          </a:p>
          <a:p xmlns:a="http://schemas.openxmlformats.org/drawingml/2006/main">
            <a:r>
              <a:t/>
            </a:r>
          </a:p>
          <a:p xmlns:a="http://schemas.openxmlformats.org/drawingml/2006/main">
            <a:r>
              <a:t>Вопрос: Почему тест только на [5, 4] недостаточен?</a:t>
            </a:r>
          </a:p>
          <a:p xmlns:a="http://schemas.openxmlformats.org/drawingml/2006/main">
            <a:r>
              <a:t>Ответ: Он не проверяет пустой вход и целевую ветку с двойками, поэтому часть ошибок останется незамеченной.</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3 проверки выполнены</a:t>
            </a:r>
          </a:p>
          <a:p xmlns:a="http://schemas.openxmlformats.org/drawingml/2006/main">
            <a:r>
              <a:t/>
            </a:r>
          </a:p>
          <a:p xmlns:a="http://schemas.openxmlformats.org/drawingml/2006/main">
            <a:r>
              <a:t>Почему тест только на [5, 4] недостаточен?</a:t>
            </a:r>
          </a:p>
          <a:p xmlns:a="http://schemas.openxmlformats.org/drawingml/2006/main">
            <a:r>
              <a:t>Он не проверяет пустой вход и целевую ветку с двойками, поэтому часть ошибок останется незамеченной.</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Разделите свою программу первого курса минимум на три осмысленные функции. Для каждой запишите вход, выход и особый случай. Добавьте по две самопроверки. В README объясните одно решение о границе функции.</a:t>
            </a:r>
          </a:p>
          <a:p xmlns:a="http://schemas.openxmlformats.org/drawingml/2006/main">
            <a:r>
              <a:t/>
            </a:r>
          </a:p>
          <a:p xmlns:a="http://schemas.openxmlformats.org/drawingml/2006/main">
            <a:r>
              <a:t>Справочники:</a:t>
            </a:r>
          </a:p>
          <a:p xmlns:a="http://schemas.openxmlformats.org/drawingml/2006/main">
            <a:r>
              <a:t>https://docs.python.org/3/tutorial/controlflow.html#defining-functions</a:t>
            </a:r>
          </a:p>
          <a:p xmlns:a="http://schemas.openxmlformats.org/drawingml/2006/main">
            <a:r>
              <a:t>https://docs.python.org/3/tutorial/datastructures.html</a:t>
            </a:r>
          </a:p>
          <a:p xmlns:a="http://schemas.openxmlformats.org/drawingml/2006/main">
            <a:r>
              <a:t/>
            </a:r>
          </a:p>
          <a:p xmlns:a="http://schemas.openxmlformats.org/drawingml/2006/main">
            <a:r>
              <a:t>Учебный конспект: lectures/01/README.md</a:t>
            </a:r>
          </a:p>
          <a:p xmlns:a="http://schemas.openxmlformats.org/drawingml/2006/main">
            <a:r>
              <a:t>https://docs.python.org/3/tutorial/controlflow.html#defining-functions</a:t>
            </a:r>
          </a:p>
          <a:p xmlns:a="http://schemas.openxmlformats.org/drawingml/2006/main">
            <a:r>
              <a:t>https://docs.python.org/3/tutorial/datastructures.html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860af4388f45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c2473a7a2344c3" /><Relationship Type="http://schemas.openxmlformats.org/officeDocument/2006/relationships/slideLayout" Target="/ppt/slideLayouts/slideLayout1.xml" Id="Rc2c410c2beec4e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c410c2beec4e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d9a4c5012d40e8" /><Relationship Type="http://schemas.openxmlformats.org/officeDocument/2006/relationships/notesSlide" Target="/ppt/notesSlides/notesSlide1.xml" Id="R99922ccbb43246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bb05764c794773" /><Relationship Type="http://schemas.openxmlformats.org/officeDocument/2006/relationships/notesSlide" Target="/ppt/notesSlides/notesSlide2.xml" Id="R1e510e9fcd094e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ceabd0c3144612" /><Relationship Type="http://schemas.openxmlformats.org/officeDocument/2006/relationships/notesSlide" Target="/ppt/notesSlides/notesSlide3.xml" Id="Rc1322d51a94f41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84308ebf5c4d8b" /><Relationship Type="http://schemas.openxmlformats.org/officeDocument/2006/relationships/notesSlide" Target="/ppt/notesSlides/notesSlide4.xml" Id="R4cc96804e9c44e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43c28153254b39" /><Relationship Type="http://schemas.openxmlformats.org/officeDocument/2006/relationships/notesSlide" Target="/ppt/notesSlides/notesSlide5.xml" Id="Rf7255e72a98247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095856d0e14bca" /><Relationship Type="http://schemas.openxmlformats.org/officeDocument/2006/relationships/notesSlide" Target="/ppt/notesSlides/notesSlide6.xml" Id="R7be43e7be57241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5856e44b604d11" /><Relationship Type="http://schemas.openxmlformats.org/officeDocument/2006/relationships/notesSlide" Target="/ppt/notesSlides/notesSlide7.xml" Id="R95db412893604e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eed76934684595" /><Relationship Type="http://schemas.openxmlformats.org/officeDocument/2006/relationships/notesSlide" Target="/ppt/notesSlides/notesSlide8.xml" Id="R01ad15f539c54e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427a04ca184989" /><Relationship Type="http://schemas.openxmlformats.org/officeDocument/2006/relationships/notesSlide" Target="/ppt/notesSlides/notesSlide9.xml" Id="Rbf3e287d8cc24b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c4a52cba5843bc" /><Relationship Type="http://schemas.openxmlformats.org/officeDocument/2006/relationships/notesSlide" Target="/ppt/notesSlides/notesSlide10.xml" Id="R3f5905db5b2941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b5daeb1e6b41bc" /><Relationship Type="http://schemas.openxmlformats.org/officeDocument/2006/relationships/notesSlide" Target="/ppt/notesSlides/notesSlide11.xml" Id="R7759c85893bb42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b797fe30c14233" /><Relationship Type="http://schemas.openxmlformats.org/officeDocument/2006/relationships/notesSlide" Target="/ppt/notesSlides/notesSlide12.xml" Id="R796f8e1276664c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a46d6f67d243df" /><Relationship Type="http://schemas.openxmlformats.org/officeDocument/2006/relationships/notesSlide" Target="/ppt/notesSlides/notesSlide13.xml" Id="R6363ceff370c46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55eb2ff0ede440e" /><Relationship Type="http://schemas.openxmlformats.org/officeDocument/2006/relationships/notesSlide" Target="/ppt/notesSlides/notesSlide14.xml" Id="R708e4a24936d4a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dc91f27e4a4adf" /><Relationship Type="http://schemas.openxmlformats.org/officeDocument/2006/relationships/notesSlide" Target="/ppt/notesSlides/notesSlide15.xml" Id="R5a12161933054c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31b76a6edfd4eaa" /><Relationship Type="http://schemas.openxmlformats.org/officeDocument/2006/relationships/notesSlide" Target="/ppt/notesSlides/notesSlide16.xml" Id="Re6044e03766141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6b7a8295c446f2" /><Relationship Type="http://schemas.openxmlformats.org/officeDocument/2006/relationships/notesSlide" Target="/ppt/notesSlides/notesSlide17.xml" Id="R6f7e727d8d8b47e0" /></Relationships>
</file>

<file path=ppt/slides/slide1.xml><?xml version="1.0" encoding="utf-8"?>
<p:sld xmlns:p="http://schemas.openxmlformats.org/presentationml/2006/main">
  <p:cSld>
    <p:bg>
      <p:bgPr>
        <a:solidFill xmlns:a="http://schemas.openxmlformats.org/drawingml/2006/main">
          <a:srgbClr val="122D3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79D56F-D565-4216-BB9E-4D692E3D0746}"/>
              </a:ext>
            </a:extLst>
          </p:cNvPr>
          <p:cNvSpPr>
            <a:spLocks xmlns:a="http://schemas.openxmlformats.org/drawingml/2006/main" noGrp="1"/>
          </p:cNvSpPr>
          <p:nvPr/>
        </p:nvSpPr>
        <p:spPr>
          <a:xfrm xmlns:a="http://schemas.openxmlformats.org/drawingml/2006/main">
            <a:off x="704850" y="7239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3D6C3"/>
                </a:solidFill>
                <a:latin typeface="Arial"/>
                <a:ea typeface="Arial"/>
                <a:cs typeface="Arial"/>
              </a:defRPr>
            </a:pPr>
            <a:r>
              <a:rPr sz="1800" b="0">
                <a:solidFill>
                  <a:srgbClr val="73D6C3"/>
                </a:solidFill>
                <a:latin typeface="Arial"/>
                <a:ea typeface="Arial"/>
                <a:cs typeface="Arial"/>
              </a:rPr>
              <a:t>PYTHON / 2 КУРС / ЛЕКЦИЯ 1</a:t>
            </a:r>
          </a:p>
        </p:txBody>
      </p:sp>
      <p:sp>
        <p:nvSpPr>
          <p:cNvPr id="2" name="">
            <a:extLst xmlns:a="http://schemas.openxmlformats.org/drawingml/2006/main">
              <a:ext uri="{FF2B5EF4-FFF2-40B4-BE49-F238E27FC236}">
                <a16:creationId xmlns:a16="http://schemas.microsoft.com/office/drawing/2014/main" id="{06B3A4B7-5C58-4F6B-9DC2-CEFEC1F16852}"/>
              </a:ext>
            </a:extLst>
          </p:cNvPr>
          <p:cNvSpPr>
            <a:spLocks xmlns:a="http://schemas.openxmlformats.org/drawingml/2006/main" noGrp="1"/>
          </p:cNvSpPr>
          <p:nvPr/>
        </p:nvSpPr>
        <p:spPr>
          <a:xfrm xmlns:a="http://schemas.openxmlformats.org/drawingml/2006/main">
            <a:off x="685800" y="19621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Функции и организация программы</a:t>
            </a:r>
          </a:p>
        </p:txBody>
      </p:sp>
      <p:sp>
        <p:nvSpPr>
          <p:cNvPr id="3" name="">
            <a:extLst xmlns:a="http://schemas.openxmlformats.org/drawingml/2006/main">
              <a:ext uri="{FF2B5EF4-FFF2-40B4-BE49-F238E27FC236}">
                <a16:creationId xmlns:a16="http://schemas.microsoft.com/office/drawing/2014/main" id="{191A7347-355B-482F-B1AB-D304573C6DBE}"/>
              </a:ext>
            </a:extLst>
          </p:cNvPr>
          <p:cNvSpPr>
            <a:spLocks xmlns:a="http://schemas.openxmlformats.org/drawingml/2006/main" noGrp="1"/>
          </p:cNvSpPr>
          <p:nvPr/>
        </p:nvSpPr>
        <p:spPr>
          <a:xfrm xmlns:a="http://schemas.openxmlformats.org/drawingml/2006/main">
            <a:off x="723900" y="49720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Алгоритмизация и программирование</a:t>
            </a:r>
          </a:p>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Прикладной курс · 90 минут</a:t>
            </a:r>
          </a:p>
        </p:txBody>
      </p:sp>
    </p:spTree>
    <p:extLst>
      <p:ext uri="{BB962C8B-B14F-4D97-AF65-F5344CB8AC3E}">
        <p14:creationId xmlns:p14="http://schemas.microsoft.com/office/powerpoint/2010/main" val="1365522556"/>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3CC3316-C64B-405E-ACAC-00B696C1E1E2}"/>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Результат занятия</a:t>
            </a:r>
          </a:p>
        </p:txBody>
      </p:sp>
      <p:sp>
        <p:nvSpPr>
          <p:cNvPr id="2" name="">
            <a:extLst xmlns:a="http://schemas.openxmlformats.org/drawingml/2006/main">
              <a:ext uri="{FF2B5EF4-FFF2-40B4-BE49-F238E27FC236}">
                <a16:creationId xmlns:a16="http://schemas.microsoft.com/office/drawing/2014/main" id="{E121F0B0-145E-45AD-86AE-9EECF2D52080}"/>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Сформулировать контракт функции до написания кода</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Отделить вычисления от input и print</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Обработать пустой список и избежать случайного изменения данных</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Собрать отчёт из нескольких небольших функций</a:t>
            </a:r>
          </a:p>
        </p:txBody>
      </p:sp>
      <p:sp>
        <p:nvSpPr>
          <p:cNvPr id="3" name="">
            <a:extLst xmlns:a="http://schemas.openxmlformats.org/drawingml/2006/main">
              <a:ext uri="{FF2B5EF4-FFF2-40B4-BE49-F238E27FC236}">
                <a16:creationId xmlns:a16="http://schemas.microsoft.com/office/drawing/2014/main" id="{208516BD-57ED-4264-BDFA-D07800C096A5}"/>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2 из 17</a:t>
            </a:r>
          </a:p>
        </p:txBody>
      </p:sp>
    </p:spTree>
    <p:extLst>
      <p:ext uri="{BB962C8B-B14F-4D97-AF65-F5344CB8AC3E}">
        <p14:creationId xmlns:p14="http://schemas.microsoft.com/office/powerpoint/2010/main" val="1667020411"/>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7698C84-5C4D-41E4-98AB-D964ECD6130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Декомпозиция задачи</a:t>
            </a:r>
          </a:p>
        </p:txBody>
      </p:sp>
      <p:sp>
        <p:nvSpPr>
          <p:cNvPr id="2" name="">
            <a:extLst xmlns:a="http://schemas.openxmlformats.org/drawingml/2006/main">
              <a:ext uri="{FF2B5EF4-FFF2-40B4-BE49-F238E27FC236}">
                <a16:creationId xmlns:a16="http://schemas.microsoft.com/office/drawing/2014/main" id="{286D7685-0C0D-45AC-864F-FD9B2849337D}"/>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Одна функция решает одну понятную задачу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Входные данные передаются параметрами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Результат возвращается вызывающему коду</a:t>
            </a:r>
          </a:p>
        </p:txBody>
      </p:sp>
      <p:sp>
        <p:nvSpPr>
          <p:cNvPr id="3" name="">
            <a:extLst xmlns:a="http://schemas.openxmlformats.org/drawingml/2006/main">
              <a:ext uri="{FF2B5EF4-FFF2-40B4-BE49-F238E27FC236}">
                <a16:creationId xmlns:a16="http://schemas.microsoft.com/office/drawing/2014/main" id="{2971C27B-24F7-430A-A86C-7581358D0145}"/>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3 из 17</a:t>
            </a:r>
          </a:p>
        </p:txBody>
      </p:sp>
    </p:spTree>
    <p:extLst>
      <p:ext uri="{BB962C8B-B14F-4D97-AF65-F5344CB8AC3E}">
        <p14:creationId xmlns:p14="http://schemas.microsoft.com/office/powerpoint/2010/main" val="43897441"/>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96B619-21C4-4F42-92C2-D30114E4B510}"/>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Декомпозиция задачи</a:t>
            </a:r>
          </a:p>
        </p:txBody>
      </p:sp>
      <p:sp>
        <p:nvSpPr>
          <p:cNvPr id="2" name="">
            <a:extLst xmlns:a="http://schemas.openxmlformats.org/drawingml/2006/main">
              <a:ext uri="{FF2B5EF4-FFF2-40B4-BE49-F238E27FC236}">
                <a16:creationId xmlns:a16="http://schemas.microsoft.com/office/drawing/2014/main" id="{FDA97DA2-F0E9-4A86-BAA6-E83A06D8D9BE}"/>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count_debts(grades):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count = 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for grade in 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grade == 2:</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count += 1</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count</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print(count_debts([5, 2, 4, 2]))</a:t>
            </a:r>
          </a:p>
        </p:txBody>
      </p:sp>
      <p:sp>
        <p:nvSpPr>
          <p:cNvPr id="3" name="">
            <a:extLst xmlns:a="http://schemas.openxmlformats.org/drawingml/2006/main">
              <a:ext uri="{FF2B5EF4-FFF2-40B4-BE49-F238E27FC236}">
                <a16:creationId xmlns:a16="http://schemas.microsoft.com/office/drawing/2014/main" id="{991CF975-C16E-42EF-9B0F-A42086BF7DE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4 из 17   /   Разбор кода</a:t>
            </a:r>
          </a:p>
        </p:txBody>
      </p:sp>
    </p:spTree>
    <p:extLst>
      <p:ext uri="{BB962C8B-B14F-4D97-AF65-F5344CB8AC3E}">
        <p14:creationId xmlns:p14="http://schemas.microsoft.com/office/powerpoint/2010/main" val="973407415"/>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A15C7C-244B-4E65-B866-1975D104A57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Контракт функции и пустые данные</a:t>
            </a:r>
          </a:p>
        </p:txBody>
      </p:sp>
      <p:sp>
        <p:nvSpPr>
          <p:cNvPr id="2" name="">
            <a:extLst xmlns:a="http://schemas.openxmlformats.org/drawingml/2006/main">
              <a:ext uri="{FF2B5EF4-FFF2-40B4-BE49-F238E27FC236}">
                <a16:creationId xmlns:a16="http://schemas.microsoft.com/office/drawing/2014/main" id="{021FF71D-495C-4D33-A2BC-3E26B8E50984}"/>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Вход: список оценок от 2 до 5</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Пустой список даёт None</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Округление выполняется при отображении</a:t>
            </a:r>
          </a:p>
        </p:txBody>
      </p:sp>
      <p:sp>
        <p:nvSpPr>
          <p:cNvPr id="3" name="">
            <a:extLst xmlns:a="http://schemas.openxmlformats.org/drawingml/2006/main">
              <a:ext uri="{FF2B5EF4-FFF2-40B4-BE49-F238E27FC236}">
                <a16:creationId xmlns:a16="http://schemas.microsoft.com/office/drawing/2014/main" id="{076AF9CD-62CE-4EBE-89E0-44CDE7B813D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5 из 17</a:t>
            </a:r>
          </a:p>
        </p:txBody>
      </p:sp>
    </p:spTree>
    <p:extLst>
      <p:ext uri="{BB962C8B-B14F-4D97-AF65-F5344CB8AC3E}">
        <p14:creationId xmlns:p14="http://schemas.microsoft.com/office/powerpoint/2010/main" val="717666852"/>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A01FC7-14FF-48A9-945B-8ACA340124B9}"/>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Контракт функции и пустые данные</a:t>
            </a:r>
          </a:p>
        </p:txBody>
      </p:sp>
      <p:sp>
        <p:nvSpPr>
          <p:cNvPr id="2" name="">
            <a:extLst xmlns:a="http://schemas.openxmlformats.org/drawingml/2006/main">
              <a:ext uri="{FF2B5EF4-FFF2-40B4-BE49-F238E27FC236}">
                <a16:creationId xmlns:a16="http://schemas.microsoft.com/office/drawing/2014/main" id="{56890175-E7B9-4258-9929-17D8C2307E4D}"/>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average(grades):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not 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None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sum(grades) / len(grades)</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print(average([5, 4,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print(average([]))</a:t>
            </a:r>
          </a:p>
        </p:txBody>
      </p:sp>
      <p:sp>
        <p:nvSpPr>
          <p:cNvPr id="3" name="">
            <a:extLst xmlns:a="http://schemas.openxmlformats.org/drawingml/2006/main">
              <a:ext uri="{FF2B5EF4-FFF2-40B4-BE49-F238E27FC236}">
                <a16:creationId xmlns:a16="http://schemas.microsoft.com/office/drawing/2014/main" id="{F5FB5668-681F-4F8D-A926-D5D939FB9D81}"/>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6 из 17   /   Разбор кода</a:t>
            </a:r>
          </a:p>
        </p:txBody>
      </p:sp>
    </p:spTree>
    <p:extLst>
      <p:ext uri="{BB962C8B-B14F-4D97-AF65-F5344CB8AC3E}">
        <p14:creationId xmlns:p14="http://schemas.microsoft.com/office/powerpoint/2010/main" val="945610576"/>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0BA47E0-FF63-4C29-AF75-8783449398F4}"/>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return и print</a:t>
            </a:r>
          </a:p>
        </p:txBody>
      </p:sp>
      <p:sp>
        <p:nvSpPr>
          <p:cNvPr id="2" name="">
            <a:extLst xmlns:a="http://schemas.openxmlformats.org/drawingml/2006/main">
              <a:ext uri="{FF2B5EF4-FFF2-40B4-BE49-F238E27FC236}">
                <a16:creationId xmlns:a16="http://schemas.microsoft.com/office/drawing/2014/main" id="{11902A16-3C02-43DA-BBBD-AE822935C4D3}"/>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return передаёт значение</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print выводит текст</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Форматирование тоже может возвращать строку</a:t>
            </a:r>
          </a:p>
        </p:txBody>
      </p:sp>
      <p:sp>
        <p:nvSpPr>
          <p:cNvPr id="3" name="">
            <a:extLst xmlns:a="http://schemas.openxmlformats.org/drawingml/2006/main">
              <a:ext uri="{FF2B5EF4-FFF2-40B4-BE49-F238E27FC236}">
                <a16:creationId xmlns:a16="http://schemas.microsoft.com/office/drawing/2014/main" id="{A7608E12-E513-4A9A-A6B5-D1EC227132D2}"/>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7 из 17</a:t>
            </a:r>
          </a:p>
        </p:txBody>
      </p:sp>
    </p:spTree>
    <p:extLst>
      <p:ext uri="{BB962C8B-B14F-4D97-AF65-F5344CB8AC3E}">
        <p14:creationId xmlns:p14="http://schemas.microsoft.com/office/powerpoint/2010/main" val="608600941"/>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CE8F928-A393-4EAF-82A8-3B1F9753903C}"/>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return и print</a:t>
            </a:r>
          </a:p>
        </p:txBody>
      </p:sp>
      <p:sp>
        <p:nvSpPr>
          <p:cNvPr id="2" name="">
            <a:extLst xmlns:a="http://schemas.openxmlformats.org/drawingml/2006/main">
              <a:ext uri="{FF2B5EF4-FFF2-40B4-BE49-F238E27FC236}">
                <a16:creationId xmlns:a16="http://schemas.microsoft.com/office/drawing/2014/main" id="{DB285FD0-3BDA-4B9D-AEFE-016287BE7BB4}"/>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format_average(value):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value is None: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"нет оценок"</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f"{value:.2f}"</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result = format_average(14 / 3)</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print("Средний балл:", result)</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print(format_average(None))</a:t>
            </a:r>
          </a:p>
        </p:txBody>
      </p:sp>
      <p:sp>
        <p:nvSpPr>
          <p:cNvPr id="3" name="">
            <a:extLst xmlns:a="http://schemas.openxmlformats.org/drawingml/2006/main">
              <a:ext uri="{FF2B5EF4-FFF2-40B4-BE49-F238E27FC236}">
                <a16:creationId xmlns:a16="http://schemas.microsoft.com/office/drawing/2014/main" id="{D972271D-7C3F-4EE2-AEAB-9FE6CF163379}"/>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8 из 17   /   Разбор кода</a:t>
            </a:r>
          </a:p>
        </p:txBody>
      </p:sp>
    </p:spTree>
    <p:extLst>
      <p:ext uri="{BB962C8B-B14F-4D97-AF65-F5344CB8AC3E}">
        <p14:creationId xmlns:p14="http://schemas.microsoft.com/office/powerpoint/2010/main" val="148199283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C621370-583C-4158-8220-BDCDAF120249}"/>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Параметры и именованные аргументы</a:t>
            </a:r>
          </a:p>
        </p:txBody>
      </p:sp>
      <p:sp>
        <p:nvSpPr>
          <p:cNvPr id="2" name="">
            <a:extLst xmlns:a="http://schemas.openxmlformats.org/drawingml/2006/main">
              <a:ext uri="{FF2B5EF4-FFF2-40B4-BE49-F238E27FC236}">
                <a16:creationId xmlns:a16="http://schemas.microsoft.com/office/drawing/2014/main" id="{AD210A1D-B65A-4FED-9D7F-E05D647E800E}"/>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Параметр задаёт роль входного значения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Именованный аргумент поясняет вызов</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Для изменяемых значений по умолчанию нужен отдельный разбор</a:t>
            </a:r>
          </a:p>
        </p:txBody>
      </p:sp>
      <p:sp>
        <p:nvSpPr>
          <p:cNvPr id="3" name="">
            <a:extLst xmlns:a="http://schemas.openxmlformats.org/drawingml/2006/main">
              <a:ext uri="{FF2B5EF4-FFF2-40B4-BE49-F238E27FC236}">
                <a16:creationId xmlns:a16="http://schemas.microsoft.com/office/drawing/2014/main" id="{0426E1E9-DC6C-44B4-B948-198B76DCF791}"/>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9 из 17</a:t>
            </a:r>
          </a:p>
        </p:txBody>
      </p:sp>
    </p:spTree>
    <p:extLst>
      <p:ext uri="{BB962C8B-B14F-4D97-AF65-F5344CB8AC3E}">
        <p14:creationId xmlns:p14="http://schemas.microsoft.com/office/powerpoint/2010/main" val="122303478"/>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99C09B2-0708-4BF5-85FB-13DE9AD3321B}"/>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Параметры и именованные аргументы</a:t>
            </a:r>
          </a:p>
        </p:txBody>
      </p:sp>
      <p:sp>
        <p:nvSpPr>
          <p:cNvPr id="2" name="">
            <a:extLst xmlns:a="http://schemas.openxmlformats.org/drawingml/2006/main">
              <a:ext uri="{FF2B5EF4-FFF2-40B4-BE49-F238E27FC236}">
                <a16:creationId xmlns:a16="http://schemas.microsoft.com/office/drawing/2014/main" id="{792A7B36-48E9-4B00-8F0B-9F90FDA3AFE7}"/>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passing(grades, minimum=3):</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result =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for grade in 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grade &gt;= minimum:</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result.append(grade)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result</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print(passing([2, 3, 4,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print(passing([2, 3, 4, 5], minimum=4))</a:t>
            </a:r>
          </a:p>
        </p:txBody>
      </p:sp>
      <p:sp>
        <p:nvSpPr>
          <p:cNvPr id="3" name="">
            <a:extLst xmlns:a="http://schemas.openxmlformats.org/drawingml/2006/main">
              <a:ext uri="{FF2B5EF4-FFF2-40B4-BE49-F238E27FC236}">
                <a16:creationId xmlns:a16="http://schemas.microsoft.com/office/drawing/2014/main" id="{A073C4A6-C48F-4D06-8BB3-8CFDC329962F}"/>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10 из 17   /   Разбор кода</a:t>
            </a:r>
          </a:p>
        </p:txBody>
      </p:sp>
    </p:spTree>
    <p:extLst>
      <p:ext uri="{BB962C8B-B14F-4D97-AF65-F5344CB8AC3E}">
        <p14:creationId xmlns:p14="http://schemas.microsoft.com/office/powerpoint/2010/main" val="1325027363"/>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7689074-28BC-404B-90F8-8A62DE3BC30C}"/>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Изменение списка и копирование</a:t>
            </a:r>
          </a:p>
        </p:txBody>
      </p:sp>
      <p:sp>
        <p:nvSpPr>
          <p:cNvPr id="2" name="">
            <a:extLst xmlns:a="http://schemas.openxmlformats.org/drawingml/2006/main">
              <a:ext uri="{FF2B5EF4-FFF2-40B4-BE49-F238E27FC236}">
                <a16:creationId xmlns:a16="http://schemas.microsoft.com/office/drawing/2014/main" id="{39EFB82C-A2E1-408D-8018-A63BAF43420C}"/>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Передача списка не создаёт копию</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copy создаёт новый внешний список</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Изменение входа должно быть частью контракта</a:t>
            </a:r>
          </a:p>
        </p:txBody>
      </p:sp>
      <p:sp>
        <p:nvSpPr>
          <p:cNvPr id="3" name="">
            <a:extLst xmlns:a="http://schemas.openxmlformats.org/drawingml/2006/main">
              <a:ext uri="{FF2B5EF4-FFF2-40B4-BE49-F238E27FC236}">
                <a16:creationId xmlns:a16="http://schemas.microsoft.com/office/drawing/2014/main" id="{5A4A6720-4C5D-4204-B39F-4C4E80E47CC1}"/>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11 из 17</a:t>
            </a:r>
          </a:p>
        </p:txBody>
      </p:sp>
    </p:spTree>
    <p:extLst>
      <p:ext uri="{BB962C8B-B14F-4D97-AF65-F5344CB8AC3E}">
        <p14:creationId xmlns:p14="http://schemas.microsoft.com/office/powerpoint/2010/main" val="2006911099"/>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D0165E6-FD38-4B82-8230-A89B3BF7D810}"/>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Изменение списка и копирование</a:t>
            </a:r>
          </a:p>
        </p:txBody>
      </p:sp>
      <p:sp>
        <p:nvSpPr>
          <p:cNvPr id="2" name="">
            <a:extLst xmlns:a="http://schemas.openxmlformats.org/drawingml/2006/main">
              <a:ext uri="{FF2B5EF4-FFF2-40B4-BE49-F238E27FC236}">
                <a16:creationId xmlns:a16="http://schemas.microsoft.com/office/drawing/2014/main" id="{E695D989-759A-4EB1-8E5E-409AEC96CA39}"/>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with_grade(grades, grade):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result = grades.copy()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result.append(grade)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result</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original = [4,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updated = with_grade(original, 3)</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print(original)</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print(updated)</a:t>
            </a:r>
          </a:p>
        </p:txBody>
      </p:sp>
      <p:sp>
        <p:nvSpPr>
          <p:cNvPr id="3" name="">
            <a:extLst xmlns:a="http://schemas.openxmlformats.org/drawingml/2006/main">
              <a:ext uri="{FF2B5EF4-FFF2-40B4-BE49-F238E27FC236}">
                <a16:creationId xmlns:a16="http://schemas.microsoft.com/office/drawing/2014/main" id="{7458EFA2-2F74-4CEA-B574-1BFE59B6BAA0}"/>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12 из 17   /   Разбор кода</a:t>
            </a:r>
          </a:p>
        </p:txBody>
      </p:sp>
    </p:spTree>
    <p:extLst>
      <p:ext uri="{BB962C8B-B14F-4D97-AF65-F5344CB8AC3E}">
        <p14:creationId xmlns:p14="http://schemas.microsoft.com/office/powerpoint/2010/main" val="75444346"/>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515052-D309-489F-8D07-F8A732BF371F}"/>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Сборка результата из функций</a:t>
            </a:r>
          </a:p>
        </p:txBody>
      </p:sp>
      <p:sp>
        <p:nvSpPr>
          <p:cNvPr id="2" name="">
            <a:extLst xmlns:a="http://schemas.openxmlformats.org/drawingml/2006/main">
              <a:ext uri="{FF2B5EF4-FFF2-40B4-BE49-F238E27FC236}">
                <a16:creationId xmlns:a16="http://schemas.microsoft.com/office/drawing/2014/main" id="{FC319106-544F-4576-9A0C-BE7B794F253F}"/>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Небольшие функции можно соединять</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Именованные поля поясняют результат</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Каждый этап учитывает контракт предыдущего</a:t>
            </a:r>
          </a:p>
        </p:txBody>
      </p:sp>
      <p:sp>
        <p:nvSpPr>
          <p:cNvPr id="3" name="">
            <a:extLst xmlns:a="http://schemas.openxmlformats.org/drawingml/2006/main">
              <a:ext uri="{FF2B5EF4-FFF2-40B4-BE49-F238E27FC236}">
                <a16:creationId xmlns:a16="http://schemas.microsoft.com/office/drawing/2014/main" id="{475DA543-6059-4EC5-97AA-C5601495F69B}"/>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13 из 17</a:t>
            </a:r>
          </a:p>
        </p:txBody>
      </p:sp>
    </p:spTree>
    <p:extLst>
      <p:ext uri="{BB962C8B-B14F-4D97-AF65-F5344CB8AC3E}">
        <p14:creationId xmlns:p14="http://schemas.microsoft.com/office/powerpoint/2010/main" val="360587725"/>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2481D6-8FAC-4072-BC31-F13FAD17D93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Сборка результата из функций</a:t>
            </a:r>
          </a:p>
        </p:txBody>
      </p:sp>
      <p:sp>
        <p:nvSpPr>
          <p:cNvPr id="2" name="">
            <a:extLst xmlns:a="http://schemas.openxmlformats.org/drawingml/2006/main">
              <a:ext uri="{FF2B5EF4-FFF2-40B4-BE49-F238E27FC236}">
                <a16:creationId xmlns:a16="http://schemas.microsoft.com/office/drawing/2014/main" id="{017D35EA-C605-4B8F-AA0F-0A61BF11BBAE}"/>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average(grades):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sum(grades) / len(grades) if grades else None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summary(grades):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{"count": len(grades),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"average": average(grades),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"debt": 2 in grades}</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print(summary([2, 4, 5]))</a:t>
            </a:r>
          </a:p>
        </p:txBody>
      </p:sp>
      <p:sp>
        <p:nvSpPr>
          <p:cNvPr id="3" name="">
            <a:extLst xmlns:a="http://schemas.openxmlformats.org/drawingml/2006/main">
              <a:ext uri="{FF2B5EF4-FFF2-40B4-BE49-F238E27FC236}">
                <a16:creationId xmlns:a16="http://schemas.microsoft.com/office/drawing/2014/main" id="{79D02A87-CC4E-4B9C-8231-9588C2FAFDC6}"/>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14 из 17   /   Разбор кода</a:t>
            </a:r>
          </a:p>
        </p:txBody>
      </p:sp>
    </p:spTree>
    <p:extLst>
      <p:ext uri="{BB962C8B-B14F-4D97-AF65-F5344CB8AC3E}">
        <p14:creationId xmlns:p14="http://schemas.microsoft.com/office/powerpoint/2010/main" val="396248333"/>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96C78E8-34CD-41F0-874E-339C3C499EA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Самопроверка и читаемость</a:t>
            </a:r>
          </a:p>
        </p:txBody>
      </p:sp>
      <p:sp>
        <p:nvSpPr>
          <p:cNvPr id="2" name="">
            <a:extLst xmlns:a="http://schemas.openxmlformats.org/drawingml/2006/main">
              <a:ext uri="{FF2B5EF4-FFF2-40B4-BE49-F238E27FC236}">
                <a16:creationId xmlns:a16="http://schemas.microsoft.com/office/drawing/2014/main" id="{CA478F28-AAE8-4019-A4A3-15970C4D805D}"/>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Ожидаемый результат рассчитывается заранее</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assert подходит для учебной самопроверки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Валидация пользователя требует обычного кода</a:t>
            </a:r>
          </a:p>
        </p:txBody>
      </p:sp>
      <p:sp>
        <p:nvSpPr>
          <p:cNvPr id="3" name="">
            <a:extLst xmlns:a="http://schemas.openxmlformats.org/drawingml/2006/main">
              <a:ext uri="{FF2B5EF4-FFF2-40B4-BE49-F238E27FC236}">
                <a16:creationId xmlns:a16="http://schemas.microsoft.com/office/drawing/2014/main" id="{7EE2D86A-5FF8-48F1-900C-A94D795FD850}"/>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15 из 17</a:t>
            </a:r>
          </a:p>
        </p:txBody>
      </p:sp>
    </p:spTree>
    <p:extLst>
      <p:ext uri="{BB962C8B-B14F-4D97-AF65-F5344CB8AC3E}">
        <p14:creationId xmlns:p14="http://schemas.microsoft.com/office/powerpoint/2010/main" val="821574755"/>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D0FF96-7FB8-472A-9CEB-C18594E8BC16}"/>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Самопроверка и читаемость</a:t>
            </a:r>
          </a:p>
        </p:txBody>
      </p:sp>
      <p:sp>
        <p:nvSpPr>
          <p:cNvPr id="2" name="">
            <a:extLst xmlns:a="http://schemas.openxmlformats.org/drawingml/2006/main">
              <a:ext uri="{FF2B5EF4-FFF2-40B4-BE49-F238E27FC236}">
                <a16:creationId xmlns:a16="http://schemas.microsoft.com/office/drawing/2014/main" id="{43015306-1040-471E-AFD3-A9013D91B9FC}"/>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count_debts(grades):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grades.count(2)</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count_debts([]) == 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count_debts([3, 4, 5]) == 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count_debts([2, 5, 2]) == 2</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print("3 проверки выполнены")</a:t>
            </a:r>
          </a:p>
        </p:txBody>
      </p:sp>
      <p:sp>
        <p:nvSpPr>
          <p:cNvPr id="3" name="">
            <a:extLst xmlns:a="http://schemas.openxmlformats.org/drawingml/2006/main">
              <a:ext uri="{FF2B5EF4-FFF2-40B4-BE49-F238E27FC236}">
                <a16:creationId xmlns:a16="http://schemas.microsoft.com/office/drawing/2014/main" id="{949AC63D-8FA6-4A7C-AD48-41A98BED0D25}"/>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16 из 17   /   Разбор кода</a:t>
            </a:r>
          </a:p>
        </p:txBody>
      </p:sp>
    </p:spTree>
    <p:extLst>
      <p:ext uri="{BB962C8B-B14F-4D97-AF65-F5344CB8AC3E}">
        <p14:creationId xmlns:p14="http://schemas.microsoft.com/office/powerpoint/2010/main" val="603852943"/>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8243B0D-B250-4F48-8370-184448F57E1A}"/>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Самопроверка и практика</a:t>
            </a:r>
          </a:p>
        </p:txBody>
      </p:sp>
      <p:sp>
        <p:nvSpPr>
          <p:cNvPr id="2" name="">
            <a:extLst xmlns:a="http://schemas.openxmlformats.org/drawingml/2006/main">
              <a:ext uri="{FF2B5EF4-FFF2-40B4-BE49-F238E27FC236}">
                <a16:creationId xmlns:a16="http://schemas.microsoft.com/office/drawing/2014/main" id="{D1904FD0-BC2B-46EF-ABF9-B4A9F9E6751E}"/>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Чем отсутствие оценок отличается от среднего балла 2?</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Почему нельзя заменить grades.copy() на grades?</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Практики 1 и 2: применение материала</a:t>
            </a:r>
          </a:p>
        </p:txBody>
      </p:sp>
      <p:sp>
        <p:nvSpPr>
          <p:cNvPr id="3" name="">
            <a:extLst xmlns:a="http://schemas.openxmlformats.org/drawingml/2006/main">
              <a:ext uri="{FF2B5EF4-FFF2-40B4-BE49-F238E27FC236}">
                <a16:creationId xmlns:a16="http://schemas.microsoft.com/office/drawing/2014/main" id="{E99013F5-41BA-4EEC-AE93-D8247351918F}"/>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1   /   17 из 17</a:t>
            </a:r>
          </a:p>
        </p:txBody>
      </p:sp>
    </p:spTree>
    <p:extLst>
      <p:ext uri="{BB962C8B-B14F-4D97-AF65-F5344CB8AC3E}">
        <p14:creationId xmlns:p14="http://schemas.microsoft.com/office/powerpoint/2010/main" val="12378616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2026-09-09T09:52:01.8450000Z</dcterms:created>
  <dcterms:modified xsi:type="dcterms:W3CDTF">2026-09-09T09:52:01.8450000Z</dcterms:modified>
</coreProperties>
</file>