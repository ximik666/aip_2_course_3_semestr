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c6af3deedb41e7" /><Relationship Type="http://schemas.openxmlformats.org/officeDocument/2006/relationships/extended-properties" Target="/docProps/app.xml" Id="R36a525adb7c3487b" /><Relationship Type="http://schemas.openxmlformats.org/officeDocument/2006/relationships/officeDocument" Target="/ppt/presentation.xml" Id="Refb881925002401d" /></Relationships>
</file>

<file path=ppt/presentation.xml><?xml version="1.0" encoding="utf-8"?>
<p:presentation xmlns:p="http://schemas.openxmlformats.org/presentationml/2006/main">
  <p:sldMasterIdLst>
    <p:sldMasterId xmlns:r="http://schemas.openxmlformats.org/officeDocument/2006/relationships" id="2147483648" r:id="Rf36632d8d2be4860"/>
  </p:sldMasterIdLst>
  <p:notesMasterIdLst>
    <p:notesMasterId xmlns:r="http://schemas.openxmlformats.org/officeDocument/2006/relationships" r:id="R14645a3d08e54fdf"/>
  </p:notesMasterIdLst>
  <p:sldIdLst>
    <p:sldId xmlns:r="http://schemas.openxmlformats.org/officeDocument/2006/relationships" id="256" r:id="R71a52be9af0d44d3"/>
    <p:sldId xmlns:r="http://schemas.openxmlformats.org/officeDocument/2006/relationships" id="257" r:id="R6fb1e732ccd44249"/>
    <p:sldId xmlns:r="http://schemas.openxmlformats.org/officeDocument/2006/relationships" id="258" r:id="R31412e499e8841a8"/>
    <p:sldId xmlns:r="http://schemas.openxmlformats.org/officeDocument/2006/relationships" id="259" r:id="R3acb7c70afbb44ae"/>
    <p:sldId xmlns:r="http://schemas.openxmlformats.org/officeDocument/2006/relationships" id="260" r:id="Rcf71f92146ed436a"/>
    <p:sldId xmlns:r="http://schemas.openxmlformats.org/officeDocument/2006/relationships" id="261" r:id="Rb48aafe2aaf0464b"/>
    <p:sldId xmlns:r="http://schemas.openxmlformats.org/officeDocument/2006/relationships" id="262" r:id="Rbfc3e06abc1d4a79"/>
    <p:sldId xmlns:r="http://schemas.openxmlformats.org/officeDocument/2006/relationships" id="263" r:id="R5cdee7990340462f"/>
    <p:sldId xmlns:r="http://schemas.openxmlformats.org/officeDocument/2006/relationships" id="264" r:id="R44db11c95e6643e2"/>
    <p:sldId xmlns:r="http://schemas.openxmlformats.org/officeDocument/2006/relationships" id="265" r:id="Rccadb5a7731f4022"/>
    <p:sldId xmlns:r="http://schemas.openxmlformats.org/officeDocument/2006/relationships" id="266" r:id="R654658694c514de7"/>
    <p:sldId xmlns:r="http://schemas.openxmlformats.org/officeDocument/2006/relationships" id="267" r:id="R83035940fc3e4919"/>
    <p:sldId xmlns:r="http://schemas.openxmlformats.org/officeDocument/2006/relationships" id="268" r:id="R77293ba7c8f346a3"/>
    <p:sldId xmlns:r="http://schemas.openxmlformats.org/officeDocument/2006/relationships" id="269" r:id="R37ba193b6c7c4d2e"/>
    <p:sldId xmlns:r="http://schemas.openxmlformats.org/officeDocument/2006/relationships" id="270" r:id="Ra56a3b6c519d450d"/>
    <p:sldId xmlns:r="http://schemas.openxmlformats.org/officeDocument/2006/relationships" id="271" r:id="R72979a82ea6b431f"/>
    <p:sldId xmlns:r="http://schemas.openxmlformats.org/officeDocument/2006/relationships" id="272" r:id="Rfd9fa68bfd3841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31eabf81774946" /><Relationship Type="http://schemas.openxmlformats.org/officeDocument/2006/relationships/slideMaster" Target="/ppt/slideMasters/slideMaster1.xml" Id="Rf36632d8d2be4860" /><Relationship Type="http://schemas.openxmlformats.org/officeDocument/2006/relationships/notesMaster" Target="/ppt/notesMasters/notesMaster1.xml" Id="R14645a3d08e54fdf" /><Relationship Type="http://schemas.openxmlformats.org/officeDocument/2006/relationships/presProps" Target="/ppt/presProps.xml" Id="R4e6d1f29f77c4f24" /><Relationship Type="http://schemas.openxmlformats.org/officeDocument/2006/relationships/tableStyles" Target="/ppt/tableStyles.xml" Id="R7c150047ec094668" /><Relationship Type="http://schemas.openxmlformats.org/officeDocument/2006/relationships/slide" Target="/ppt/slides/slide1.xml" Id="R71a52be9af0d44d3" /><Relationship Type="http://schemas.openxmlformats.org/officeDocument/2006/relationships/slide" Target="/ppt/slides/slide2.xml" Id="R6fb1e732ccd44249" /><Relationship Type="http://schemas.openxmlformats.org/officeDocument/2006/relationships/slide" Target="/ppt/slides/slide3.xml" Id="R31412e499e8841a8" /><Relationship Type="http://schemas.openxmlformats.org/officeDocument/2006/relationships/slide" Target="/ppt/slides/slide4.xml" Id="R3acb7c70afbb44ae" /><Relationship Type="http://schemas.openxmlformats.org/officeDocument/2006/relationships/slide" Target="/ppt/slides/slide5.xml" Id="Rcf71f92146ed436a" /><Relationship Type="http://schemas.openxmlformats.org/officeDocument/2006/relationships/slide" Target="/ppt/slides/slide6.xml" Id="Rb48aafe2aaf0464b" /><Relationship Type="http://schemas.openxmlformats.org/officeDocument/2006/relationships/slide" Target="/ppt/slides/slide7.xml" Id="Rbfc3e06abc1d4a79" /><Relationship Type="http://schemas.openxmlformats.org/officeDocument/2006/relationships/slide" Target="/ppt/slides/slide8.xml" Id="R5cdee7990340462f" /><Relationship Type="http://schemas.openxmlformats.org/officeDocument/2006/relationships/slide" Target="/ppt/slides/slide9.xml" Id="R44db11c95e6643e2" /><Relationship Type="http://schemas.openxmlformats.org/officeDocument/2006/relationships/slide" Target="/ppt/slides/slide10.xml" Id="Rccadb5a7731f4022" /><Relationship Type="http://schemas.openxmlformats.org/officeDocument/2006/relationships/slide" Target="/ppt/slides/slide11.xml" Id="R654658694c514de7" /><Relationship Type="http://schemas.openxmlformats.org/officeDocument/2006/relationships/slide" Target="/ppt/slides/slide12.xml" Id="R83035940fc3e4919" /><Relationship Type="http://schemas.openxmlformats.org/officeDocument/2006/relationships/slide" Target="/ppt/slides/slide13.xml" Id="R77293ba7c8f346a3" /><Relationship Type="http://schemas.openxmlformats.org/officeDocument/2006/relationships/slide" Target="/ppt/slides/slide14.xml" Id="R37ba193b6c7c4d2e" /><Relationship Type="http://schemas.openxmlformats.org/officeDocument/2006/relationships/slide" Target="/ppt/slides/slide15.xml" Id="Ra56a3b6c519d450d" /><Relationship Type="http://schemas.openxmlformats.org/officeDocument/2006/relationships/slide" Target="/ppt/slides/slide16.xml" Id="R72979a82ea6b431f" /><Relationship Type="http://schemas.openxmlformats.org/officeDocument/2006/relationships/slide" Target="/ppt/slides/slide17.xml" Id="Rfd9fa68bfd3841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5ccef4271a49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a2eeb494be4f64" /><Relationship Type="http://schemas.openxmlformats.org/officeDocument/2006/relationships/notesMaster" Target="/ppt/notesMasters/notesMaster1.xml" Id="R243a6ca4b57b46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a6117d31b74f3e" /><Relationship Type="http://schemas.openxmlformats.org/officeDocument/2006/relationships/notesMaster" Target="/ppt/notesMasters/notesMaster1.xml" Id="R18ca3612ca5140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7bb734c60244e3" /><Relationship Type="http://schemas.openxmlformats.org/officeDocument/2006/relationships/notesMaster" Target="/ppt/notesMasters/notesMaster1.xml" Id="R2b428165fd3b43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41989a6e284600" /><Relationship Type="http://schemas.openxmlformats.org/officeDocument/2006/relationships/notesMaster" Target="/ppt/notesMasters/notesMaster1.xml" Id="Re823ba0533664d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bc1be30f654a65" /><Relationship Type="http://schemas.openxmlformats.org/officeDocument/2006/relationships/notesMaster" Target="/ppt/notesMasters/notesMaster1.xml" Id="R9468f0ca3c424b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1f79bd81cf45fe" /><Relationship Type="http://schemas.openxmlformats.org/officeDocument/2006/relationships/notesMaster" Target="/ppt/notesMasters/notesMaster1.xml" Id="Rb31e02352d3649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b082d11584477d" /><Relationship Type="http://schemas.openxmlformats.org/officeDocument/2006/relationships/notesMaster" Target="/ppt/notesMasters/notesMaster1.xml" Id="R42406def7d744b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c7345cb0e242b4" /><Relationship Type="http://schemas.openxmlformats.org/officeDocument/2006/relationships/notesMaster" Target="/ppt/notesMasters/notesMaster1.xml" Id="R7ec62f9bd4944c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676eacd9e949b3" /><Relationship Type="http://schemas.openxmlformats.org/officeDocument/2006/relationships/notesMaster" Target="/ppt/notesMasters/notesMaster1.xml" Id="Rd9734e7aab9041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c39d9a17844ae4" /><Relationship Type="http://schemas.openxmlformats.org/officeDocument/2006/relationships/notesMaster" Target="/ppt/notesMasters/notesMaster1.xml" Id="Rce237a46e0494c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64ad678dd3430c" /><Relationship Type="http://schemas.openxmlformats.org/officeDocument/2006/relationships/notesMaster" Target="/ppt/notesMasters/notesMaster1.xml" Id="R3e1d8320a3414b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20b69534984aa8" /><Relationship Type="http://schemas.openxmlformats.org/officeDocument/2006/relationships/notesMaster" Target="/ppt/notesMasters/notesMaster1.xml" Id="R382a16322fc645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8fa2ea136e44f6" /><Relationship Type="http://schemas.openxmlformats.org/officeDocument/2006/relationships/notesMaster" Target="/ppt/notesMasters/notesMaster1.xml" Id="R9a7e0679742a41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4122b2abff4f06" /><Relationship Type="http://schemas.openxmlformats.org/officeDocument/2006/relationships/notesMaster" Target="/ppt/notesMasters/notesMaster1.xml" Id="Rfa4dd90fc3f34e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a60eb4bd0e4419b" /><Relationship Type="http://schemas.openxmlformats.org/officeDocument/2006/relationships/notesMaster" Target="/ppt/notesMasters/notesMaster1.xml" Id="R2fa6d7d901eb4b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16dbac41bca4860" /><Relationship Type="http://schemas.openxmlformats.org/officeDocument/2006/relationships/notesMaster" Target="/ppt/notesMasters/notesMaster1.xml" Id="R73f751edc9374a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bcfd2c58784a31" /><Relationship Type="http://schemas.openxmlformats.org/officeDocument/2006/relationships/notesMaster" Target="/ppt/notesMasters/notesMaster1.xml" Id="Rb2d610abde9640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Все основные компоненты уже знакомы. Последняя лекция посвящена их соединению и проверке: вычисления, коллекции, текст, хранение, исключения и классы образуют один проект.</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Соединить модель, файлы и меню в переносимый проект с понятным запуском и воспроизводимой проверкой.</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Модуль — отдельный Python-файл. Пакет объединяет связанные модули; в нашем проекте это каталог journal с __init__.py. models.py хранит Student и GradeBook, storage.py работает с JSON и CSV, __main__.py содержит консольный интерфейс. Такое разделение позволяет отдельно тестировать модель без запуска меню.</a:t>
            </a:r>
          </a:p>
          <a:p xmlns:a="http://schemas.openxmlformats.org/drawingml/2006/main">
            <a:r>
              <a:t/>
            </a:r>
          </a:p>
          <a:p xmlns:a="http://schemas.openxmlformats.org/drawingml/2006/main">
            <a:r>
              <a:t>Не следует создавать сложную иерархию каталогов ради самой структуры. Для семестровой работы достаточно нескольких файлов с ясной ответственностью. Главное правило зависимости: storage использует models, а интерфейс использует оба модуля. Модель не импортирует меню и не читает файлы.</a:t>
            </a:r>
          </a:p>
          <a:p xmlns:a="http://schemas.openxmlformats.org/drawingml/2006/main">
            <a:r>
              <a:t/>
            </a:r>
          </a:p>
          <a:p xmlns:a="http://schemas.openxmlformats.org/drawingml/2006/main">
            <a:r>
              <a:t>Файлы данных и тесты располагаются отдельно от кода пакета. Это помогает увидеть, что является реализацией, что примером входа, а что проверкой. При сдаче включайте исходники и необходимые примеры, но не виртуальное окружение, кэш Python и случайные пользовательские файлы.</a:t>
            </a:r>
          </a:p>
          <a:p xmlns:a="http://schemas.openxmlformats.org/drawingml/2006/main">
            <a:r>
              <a:t/>
            </a:r>
          </a:p>
          <a:p xmlns:a="http://schemas.openxmlformats.org/drawingml/2006/main">
            <a:r>
              <a:t>Вопрос: Почему models.py не должен импортировать __main__.py?</a:t>
            </a:r>
          </a:p>
          <a:p xmlns:a="http://schemas.openxmlformats.org/drawingml/2006/main">
            <a:r>
              <a:t>Ответ: Модель тогда зависела бы от интерфейса, могла бы запускать меню при импорте и образовать циклические зависимости.</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journal/models.py : Student и GradeBook</a:t>
            </a:r>
          </a:p>
          <a:p xmlns:a="http://schemas.openxmlformats.org/drawingml/2006/main">
            <a:r>
              <a:t>journal/storage.py : JSON и CSV</a:t>
            </a:r>
          </a:p>
          <a:p xmlns:a="http://schemas.openxmlformats.org/drawingml/2006/main">
            <a:r>
              <a:t>journal/__main__.py : консольное меню</a:t>
            </a:r>
          </a:p>
          <a:p xmlns:a="http://schemas.openxmlformats.org/drawingml/2006/main">
            <a:r>
              <a:t>tests/test_own.py : собственные тесты</a:t>
            </a:r>
          </a:p>
          <a:p xmlns:a="http://schemas.openxmlformats.org/drawingml/2006/main">
            <a:r>
              <a:t/>
            </a:r>
          </a:p>
          <a:p xmlns:a="http://schemas.openxmlformats.org/drawingml/2006/main">
            <a:r>
              <a:t>Почему models.py не должен импортировать __main__.py?</a:t>
            </a:r>
          </a:p>
          <a:p xmlns:a="http://schemas.openxmlformats.org/drawingml/2006/main">
            <a:r>
              <a:t>Модель тогда зависела бы от интерфейса, могла бы запускать меню при импорте и образовать циклические зависимости.</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Импорт выполняет код верхнего уровня модуля. Поэтому бесконечный цикл меню нельзя размещать так, чтобы он запускался при любом импорте. Помещаем работу интерфейса в main, а вызов защищаем условием if __name__ == "__main__". В пакете специальный файл __main__.py выполняется при python -m journal.</a:t>
            </a:r>
          </a:p>
          <a:p xmlns:a="http://schemas.openxmlformats.org/drawingml/2006/main">
            <a:r>
              <a:t/>
            </a:r>
          </a:p>
          <a:p xmlns:a="http://schemas.openxmlformats.org/drawingml/2006/main">
            <a:r>
              <a:t>Команда должна выполняться из каталога, содержащего папку journal. Если запустить файл journal/storage.py напрямую, относительный импорт from .models может не сработать, потому что модуль потеряет контекст пакета. В README необходимо приводить точную команду запуска, а не только имя файла.</a:t>
            </a:r>
          </a:p>
          <a:p xmlns:a="http://schemas.openxmlformats.org/drawingml/2006/main">
            <a:r>
              <a:t/>
            </a:r>
          </a:p>
          <a:p xmlns:a="http://schemas.openxmlformats.org/drawingml/2006/main">
            <a:r>
              <a:t>Проверка импортируемости проста: импорт модели не должен ждать ввода и создавать рабочие файлы. Это позволяет использовать публичные тесты, которые импортируют классы и вызывают их непосредственно. Отделение точки входа — практическое условие повторного использования кода.</a:t>
            </a:r>
          </a:p>
          <a:p xmlns:a="http://schemas.openxmlformats.org/drawingml/2006/main">
            <a:r>
              <a:t/>
            </a:r>
          </a:p>
          <a:p xmlns:a="http://schemas.openxmlformats.org/drawingml/2006/main">
            <a:r>
              <a:t>Вопрос: Почему тесты могут зависнуть при импорте модуля?</a:t>
            </a:r>
          </a:p>
          <a:p xmlns:a="http://schemas.openxmlformats.org/drawingml/2006/main">
            <a:r>
              <a:t>Ответ: Если на верхнем уровне модуля расположен input или цикл меню, он выполнится во время импорта.</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Здесь запускается интерфейс</a:t>
            </a:r>
          </a:p>
          <a:p xmlns:a="http://schemas.openxmlformats.org/drawingml/2006/main">
            <a:r>
              <a:t/>
            </a:r>
          </a:p>
          <a:p xmlns:a="http://schemas.openxmlformats.org/drawingml/2006/main">
            <a:r>
              <a:t>Почему тесты могут зависнуть при импорте модуля?</a:t>
            </a:r>
          </a:p>
          <a:p xmlns:a="http://schemas.openxmlformats.org/drawingml/2006/main">
            <a:r>
              <a:t>Если на верхнем уровне модуля расположен input или цикл меню, он выполнится во время импорта.</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Меню является циклом: показать варианты, прочитать команду, выполнить действие, вернуться к выбору. Для небольшого проекта достаточно if и elif. Номер команды лучше оставить строкой: input уже возвращает строку, а преобразование каждой команды в число создаёт лишнюю возможную ошибку.</a:t>
            </a:r>
          </a:p>
          <a:p xmlns:a="http://schemas.openxmlformats.org/drawingml/2006/main">
            <a:r>
              <a:t/>
            </a:r>
          </a:p>
          <a:p xmlns:a="http://schemas.openxmlformats.org/drawingml/2006/main">
            <a:r>
              <a:t>Неизвестная команда не должна завершать приложение. Покажите сообщение и повторите меню. Команда выхода должна иметь отдельную ветку. Обработка каждой операции остаётся короткой: получить нужные аргументы, вызвать модель, показать результат. Если внутри ветки появляется сложное вычисление, его стоит перенести в отдельную функцию или модель.</a:t>
            </a:r>
          </a:p>
          <a:p xmlns:a="http://schemas.openxmlformats.org/drawingml/2006/main">
            <a:r>
              <a:t/>
            </a:r>
          </a:p>
          <a:p xmlns:a="http://schemas.openxmlformats.org/drawingml/2006/main">
            <a:r>
              <a:t>Ниже цикл работает по заранее заданному списку вместо клавиатуры, чтобы пример запускался автоматически. В приложении источник команд заменяется на input, но логика выбора сохраняется. Такой приём помогает сначала проверить последовательность действий без интерактивного ввода.</a:t>
            </a:r>
          </a:p>
          <a:p xmlns:a="http://schemas.openxmlformats.org/drawingml/2006/main">
            <a:r>
              <a:t/>
            </a:r>
          </a:p>
          <a:p xmlns:a="http://schemas.openxmlformats.org/drawingml/2006/main">
            <a:r>
              <a:t>Вопрос: Нужно ли преобразовывать команду «0» в int?</a:t>
            </a:r>
          </a:p>
          <a:p xmlns:a="http://schemas.openxmlformats.org/drawingml/2006/main">
            <a:r>
              <a:t>Ответ: Нет, её можно сравнить со строкой "0", избегая ненужного преобразования.</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Отчёт пока пуст</a:t>
            </a:r>
          </a:p>
          <a:p xmlns:a="http://schemas.openxmlformats.org/drawingml/2006/main">
            <a:r>
              <a:t>Неизвестная команда</a:t>
            </a:r>
          </a:p>
          <a:p xmlns:a="http://schemas.openxmlformats.org/drawingml/2006/main">
            <a:r>
              <a:t>Выход</a:t>
            </a:r>
          </a:p>
          <a:p xmlns:a="http://schemas.openxmlformats.org/drawingml/2006/main">
            <a:r>
              <a:t/>
            </a:r>
          </a:p>
          <a:p xmlns:a="http://schemas.openxmlformats.org/drawingml/2006/main">
            <a:r>
              <a:t>Нужно ли преобразовывать команду «0» в int?</a:t>
            </a:r>
          </a:p>
          <a:p xmlns:a="http://schemas.openxmlformats.org/drawingml/2006/main">
            <a:r>
              <a:t>Нет, её можно сравнить со строкой "0", избегая ненужного преобразования.</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Программа должна различать состояние в памяти и последнюю сохранённую версию. Для небольшого журнала достаточно флага changed. Успешное добавление студента, оценки или удаление устанавливает True. Успешное сохранение или полная загрузка нового журнала устанавливает False. Неудачная операция не должна произвольно сбрасывать флаг.</a:t>
            </a:r>
          </a:p>
          <a:p xmlns:a="http://schemas.openxmlformats.org/drawingml/2006/main">
            <a:r>
              <a:t/>
            </a:r>
          </a:p>
          <a:p xmlns:a="http://schemas.openxmlformats.org/drawingml/2006/main">
            <a:r>
              <a:t>При обычном выходе с changed=True интерфейс спрашивает, действительно ли пользователь хочет выйти без сохранения. При загрузке другого файла также требуется подтверждение замены несохранённого состояния. Это конкретные требования итоговой работы, связанные с сохранностью введённых данных.</a:t>
            </a:r>
          </a:p>
          <a:p xmlns:a="http://schemas.openxmlformats.org/drawingml/2006/main">
            <a:r>
              <a:t/>
            </a:r>
          </a:p>
          <a:p xmlns:a="http://schemas.openxmlformats.org/drawingml/2006/main">
            <a:r>
              <a:t>Флаг не заменяет сохранение и не гарантирует восстановление после аварийного завершения процесса. Автосохранение и резервные копии можно добавить как расширение. Для обязательного уровня важно честно показывать, сохранены ли изменения, и не сообщать об успехе до завершения записи файла.</a:t>
            </a:r>
          </a:p>
          <a:p xmlns:a="http://schemas.openxmlformats.org/drawingml/2006/main">
            <a:r>
              <a:t/>
            </a:r>
          </a:p>
          <a:p xmlns:a="http://schemas.openxmlformats.org/drawingml/2006/main">
            <a:r>
              <a:t>Вопрос: Когда сбрасывать changed при сохранении: до или после save_book?</a:t>
            </a:r>
          </a:p>
          <a:p xmlns:a="http://schemas.openxmlformats.org/drawingml/2006/main">
            <a:r>
              <a:t>Ответ: Только после успешного возврата save_book. При исключении данные ещё не сохранены.</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Есть изменения: True</a:t>
            </a:r>
          </a:p>
          <a:p xmlns:a="http://schemas.openxmlformats.org/drawingml/2006/main">
            <a:r>
              <a:t>После сохранения: False</a:t>
            </a:r>
          </a:p>
          <a:p xmlns:a="http://schemas.openxmlformats.org/drawingml/2006/main">
            <a:r>
              <a:t/>
            </a:r>
          </a:p>
          <a:p xmlns:a="http://schemas.openxmlformats.org/drawingml/2006/main">
            <a:r>
              <a:t>Когда сбрасывать changed при сохранении: до или после save_book?</a:t>
            </a:r>
          </a:p>
          <a:p xmlns:a="http://schemas.openxmlformats.org/drawingml/2006/main">
            <a:r>
              <a:t>Только после успешного возврата save_book. При исключении данные ещё не сохранены.</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Если присвоить book пустой журнал перед чтением файла, ошибка чтения уничтожит прежнее состояние в памяти. Вместо этого load_book создаёт и проверяет новый объект локально. Меню получает готовый loaded и только затем выполняет book = loaded. При исключении присваивание не происходит.</a:t>
            </a:r>
          </a:p>
          <a:p xmlns:a="http://schemas.openxmlformats.org/drawingml/2006/main">
            <a:r>
              <a:t/>
            </a:r>
          </a:p>
          <a:p xmlns:a="http://schemas.openxmlformats.org/drawingml/2006/main">
            <a:r>
              <a:t>Это простая последовательность «подготовить, проверить, применить». Она полезна и для других операций: импорт таблицы, изменение нескольких полей, массовое добавление записей. Для учебного курса не требуются транзакции базы данных, но сам принцип уже можно использовать.</a:t>
            </a:r>
          </a:p>
          <a:p xmlns:a="http://schemas.openxmlformats.org/drawingml/2006/main">
            <a:r>
              <a:t/>
            </a:r>
          </a:p>
          <a:p xmlns:a="http://schemas.openxmlformats.org/drawingml/2006/main">
            <a:r>
              <a:t>Проверьте сценарий вручную: ввести студента, попытаться загрузить повреждённый JSON, открыть отчёт. Студент должен оставаться в памяти. Автоматические тесты load_book проверяют отказ на неверном файле, а сохранность текущего журнала в меню требует отдельной проверки интерфейса.</a:t>
            </a:r>
          </a:p>
          <a:p xmlns:a="http://schemas.openxmlformats.org/drawingml/2006/main">
            <a:r>
              <a:t/>
            </a:r>
          </a:p>
          <a:p xmlns:a="http://schemas.openxmlformats.org/drawingml/2006/main">
            <a:r>
              <a:t>Вопрос: Почему book = [] перед load_book опасно?</a:t>
            </a:r>
          </a:p>
          <a:p xmlns:a="http://schemas.openxmlformats.org/drawingml/2006/main">
            <a:r>
              <a:t>Ответ: При ошибке загрузки прежние данные уже потеряны из переменной book.</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Загрузка отменена</a:t>
            </a:r>
          </a:p>
          <a:p xmlns:a="http://schemas.openxmlformats.org/drawingml/2006/main">
            <a:r>
              <a:t>['Анна']</a:t>
            </a:r>
          </a:p>
          <a:p xmlns:a="http://schemas.openxmlformats.org/drawingml/2006/main">
            <a:r>
              <a:t/>
            </a:r>
          </a:p>
          <a:p xmlns:a="http://schemas.openxmlformats.org/drawingml/2006/main">
            <a:r>
              <a:t>Почему book = [] перед load_book опасно?</a:t>
            </a:r>
          </a:p>
          <a:p xmlns:a="http://schemas.openxmlformats.org/drawingml/2006/main">
            <a:r>
              <a:t>При ошибке загрузки прежние данные уже потеряны из переменной book.</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 должен позволить другому человеку запустить проект без устных подсказок. Укажите назначение, версию Python, структуру, команды запуска и тестирования, формат файлов и ограничения. Приведите короткий сценарий с ожидаемым результатом. Формулировка «запустите программу» недостаточна, если есть несколько файлов.</a:t>
            </a:r>
          </a:p>
          <a:p xmlns:a="http://schemas.openxmlformats.org/drawingml/2006/main">
            <a:r>
              <a:t/>
            </a:r>
          </a:p>
          <a:p xmlns:a="http://schemas.openxmlformats.org/drawingml/2006/main">
            <a:r>
              <a:t>Перед сдачей скопируйте решение в новый каталог и выполните собственную инструкцию. Это выявляет забытые файлы, зависимости от абсолютных путей и случайное использование данных из старого рабочего каталога. Все необходимые демонстрационные данные должны входить в сдаваемый комплект.</a:t>
            </a:r>
          </a:p>
          <a:p xmlns:a="http://schemas.openxmlformats.org/drawingml/2006/main">
            <a:r>
              <a:t/>
            </a:r>
          </a:p>
          <a:p xmlns:a="http://schemas.openxmlformats.org/drawingml/2006/main">
            <a:r>
              <a:t>Git сохраняет историю исходников. Делайте осмысленные коммиты после работающих этапов: модель, хранение, меню, тесты. Не включайте __pycache__ и .venv. Для этого есть .gitignore. Большие презентации входят в учебный репозиторий курса, но студенту не нужно копировать их в репозиторий своего решения.</a:t>
            </a:r>
          </a:p>
          <a:p xmlns:a="http://schemas.openxmlformats.org/drawingml/2006/main">
            <a:r>
              <a:t/>
            </a:r>
          </a:p>
          <a:p xmlns:a="http://schemas.openxmlformats.org/drawingml/2006/main">
            <a:r>
              <a:t>Вопрос: Зачем запускать решение из новой копии каталога?</a:t>
            </a:r>
          </a:p>
          <a:p xmlns:a="http://schemas.openxmlformats.org/drawingml/2006/main">
            <a:r>
              <a:t>Ответ: Чтобы обнаружить зависимости от случайных файлов, текущего каталога и локальных настроек.</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1. Проверить версию Python</a:t>
            </a:r>
          </a:p>
          <a:p xmlns:a="http://schemas.openxmlformats.org/drawingml/2006/main">
            <a:r>
              <a:t>2. Перейти в каталог с папкой journal</a:t>
            </a:r>
          </a:p>
          <a:p xmlns:a="http://schemas.openxmlformats.org/drawingml/2006/main">
            <a:r>
              <a:t>3. Выполнить python -m journal</a:t>
            </a:r>
          </a:p>
          <a:p xmlns:a="http://schemas.openxmlformats.org/drawingml/2006/main">
            <a:r>
              <a:t>4. Выполнить публичные и собственные тесты</a:t>
            </a:r>
          </a:p>
          <a:p xmlns:a="http://schemas.openxmlformats.org/drawingml/2006/main">
            <a:r>
              <a:t/>
            </a:r>
          </a:p>
          <a:p xmlns:a="http://schemas.openxmlformats.org/drawingml/2006/main">
            <a:r>
              <a:t>Зачем запускать решение из новой копии каталога?</a:t>
            </a:r>
          </a:p>
          <a:p xmlns:a="http://schemas.openxmlformats.org/drawingml/2006/main">
            <a:r>
              <a:t>Чтобы обнаружить зависимости от случайных файлов, текущего каталога и локальных настроек.</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Защита проверяет понимание собственного решения. Студент кратко показывает назначение программы, демонстрирует обычный сценарий и обработку ошибки, запускает тесты и объясняет один участок кода. Важно уметь проследить путь команды: ввод оценки, преобразование строки, поиск студента, проверка диапазона, изменение списка, обновление флага.</a:t>
            </a:r>
          </a:p>
          <a:p xmlns:a="http://schemas.openxmlformats.org/drawingml/2006/main">
            <a:r>
              <a:t/>
            </a:r>
          </a:p>
          <a:p xmlns:a="http://schemas.openxmlformats.org/drawingml/2006/main">
            <a:r>
              <a:t>Небольшое изменение на защите должно опираться на изученный материал: добавить фильтр, новое поле отчёта или отдельный тест. Оно не должно требовать неизвестной библиотеки. Преподаватель оценивает не скорость печати, а способность найти нужное место, сохранить контракт и проверить результат.</a:t>
            </a:r>
          </a:p>
          <a:p xmlns:a="http://schemas.openxmlformats.org/drawingml/2006/main">
            <a:r>
              <a:t/>
            </a:r>
          </a:p>
          <a:p xmlns:a="http://schemas.openxmlformats.org/drawingml/2006/main">
            <a:r>
              <a:t>Прохождение публичных тестов подтверждает проверенные требования, но не заменяет ручную приёмку меню и объяснение работы. Дополнительные функции не компенсируют неработающую обязательную часть. Завершение базового сценария и ясный README полезнее незаконченного графического интерфейса.</a:t>
            </a:r>
          </a:p>
          <a:p xmlns:a="http://schemas.openxmlformats.org/drawingml/2006/main">
            <a:r>
              <a:t/>
            </a:r>
          </a:p>
          <a:p xmlns:a="http://schemas.openxmlformats.org/drawingml/2006/main">
            <a:r>
              <a:t>Вопрос: Почему собственный тест полезно показывать вместе с найденной ошибкой?</a:t>
            </a:r>
          </a:p>
          <a:p xmlns:a="http://schemas.openxmlformats.org/drawingml/2006/main">
            <a:r>
              <a:t>Ответ: Это демонстрирует, что тест проверяет реальное требование и предотвращает повторение дефекта.</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Максимум: 100</a:t>
            </a:r>
          </a:p>
          <a:p xmlns:a="http://schemas.openxmlformats.org/drawingml/2006/main">
            <a:r>
              <a:t/>
            </a:r>
          </a:p>
          <a:p xmlns:a="http://schemas.openxmlformats.org/drawingml/2006/main">
            <a:r>
              <a:t>Почему собственный тест полезно показывать вместе с найденной ошибкой?</a:t>
            </a:r>
          </a:p>
          <a:p xmlns:a="http://schemas.openxmlformats.org/drawingml/2006/main">
            <a:r>
              <a:t>Это демонстрирует, что тест проверяет реальное требование и предотвращает повторение дефекта.</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Подготовьте чистую копию проекта, выполните README от начала до конца и запишите результаты. Составьте трёхминутную демонстрацию с сохранением, повторной загрузкой и одной ошибкой ввода.</a:t>
            </a:r>
          </a:p>
          <a:p xmlns:a="http://schemas.openxmlformats.org/drawingml/2006/main">
            <a:r>
              <a:t/>
            </a:r>
          </a:p>
          <a:p xmlns:a="http://schemas.openxmlformats.org/drawingml/2006/main">
            <a:r>
              <a:t>Справочники:</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a:p xmlns:a="http://schemas.openxmlformats.org/drawingml/2006/main">
            <a:r>
              <a:t/>
            </a:r>
          </a:p>
          <a:p xmlns:a="http://schemas.openxmlformats.org/drawingml/2006/main">
            <a:r>
              <a:t>Учебный конспект: lectures/07/README.md</a:t>
            </a:r>
          </a:p>
          <a:p xmlns:a="http://schemas.openxmlformats.org/drawingml/2006/main">
            <a:r>
              <a:t>https://docs.python.org/3/tutorial/modules.html</a:t>
            </a:r>
          </a:p>
          <a:p xmlns:a="http://schemas.openxmlformats.org/drawingml/2006/main">
            <a:r>
              <a:t>https://docs.python.org/3/library/__main__.html</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18474bcfae43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765fbdafa84118" /><Relationship Type="http://schemas.openxmlformats.org/officeDocument/2006/relationships/slideLayout" Target="/ppt/slideLayouts/slideLayout1.xml" Id="R7f566aa661a049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566aa661a049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e4b1f5cfc84141" /><Relationship Type="http://schemas.openxmlformats.org/officeDocument/2006/relationships/notesSlide" Target="/ppt/notesSlides/notesSlide1.xml" Id="R43db71e4d7024c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56b987d00c4501" /><Relationship Type="http://schemas.openxmlformats.org/officeDocument/2006/relationships/notesSlide" Target="/ppt/notesSlides/notesSlide2.xml" Id="Rcfccd0db4a5e4f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003e8cff4f410a" /><Relationship Type="http://schemas.openxmlformats.org/officeDocument/2006/relationships/notesSlide" Target="/ppt/notesSlides/notesSlide3.xml" Id="R304f35e70fad43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076b4e92b44995" /><Relationship Type="http://schemas.openxmlformats.org/officeDocument/2006/relationships/notesSlide" Target="/ppt/notesSlides/notesSlide4.xml" Id="R910dbe693c594b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af5047c6cb4170" /><Relationship Type="http://schemas.openxmlformats.org/officeDocument/2006/relationships/notesSlide" Target="/ppt/notesSlides/notesSlide5.xml" Id="R86fd722e3db640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d0667e87904132" /><Relationship Type="http://schemas.openxmlformats.org/officeDocument/2006/relationships/notesSlide" Target="/ppt/notesSlides/notesSlide6.xml" Id="Rceec3f25aa8249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32829fedfb4622" /><Relationship Type="http://schemas.openxmlformats.org/officeDocument/2006/relationships/notesSlide" Target="/ppt/notesSlides/notesSlide7.xml" Id="R04f8b577d5bb4a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af3aa36359470e" /><Relationship Type="http://schemas.openxmlformats.org/officeDocument/2006/relationships/notesSlide" Target="/ppt/notesSlides/notesSlide8.xml" Id="R88ab3891edc94c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24f68b05214ab2" /><Relationship Type="http://schemas.openxmlformats.org/officeDocument/2006/relationships/notesSlide" Target="/ppt/notesSlides/notesSlide9.xml" Id="Rcd9d50e8687248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67cf825af248eb" /><Relationship Type="http://schemas.openxmlformats.org/officeDocument/2006/relationships/notesSlide" Target="/ppt/notesSlides/notesSlide10.xml" Id="Rb1aca85a562c4e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ada47f6cfe44ed" /><Relationship Type="http://schemas.openxmlformats.org/officeDocument/2006/relationships/notesSlide" Target="/ppt/notesSlides/notesSlide11.xml" Id="Rae08a1e3585d49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5c875ed3fb4f74" /><Relationship Type="http://schemas.openxmlformats.org/officeDocument/2006/relationships/notesSlide" Target="/ppt/notesSlides/notesSlide12.xml" Id="R38e77ee2236a42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4d47dc5183c44c7" /><Relationship Type="http://schemas.openxmlformats.org/officeDocument/2006/relationships/notesSlide" Target="/ppt/notesSlides/notesSlide13.xml" Id="R98a64d63649748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82f685fe79467f" /><Relationship Type="http://schemas.openxmlformats.org/officeDocument/2006/relationships/notesSlide" Target="/ppt/notesSlides/notesSlide14.xml" Id="R69ca7529900744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8ce503c8d74c53" /><Relationship Type="http://schemas.openxmlformats.org/officeDocument/2006/relationships/notesSlide" Target="/ppt/notesSlides/notesSlide15.xml" Id="Re185a7a7010f48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7aad2a724194f5b" /><Relationship Type="http://schemas.openxmlformats.org/officeDocument/2006/relationships/notesSlide" Target="/ppt/notesSlides/notesSlide16.xml" Id="R7d120dbbac954d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fed3effdecf40fe" /><Relationship Type="http://schemas.openxmlformats.org/officeDocument/2006/relationships/notesSlide" Target="/ppt/notesSlides/notesSlide17.xml" Id="Rc1ce715afbcb4f5e" /></Relationships>
</file>

<file path=ppt/slides/slide1.xml><?xml version="1.0" encoding="utf-8"?>
<p:sld xmlns:p="http://schemas.openxmlformats.org/presentationml/2006/main">
  <p:cSld>
    <p:bg>
      <p:bgPr>
        <a:solidFill xmlns:a="http://schemas.openxmlformats.org/drawingml/2006/main">
          <a:srgbClr val="122D3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B116CA5-D63D-4B8E-954A-94C8549B8354}"/>
              </a:ext>
            </a:extLst>
          </p:cNvPr>
          <p:cNvSpPr>
            <a:spLocks xmlns:a="http://schemas.openxmlformats.org/drawingml/2006/main" noGrp="1"/>
          </p:cNvSpPr>
          <p:nvPr/>
        </p:nvSpPr>
        <p:spPr>
          <a:xfrm xmlns:a="http://schemas.openxmlformats.org/drawingml/2006/main">
            <a:off x="704850" y="7239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3D6C3"/>
                </a:solidFill>
                <a:latin typeface="Arial"/>
                <a:ea typeface="Arial"/>
                <a:cs typeface="Arial"/>
              </a:defRPr>
            </a:pPr>
            <a:r>
              <a:rPr sz="1800" b="0">
                <a:solidFill>
                  <a:srgbClr val="73D6C3"/>
                </a:solidFill>
                <a:latin typeface="Arial"/>
                <a:ea typeface="Arial"/>
                <a:cs typeface="Arial"/>
              </a:rPr>
              <a:t>PYTHON / 2 КУРС / ЛЕКЦИЯ 7</a:t>
            </a:r>
          </a:p>
        </p:txBody>
      </p:sp>
      <p:sp>
        <p:nvSpPr>
          <p:cNvPr id="2" name="">
            <a:extLst xmlns:a="http://schemas.openxmlformats.org/drawingml/2006/main">
              <a:ext uri="{FF2B5EF4-FFF2-40B4-BE49-F238E27FC236}">
                <a16:creationId xmlns:a16="http://schemas.microsoft.com/office/drawing/2014/main" id="{294D29B6-C8B3-45F2-AB4E-69796C5351B4}"/>
              </a:ext>
            </a:extLst>
          </p:cNvPr>
          <p:cNvSpPr>
            <a:spLocks xmlns:a="http://schemas.openxmlformats.org/drawingml/2006/main" noGrp="1"/>
          </p:cNvSpPr>
          <p:nvPr/>
        </p:nvSpPr>
        <p:spPr>
          <a:xfrm xmlns:a="http://schemas.openxmlformats.org/drawingml/2006/main">
            <a:off x="685800" y="19621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Сборка и сдача консольного приложения</a:t>
            </a:r>
          </a:p>
        </p:txBody>
      </p:sp>
      <p:sp>
        <p:nvSpPr>
          <p:cNvPr id="3" name="">
            <a:extLst xmlns:a="http://schemas.openxmlformats.org/drawingml/2006/main">
              <a:ext uri="{FF2B5EF4-FFF2-40B4-BE49-F238E27FC236}">
                <a16:creationId xmlns:a16="http://schemas.microsoft.com/office/drawing/2014/main" id="{51310193-0FA5-4353-9FA5-ECD671315E39}"/>
              </a:ext>
            </a:extLst>
          </p:cNvPr>
          <p:cNvSpPr>
            <a:spLocks xmlns:a="http://schemas.openxmlformats.org/drawingml/2006/main" noGrp="1"/>
          </p:cNvSpPr>
          <p:nvPr/>
        </p:nvSpPr>
        <p:spPr>
          <a:xfrm xmlns:a="http://schemas.openxmlformats.org/drawingml/2006/main">
            <a:off x="723900" y="49720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BDDE5"/>
                </a:solidFill>
                <a:latin typeface="Arial"/>
                <a:ea typeface="Arial"/>
                <a:cs typeface="Arial"/>
              </a:defRPr>
            </a:pPr>
            <a:r>
              <a:rPr sz="2175" b="0">
                <a:solidFill>
                  <a:srgbClr val="CBDDE5"/>
                </a:solidFill>
                <a:latin typeface="Arial"/>
                <a:ea typeface="Arial"/>
                <a:cs typeface="Arial"/>
              </a:rPr>
              <a:t>Алгоритмизация и программирование</a:t>
            </a:r>
          </a:p>
          <a:p xmlns:a="http://schemas.openxmlformats.org/drawingml/2006/main">
            <a:pPr>
              <a:defRPr sz="2175" b="0">
                <a:solidFill>
                  <a:srgbClr val="CBDDE5"/>
                </a:solidFill>
                <a:latin typeface="Arial"/>
                <a:ea typeface="Arial"/>
                <a:cs typeface="Arial"/>
              </a:defRPr>
            </a:pPr>
            <a:r>
              <a:rPr sz="2175" b="0">
                <a:solidFill>
                  <a:srgbClr val="CBDDE5"/>
                </a:solidFill>
                <a:latin typeface="Arial"/>
                <a:ea typeface="Arial"/>
                <a:cs typeface="Arial"/>
              </a:rPr>
              <a:t>Прикладной курс · 90 минут</a:t>
            </a:r>
          </a:p>
        </p:txBody>
      </p:sp>
    </p:spTree>
    <p:extLst>
      <p:ext uri="{BB962C8B-B14F-4D97-AF65-F5344CB8AC3E}">
        <p14:creationId xmlns:p14="http://schemas.microsoft.com/office/powerpoint/2010/main" val="437046463"/>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CFCAD58-08FE-4A54-8411-F83B7D1ACA73}"/>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Результат занятия</a:t>
            </a:r>
          </a:p>
        </p:txBody>
      </p:sp>
      <p:sp>
        <p:nvSpPr>
          <p:cNvPr id="2" name="">
            <a:extLst xmlns:a="http://schemas.openxmlformats.org/drawingml/2006/main">
              <a:ext uri="{FF2B5EF4-FFF2-40B4-BE49-F238E27FC236}">
                <a16:creationId xmlns:a16="http://schemas.microsoft.com/office/drawing/2014/main" id="{81B1D6F7-6269-4ABF-9A9D-27DC1C9A53B3}"/>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Разделить код на пакет и модули</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Запустить пакет через python -m</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Сохранить данные при ошибке команды или загрузки</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Подготовить README, тесты и демонстрацию проекта</a:t>
            </a:r>
          </a:p>
        </p:txBody>
      </p:sp>
      <p:sp>
        <p:nvSpPr>
          <p:cNvPr id="3" name="">
            <a:extLst xmlns:a="http://schemas.openxmlformats.org/drawingml/2006/main">
              <a:ext uri="{FF2B5EF4-FFF2-40B4-BE49-F238E27FC236}">
                <a16:creationId xmlns:a16="http://schemas.microsoft.com/office/drawing/2014/main" id="{259A868A-702B-4C6E-8662-4423744C17DA}"/>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2 из 17</a:t>
            </a:r>
          </a:p>
        </p:txBody>
      </p:sp>
    </p:spTree>
    <p:extLst>
      <p:ext uri="{BB962C8B-B14F-4D97-AF65-F5344CB8AC3E}">
        <p14:creationId xmlns:p14="http://schemas.microsoft.com/office/powerpoint/2010/main" val="1126221095"/>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0D083B4-15A4-4A7C-A49B-3F35D2EBEEA3}"/>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Структура проекта</a:t>
            </a:r>
          </a:p>
        </p:txBody>
      </p:sp>
      <p:sp>
        <p:nvSpPr>
          <p:cNvPr id="2" name="">
            <a:extLst xmlns:a="http://schemas.openxmlformats.org/drawingml/2006/main">
              <a:ext uri="{FF2B5EF4-FFF2-40B4-BE49-F238E27FC236}">
                <a16:creationId xmlns:a16="http://schemas.microsoft.com/office/drawing/2014/main" id="{13991EE5-5ECC-4552-A390-5E612CB18734}"/>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models.py содержит данные и правила</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storage.py читает и записывает файлы</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__main__.py связывает команды с операциями</a:t>
            </a:r>
          </a:p>
        </p:txBody>
      </p:sp>
      <p:sp>
        <p:nvSpPr>
          <p:cNvPr id="3" name="">
            <a:extLst xmlns:a="http://schemas.openxmlformats.org/drawingml/2006/main">
              <a:ext uri="{FF2B5EF4-FFF2-40B4-BE49-F238E27FC236}">
                <a16:creationId xmlns:a16="http://schemas.microsoft.com/office/drawing/2014/main" id="{61E4C6FF-3452-4643-8786-6ABD99F04AAE}"/>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3 из 17</a:t>
            </a:r>
          </a:p>
        </p:txBody>
      </p:sp>
    </p:spTree>
    <p:extLst>
      <p:ext uri="{BB962C8B-B14F-4D97-AF65-F5344CB8AC3E}">
        <p14:creationId xmlns:p14="http://schemas.microsoft.com/office/powerpoint/2010/main" val="1089788467"/>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0A96CC8-11C9-4A6B-80E9-618A272DEB95}"/>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Структура проекта</a:t>
            </a:r>
          </a:p>
        </p:txBody>
      </p:sp>
      <p:sp>
        <p:nvSpPr>
          <p:cNvPr id="2" name="">
            <a:extLst xmlns:a="http://schemas.openxmlformats.org/drawingml/2006/main">
              <a:ext uri="{FF2B5EF4-FFF2-40B4-BE49-F238E27FC236}">
                <a16:creationId xmlns:a16="http://schemas.microsoft.com/office/drawing/2014/main" id="{DE0F1BFD-0BE0-4B82-A7CB-873E52A30749}"/>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files = {"journal/models.py": "Student и GradeBook",</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"journal/storage.py": "JSON и CSV",</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"journal/__main__.py": "консольное меню",</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"tests/test_own.py": "собственные тесты"}</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for path, purpose in files.items():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print(path, ":", purpose)</a:t>
            </a:r>
          </a:p>
        </p:txBody>
      </p:sp>
      <p:sp>
        <p:nvSpPr>
          <p:cNvPr id="3" name="">
            <a:extLst xmlns:a="http://schemas.openxmlformats.org/drawingml/2006/main">
              <a:ext uri="{FF2B5EF4-FFF2-40B4-BE49-F238E27FC236}">
                <a16:creationId xmlns:a16="http://schemas.microsoft.com/office/drawing/2014/main" id="{EBF0C19E-B4F3-4E14-A213-767465A587AA}"/>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4 из 17   /   Разбор кода</a:t>
            </a:r>
          </a:p>
        </p:txBody>
      </p:sp>
    </p:spTree>
    <p:extLst>
      <p:ext uri="{BB962C8B-B14F-4D97-AF65-F5344CB8AC3E}">
        <p14:creationId xmlns:p14="http://schemas.microsoft.com/office/powerpoint/2010/main" val="1474860967"/>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74E01F9-DEFF-41FB-AF94-1977FDAE57F4}"/>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Импорт и точка входа</a:t>
            </a:r>
          </a:p>
        </p:txBody>
      </p:sp>
      <p:sp>
        <p:nvSpPr>
          <p:cNvPr id="2" name="">
            <a:extLst xmlns:a="http://schemas.openxmlformats.org/drawingml/2006/main">
              <a:ext uri="{FF2B5EF4-FFF2-40B4-BE49-F238E27FC236}">
                <a16:creationId xmlns:a16="http://schemas.microsoft.com/office/drawing/2014/main" id="{88FF48D1-0C21-40C3-8401-BC588C0C0D90}"/>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Импорт выполняет код верхнего уровня</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main отделяет запуск от определений</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Пакет запускается командой python -m journal</a:t>
            </a:r>
          </a:p>
        </p:txBody>
      </p:sp>
      <p:sp>
        <p:nvSpPr>
          <p:cNvPr id="3" name="">
            <a:extLst xmlns:a="http://schemas.openxmlformats.org/drawingml/2006/main">
              <a:ext uri="{FF2B5EF4-FFF2-40B4-BE49-F238E27FC236}">
                <a16:creationId xmlns:a16="http://schemas.microsoft.com/office/drawing/2014/main" id="{F330B92E-CFE4-480A-95B2-0D8F6D91A9C1}"/>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5 из 17</a:t>
            </a:r>
          </a:p>
        </p:txBody>
      </p:sp>
    </p:spTree>
    <p:extLst>
      <p:ext uri="{BB962C8B-B14F-4D97-AF65-F5344CB8AC3E}">
        <p14:creationId xmlns:p14="http://schemas.microsoft.com/office/powerpoint/2010/main" val="1709916901"/>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FF2E440-045F-4353-9FE0-FE3513FE0240}"/>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Импорт и точка входа</a:t>
            </a:r>
          </a:p>
        </p:txBody>
      </p:sp>
      <p:sp>
        <p:nvSpPr>
          <p:cNvPr id="2" name="">
            <a:extLst xmlns:a="http://schemas.openxmlformats.org/drawingml/2006/main">
              <a:ext uri="{FF2B5EF4-FFF2-40B4-BE49-F238E27FC236}">
                <a16:creationId xmlns:a16="http://schemas.microsoft.com/office/drawing/2014/main" id="{50A3759A-2B8E-4C61-B408-9C9729FB6E7E}"/>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main():</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print("Здесь запускается интерфейс")</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if __name__ == "__main__":</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main()</a:t>
            </a:r>
          </a:p>
        </p:txBody>
      </p:sp>
      <p:sp>
        <p:nvSpPr>
          <p:cNvPr id="3" name="">
            <a:extLst xmlns:a="http://schemas.openxmlformats.org/drawingml/2006/main">
              <a:ext uri="{FF2B5EF4-FFF2-40B4-BE49-F238E27FC236}">
                <a16:creationId xmlns:a16="http://schemas.microsoft.com/office/drawing/2014/main" id="{3E638C76-2D85-4D69-A349-586BB648E2EA}"/>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6 из 17   /   Разбор кода</a:t>
            </a:r>
          </a:p>
        </p:txBody>
      </p:sp>
    </p:spTree>
    <p:extLst>
      <p:ext uri="{BB962C8B-B14F-4D97-AF65-F5344CB8AC3E}">
        <p14:creationId xmlns:p14="http://schemas.microsoft.com/office/powerpoint/2010/main" val="1178819815"/>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54CBDCD-FC5B-4296-B392-084B204C35DE}"/>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Цикл команд</a:t>
            </a:r>
          </a:p>
        </p:txBody>
      </p:sp>
      <p:sp>
        <p:nvSpPr>
          <p:cNvPr id="2" name="">
            <a:extLst xmlns:a="http://schemas.openxmlformats.org/drawingml/2006/main">
              <a:ext uri="{FF2B5EF4-FFF2-40B4-BE49-F238E27FC236}">
                <a16:creationId xmlns:a16="http://schemas.microsoft.com/office/drawing/2014/main" id="{B05B6882-7385-44A5-96E8-73E7CE6787F4}"/>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Команда выбирает действие</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Неизвестный пункт возвращает к меню</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Сложные вычисления выполняются вне ветки интерфейса</a:t>
            </a:r>
          </a:p>
        </p:txBody>
      </p:sp>
      <p:sp>
        <p:nvSpPr>
          <p:cNvPr id="3" name="">
            <a:extLst xmlns:a="http://schemas.openxmlformats.org/drawingml/2006/main">
              <a:ext uri="{FF2B5EF4-FFF2-40B4-BE49-F238E27FC236}">
                <a16:creationId xmlns:a16="http://schemas.microsoft.com/office/drawing/2014/main" id="{C80D5B92-32E2-4DA6-80C0-77EC0F1DEA51}"/>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7 из 17</a:t>
            </a:r>
          </a:p>
        </p:txBody>
      </p:sp>
    </p:spTree>
    <p:extLst>
      <p:ext uri="{BB962C8B-B14F-4D97-AF65-F5344CB8AC3E}">
        <p14:creationId xmlns:p14="http://schemas.microsoft.com/office/powerpoint/2010/main" val="979755571"/>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A709BA1-26B6-4750-AFE5-51857964F05E}"/>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Цикл команд</a:t>
            </a:r>
          </a:p>
        </p:txBody>
      </p:sp>
      <p:sp>
        <p:nvSpPr>
          <p:cNvPr id="2" name="">
            <a:extLst xmlns:a="http://schemas.openxmlformats.org/drawingml/2006/main">
              <a:ext uri="{FF2B5EF4-FFF2-40B4-BE49-F238E27FC236}">
                <a16:creationId xmlns:a16="http://schemas.microsoft.com/office/drawing/2014/main" id="{50D4F7EA-AE1B-4DAF-A792-F172FAE11150}"/>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for command in ["3", "x", "0"]: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if command == "0":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print("Выход")</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break</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elif command == "3":</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print("Отчёт пока пуст")</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else: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print("Неизвестная команда")</a:t>
            </a:r>
          </a:p>
        </p:txBody>
      </p:sp>
      <p:sp>
        <p:nvSpPr>
          <p:cNvPr id="3" name="">
            <a:extLst xmlns:a="http://schemas.openxmlformats.org/drawingml/2006/main">
              <a:ext uri="{FF2B5EF4-FFF2-40B4-BE49-F238E27FC236}">
                <a16:creationId xmlns:a16="http://schemas.microsoft.com/office/drawing/2014/main" id="{23C663A7-601F-4656-945D-00861E919739}"/>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8 из 17   /   Разбор кода</a:t>
            </a:r>
          </a:p>
        </p:txBody>
      </p:sp>
    </p:spTree>
    <p:extLst>
      <p:ext uri="{BB962C8B-B14F-4D97-AF65-F5344CB8AC3E}">
        <p14:creationId xmlns:p14="http://schemas.microsoft.com/office/powerpoint/2010/main" val="1198944374"/>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214B30F-F476-4E62-8F7F-6148EF027DE4}"/>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Несохранённые изменения</a:t>
            </a:r>
          </a:p>
        </p:txBody>
      </p:sp>
      <p:sp>
        <p:nvSpPr>
          <p:cNvPr id="2" name="">
            <a:extLst xmlns:a="http://schemas.openxmlformats.org/drawingml/2006/main">
              <a:ext uri="{FF2B5EF4-FFF2-40B4-BE49-F238E27FC236}">
                <a16:creationId xmlns:a16="http://schemas.microsoft.com/office/drawing/2014/main" id="{6CC52BCA-359D-4290-B4A0-E0A2912F3FBF}"/>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Успешное изменение устанавливает changed=True</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Успешное сохранение сбрасывает флаг</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Ошибка сохранения оставляет изменения несохранёнными</a:t>
            </a:r>
          </a:p>
        </p:txBody>
      </p:sp>
      <p:sp>
        <p:nvSpPr>
          <p:cNvPr id="3" name="">
            <a:extLst xmlns:a="http://schemas.openxmlformats.org/drawingml/2006/main">
              <a:ext uri="{FF2B5EF4-FFF2-40B4-BE49-F238E27FC236}">
                <a16:creationId xmlns:a16="http://schemas.microsoft.com/office/drawing/2014/main" id="{DF4BC817-127F-46FB-95E8-5794500D48D9}"/>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9 из 17</a:t>
            </a:r>
          </a:p>
        </p:txBody>
      </p:sp>
    </p:spTree>
    <p:extLst>
      <p:ext uri="{BB962C8B-B14F-4D97-AF65-F5344CB8AC3E}">
        <p14:creationId xmlns:p14="http://schemas.microsoft.com/office/powerpoint/2010/main" val="391686356"/>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D719AB8-2E01-4409-AEB1-3BB38B68D863}"/>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Несохранённые изменения</a:t>
            </a:r>
          </a:p>
        </p:txBody>
      </p:sp>
      <p:sp>
        <p:nvSpPr>
          <p:cNvPr id="2" name="">
            <a:extLst xmlns:a="http://schemas.openxmlformats.org/drawingml/2006/main">
              <a:ext uri="{FF2B5EF4-FFF2-40B4-BE49-F238E27FC236}">
                <a16:creationId xmlns:a16="http://schemas.microsoft.com/office/drawing/2014/main" id="{D68C937C-9484-41B3-82F4-A5C801521581}"/>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changed = False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grades =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grades.append(5)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changed = True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print("Есть изменения:", changed)</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Предположим, функция сохранения завершилась успешно.</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changed = False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print("После сохранения:", changed)</a:t>
            </a:r>
          </a:p>
        </p:txBody>
      </p:sp>
      <p:sp>
        <p:nvSpPr>
          <p:cNvPr id="3" name="">
            <a:extLst xmlns:a="http://schemas.openxmlformats.org/drawingml/2006/main">
              <a:ext uri="{FF2B5EF4-FFF2-40B4-BE49-F238E27FC236}">
                <a16:creationId xmlns:a16="http://schemas.microsoft.com/office/drawing/2014/main" id="{4CBEA674-D00B-47F2-84CE-48E677883414}"/>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10 из 17   /   Разбор кода</a:t>
            </a:r>
          </a:p>
        </p:txBody>
      </p:sp>
    </p:spTree>
    <p:extLst>
      <p:ext uri="{BB962C8B-B14F-4D97-AF65-F5344CB8AC3E}">
        <p14:creationId xmlns:p14="http://schemas.microsoft.com/office/powerpoint/2010/main" val="1257954613"/>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F26A32A-8C1C-48C4-92D3-5FF3740C640B}"/>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Безопасная замена при загрузке</a:t>
            </a:r>
          </a:p>
        </p:txBody>
      </p:sp>
      <p:sp>
        <p:nvSpPr>
          <p:cNvPr id="2" name="">
            <a:extLst xmlns:a="http://schemas.openxmlformats.org/drawingml/2006/main">
              <a:ext uri="{FF2B5EF4-FFF2-40B4-BE49-F238E27FC236}">
                <a16:creationId xmlns:a16="http://schemas.microsoft.com/office/drawing/2014/main" id="{3F42A999-66C8-47C3-902E-F8687EA1891B}"/>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Загрузка сначала создаёт новый объект</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Присваивание выполняется после успешной проверки</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Ошибка не заменяет текущие данные</a:t>
            </a:r>
          </a:p>
        </p:txBody>
      </p:sp>
      <p:sp>
        <p:nvSpPr>
          <p:cNvPr id="3" name="">
            <a:extLst xmlns:a="http://schemas.openxmlformats.org/drawingml/2006/main">
              <a:ext uri="{FF2B5EF4-FFF2-40B4-BE49-F238E27FC236}">
                <a16:creationId xmlns:a16="http://schemas.microsoft.com/office/drawing/2014/main" id="{5385CD88-4AC2-4863-B162-2123E559AF74}"/>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11 из 17</a:t>
            </a:r>
          </a:p>
        </p:txBody>
      </p:sp>
    </p:spTree>
    <p:extLst>
      <p:ext uri="{BB962C8B-B14F-4D97-AF65-F5344CB8AC3E}">
        <p14:creationId xmlns:p14="http://schemas.microsoft.com/office/powerpoint/2010/main" val="206291363"/>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CF14A6-3135-443D-9982-6EB4A1BFD814}"/>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Безопасная замена при загрузке</a:t>
            </a:r>
          </a:p>
        </p:txBody>
      </p:sp>
      <p:sp>
        <p:nvSpPr>
          <p:cNvPr id="2" name="">
            <a:extLst xmlns:a="http://schemas.openxmlformats.org/drawingml/2006/main">
              <a:ext uri="{FF2B5EF4-FFF2-40B4-BE49-F238E27FC236}">
                <a16:creationId xmlns:a16="http://schemas.microsoft.com/office/drawing/2014/main" id="{11F9E2CB-BBF5-417C-A5D6-4F391F59AE64}"/>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book = ["Анна"]</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load_invalid():</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raise ValueError("Повреждённый файл")</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try:</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loaded = load_invalid()</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book = loaded</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except ValueError:</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print("Загрузка отменена")</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print(book)</a:t>
            </a:r>
          </a:p>
        </p:txBody>
      </p:sp>
      <p:sp>
        <p:nvSpPr>
          <p:cNvPr id="3" name="">
            <a:extLst xmlns:a="http://schemas.openxmlformats.org/drawingml/2006/main">
              <a:ext uri="{FF2B5EF4-FFF2-40B4-BE49-F238E27FC236}">
                <a16:creationId xmlns:a16="http://schemas.microsoft.com/office/drawing/2014/main" id="{7D8F42A6-A153-4B98-91A9-DC529E09FAF7}"/>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12 из 17   /   Разбор кода</a:t>
            </a:r>
          </a:p>
        </p:txBody>
      </p:sp>
    </p:spTree>
    <p:extLst>
      <p:ext uri="{BB962C8B-B14F-4D97-AF65-F5344CB8AC3E}">
        <p14:creationId xmlns:p14="http://schemas.microsoft.com/office/powerpoint/2010/main" val="111141760"/>
      </p:ext>
    </p:extLst>
  </p:cSld>
</p:sld>
</file>

<file path=ppt/slides/slide1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DC596AF-FD38-49C4-B30A-21F8D3ACC4AA}"/>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README и воспроизводимый запуск</a:t>
            </a:r>
          </a:p>
        </p:txBody>
      </p:sp>
      <p:sp>
        <p:nvSpPr>
          <p:cNvPr id="2" name="">
            <a:extLst xmlns:a="http://schemas.openxmlformats.org/drawingml/2006/main">
              <a:ext uri="{FF2B5EF4-FFF2-40B4-BE49-F238E27FC236}">
                <a16:creationId xmlns:a16="http://schemas.microsoft.com/office/drawing/2014/main" id="{7A5BB27D-12AE-4BFA-9C36-3544BE1899C2}"/>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README содержит точные команды и ожидаемый результат</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Проверка выполняется из чистой копии</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Git хранит исходники и необходимые данные</a:t>
            </a:r>
          </a:p>
        </p:txBody>
      </p:sp>
      <p:sp>
        <p:nvSpPr>
          <p:cNvPr id="3" name="">
            <a:extLst xmlns:a="http://schemas.openxmlformats.org/drawingml/2006/main">
              <a:ext uri="{FF2B5EF4-FFF2-40B4-BE49-F238E27FC236}">
                <a16:creationId xmlns:a16="http://schemas.microsoft.com/office/drawing/2014/main" id="{7C809B4C-E02E-4B3D-A282-9BAE4551020F}"/>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13 из 17</a:t>
            </a:r>
          </a:p>
        </p:txBody>
      </p:sp>
    </p:spTree>
    <p:extLst>
      <p:ext uri="{BB962C8B-B14F-4D97-AF65-F5344CB8AC3E}">
        <p14:creationId xmlns:p14="http://schemas.microsoft.com/office/powerpoint/2010/main" val="2013032441"/>
      </p:ext>
    </p:extLst>
  </p:cSld>
</p:sld>
</file>

<file path=ppt/slides/slide1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8C30D28-0DA3-44E1-A140-50E466F6509B}"/>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README и воспроизводимый запуск</a:t>
            </a:r>
          </a:p>
        </p:txBody>
      </p:sp>
      <p:sp>
        <p:nvSpPr>
          <p:cNvPr id="2" name="">
            <a:extLst xmlns:a="http://schemas.openxmlformats.org/drawingml/2006/main">
              <a:ext uri="{FF2B5EF4-FFF2-40B4-BE49-F238E27FC236}">
                <a16:creationId xmlns:a16="http://schemas.microsoft.com/office/drawing/2014/main" id="{0437AB12-4808-4CFB-A425-97947C9FD70D}"/>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steps = ["Проверить версию Python",</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"Перейти в каталог с папкой journal",</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"Выполнить python -m journal",</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"Выполнить публичные и собственные тесты"]</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for index, step in enumerate(steps, 1):</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print(f"{index}. {step}")</a:t>
            </a:r>
          </a:p>
        </p:txBody>
      </p:sp>
      <p:sp>
        <p:nvSpPr>
          <p:cNvPr id="3" name="">
            <a:extLst xmlns:a="http://schemas.openxmlformats.org/drawingml/2006/main">
              <a:ext uri="{FF2B5EF4-FFF2-40B4-BE49-F238E27FC236}">
                <a16:creationId xmlns:a16="http://schemas.microsoft.com/office/drawing/2014/main" id="{481257EB-7EAB-4249-99D5-189D5A0B11A0}"/>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14 из 17   /   Разбор кода</a:t>
            </a:r>
          </a:p>
        </p:txBody>
      </p:sp>
    </p:spTree>
    <p:extLst>
      <p:ext uri="{BB962C8B-B14F-4D97-AF65-F5344CB8AC3E}">
        <p14:creationId xmlns:p14="http://schemas.microsoft.com/office/powerpoint/2010/main" val="1597601883"/>
      </p:ext>
    </p:extLst>
  </p:cSld>
</p:sld>
</file>

<file path=ppt/slides/slide1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2F2D652-AA14-41B0-B0CC-7B6AD0E92513}"/>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Защита проекта</a:t>
            </a:r>
          </a:p>
        </p:txBody>
      </p:sp>
      <p:sp>
        <p:nvSpPr>
          <p:cNvPr id="2" name="">
            <a:extLst xmlns:a="http://schemas.openxmlformats.org/drawingml/2006/main">
              <a:ext uri="{FF2B5EF4-FFF2-40B4-BE49-F238E27FC236}">
                <a16:creationId xmlns:a16="http://schemas.microsoft.com/office/drawing/2014/main" id="{82B07287-50EC-4DB2-9B34-F037791C701B}"/>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Демонстрация включает обычный сценарий и ошибку</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Студент объясняет путь данных через программу</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Дополнения выполняются после обязательной части</a:t>
            </a:r>
          </a:p>
        </p:txBody>
      </p:sp>
      <p:sp>
        <p:nvSpPr>
          <p:cNvPr id="3" name="">
            <a:extLst xmlns:a="http://schemas.openxmlformats.org/drawingml/2006/main">
              <a:ext uri="{FF2B5EF4-FFF2-40B4-BE49-F238E27FC236}">
                <a16:creationId xmlns:a16="http://schemas.microsoft.com/office/drawing/2014/main" id="{5D2D40F9-0ABD-43D1-BA62-1E58A8C749E5}"/>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15 из 17</a:t>
            </a:r>
          </a:p>
        </p:txBody>
      </p:sp>
    </p:spTree>
    <p:extLst>
      <p:ext uri="{BB962C8B-B14F-4D97-AF65-F5344CB8AC3E}">
        <p14:creationId xmlns:p14="http://schemas.microsoft.com/office/powerpoint/2010/main" val="771177482"/>
      </p:ext>
    </p:extLst>
  </p:cSld>
</p:sld>
</file>

<file path=ppt/slides/slide1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EB8434E-439C-4F2D-BCC1-A5C2A3D7A2BE}"/>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Защита проекта</a:t>
            </a:r>
          </a:p>
        </p:txBody>
      </p:sp>
      <p:sp>
        <p:nvSpPr>
          <p:cNvPr id="2" name="">
            <a:extLst xmlns:a="http://schemas.openxmlformats.org/drawingml/2006/main">
              <a:ext uri="{FF2B5EF4-FFF2-40B4-BE49-F238E27FC236}">
                <a16:creationId xmlns:a16="http://schemas.microsoft.com/office/drawing/2014/main" id="{F2DA227B-E898-42A6-B6A8-B29A3C98112F}"/>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criteria = {"модель и операции": 30,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"файлы": 20,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"интерфейс": 15,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"свои тесты": 15,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"структура и README": 10,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"защита": 10}</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print("Максимум:", sum(criteria.values()))</a:t>
            </a:r>
          </a:p>
        </p:txBody>
      </p:sp>
      <p:sp>
        <p:nvSpPr>
          <p:cNvPr id="3" name="">
            <a:extLst xmlns:a="http://schemas.openxmlformats.org/drawingml/2006/main">
              <a:ext uri="{FF2B5EF4-FFF2-40B4-BE49-F238E27FC236}">
                <a16:creationId xmlns:a16="http://schemas.microsoft.com/office/drawing/2014/main" id="{74573E60-8476-45EF-B98C-FFBDD2051EB2}"/>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16 из 17   /   Разбор кода</a:t>
            </a:r>
          </a:p>
        </p:txBody>
      </p:sp>
    </p:spTree>
    <p:extLst>
      <p:ext uri="{BB962C8B-B14F-4D97-AF65-F5344CB8AC3E}">
        <p14:creationId xmlns:p14="http://schemas.microsoft.com/office/powerpoint/2010/main" val="1423861579"/>
      </p:ext>
    </p:extLst>
  </p:cSld>
</p:sld>
</file>

<file path=ppt/slides/slide1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116E7A7-6643-4A1E-B48A-7B4640CDB90C}"/>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Самопроверка и практика</a:t>
            </a:r>
          </a:p>
        </p:txBody>
      </p:sp>
      <p:sp>
        <p:nvSpPr>
          <p:cNvPr id="2" name="">
            <a:extLst xmlns:a="http://schemas.openxmlformats.org/drawingml/2006/main">
              <a:ext uri="{FF2B5EF4-FFF2-40B4-BE49-F238E27FC236}">
                <a16:creationId xmlns:a16="http://schemas.microsoft.com/office/drawing/2014/main" id="{EDA62448-01E7-466E-B70E-74C79DECE607}"/>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Почему тесты могут зависнуть при импорте модуля?</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Почему book = [] перед load_book опасно?</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Практики 13 и 14: применение материала</a:t>
            </a:r>
          </a:p>
        </p:txBody>
      </p:sp>
      <p:sp>
        <p:nvSpPr>
          <p:cNvPr id="3" name="">
            <a:extLst xmlns:a="http://schemas.openxmlformats.org/drawingml/2006/main">
              <a:ext uri="{FF2B5EF4-FFF2-40B4-BE49-F238E27FC236}">
                <a16:creationId xmlns:a16="http://schemas.microsoft.com/office/drawing/2014/main" id="{83AAD238-2394-4743-983D-2D6D279140D0}"/>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7   /   17 из 17</a:t>
            </a:r>
          </a:p>
        </p:txBody>
      </p:sp>
    </p:spTree>
    <p:extLst>
      <p:ext uri="{BB962C8B-B14F-4D97-AF65-F5344CB8AC3E}">
        <p14:creationId xmlns:p14="http://schemas.microsoft.com/office/powerpoint/2010/main" val="11022826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2026-09-09T09:52:11.4690000Z</dcterms:created>
  <dcterms:modified xsi:type="dcterms:W3CDTF">2026-09-09T09:52:11.4690000Z</dcterms:modified>
</coreProperties>
</file>