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a9c0a363f541f6" /><Relationship Type="http://schemas.openxmlformats.org/officeDocument/2006/relationships/extended-properties" Target="/docProps/app.xml" Id="R8d94b3c4caba4f56" /><Relationship Type="http://schemas.openxmlformats.org/officeDocument/2006/relationships/officeDocument" Target="/ppt/presentation.xml" Id="Ra557f4562af04e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f23ff53dfd4360"/>
  </p:sldMasterIdLst>
  <p:notesMasterIdLst>
    <p:notesMasterId xmlns:r="http://schemas.openxmlformats.org/officeDocument/2006/relationships" r:id="Rf82b6e0b0aa64daf"/>
  </p:notesMasterIdLst>
  <p:sldIdLst>
    <p:sldId xmlns:r="http://schemas.openxmlformats.org/officeDocument/2006/relationships" id="256" r:id="R40367ea251684206"/>
    <p:sldId xmlns:r="http://schemas.openxmlformats.org/officeDocument/2006/relationships" id="257" r:id="Re14d99595df54683"/>
    <p:sldId xmlns:r="http://schemas.openxmlformats.org/officeDocument/2006/relationships" id="258" r:id="R61b38c2ce3744a64"/>
    <p:sldId xmlns:r="http://schemas.openxmlformats.org/officeDocument/2006/relationships" id="259" r:id="Rd281f208bae84998"/>
    <p:sldId xmlns:r="http://schemas.openxmlformats.org/officeDocument/2006/relationships" id="260" r:id="R9fee22657be047d5"/>
    <p:sldId xmlns:r="http://schemas.openxmlformats.org/officeDocument/2006/relationships" id="261" r:id="R0de9e306ca9746ad"/>
    <p:sldId xmlns:r="http://schemas.openxmlformats.org/officeDocument/2006/relationships" id="262" r:id="R43ab770346664e93"/>
    <p:sldId xmlns:r="http://schemas.openxmlformats.org/officeDocument/2006/relationships" id="263" r:id="R150bb1872ad84f90"/>
    <p:sldId xmlns:r="http://schemas.openxmlformats.org/officeDocument/2006/relationships" id="264" r:id="R846ade298a85498c"/>
    <p:sldId xmlns:r="http://schemas.openxmlformats.org/officeDocument/2006/relationships" id="265" r:id="Raf8e06f7f13e4350"/>
    <p:sldId xmlns:r="http://schemas.openxmlformats.org/officeDocument/2006/relationships" id="266" r:id="R36fe9235d57647e5"/>
    <p:sldId xmlns:r="http://schemas.openxmlformats.org/officeDocument/2006/relationships" id="267" r:id="Rbb86b54244bc412f"/>
    <p:sldId xmlns:r="http://schemas.openxmlformats.org/officeDocument/2006/relationships" id="268" r:id="Rb62a3d2da34940e0"/>
    <p:sldId xmlns:r="http://schemas.openxmlformats.org/officeDocument/2006/relationships" id="269" r:id="Rfbd589b7d9494c04"/>
    <p:sldId xmlns:r="http://schemas.openxmlformats.org/officeDocument/2006/relationships" id="270" r:id="R7f0d0e8628a746c5"/>
    <p:sldId xmlns:r="http://schemas.openxmlformats.org/officeDocument/2006/relationships" id="271" r:id="R7c3ab079bbe54a5c"/>
    <p:sldId xmlns:r="http://schemas.openxmlformats.org/officeDocument/2006/relationships" id="272" r:id="Ra2045c1c1d494d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74b9fa021642c1" /><Relationship Type="http://schemas.openxmlformats.org/officeDocument/2006/relationships/slideMaster" Target="/ppt/slideMasters/slideMaster1.xml" Id="R88f23ff53dfd4360" /><Relationship Type="http://schemas.openxmlformats.org/officeDocument/2006/relationships/notesMaster" Target="/ppt/notesMasters/notesMaster1.xml" Id="Rf82b6e0b0aa64daf" /><Relationship Type="http://schemas.openxmlformats.org/officeDocument/2006/relationships/presProps" Target="/ppt/presProps.xml" Id="R217c315291c9428c" /><Relationship Type="http://schemas.openxmlformats.org/officeDocument/2006/relationships/tableStyles" Target="/ppt/tableStyles.xml" Id="R430f44aeb58c49be" /><Relationship Type="http://schemas.openxmlformats.org/officeDocument/2006/relationships/slide" Target="/ppt/slides/slide1.xml" Id="R40367ea251684206" /><Relationship Type="http://schemas.openxmlformats.org/officeDocument/2006/relationships/slide" Target="/ppt/slides/slide2.xml" Id="Re14d99595df54683" /><Relationship Type="http://schemas.openxmlformats.org/officeDocument/2006/relationships/slide" Target="/ppt/slides/slide3.xml" Id="R61b38c2ce3744a64" /><Relationship Type="http://schemas.openxmlformats.org/officeDocument/2006/relationships/slide" Target="/ppt/slides/slide4.xml" Id="Rd281f208bae84998" /><Relationship Type="http://schemas.openxmlformats.org/officeDocument/2006/relationships/slide" Target="/ppt/slides/slide5.xml" Id="R9fee22657be047d5" /><Relationship Type="http://schemas.openxmlformats.org/officeDocument/2006/relationships/slide" Target="/ppt/slides/slide6.xml" Id="R0de9e306ca9746ad" /><Relationship Type="http://schemas.openxmlformats.org/officeDocument/2006/relationships/slide" Target="/ppt/slides/slide7.xml" Id="R43ab770346664e93" /><Relationship Type="http://schemas.openxmlformats.org/officeDocument/2006/relationships/slide" Target="/ppt/slides/slide8.xml" Id="R150bb1872ad84f90" /><Relationship Type="http://schemas.openxmlformats.org/officeDocument/2006/relationships/slide" Target="/ppt/slides/slide9.xml" Id="R846ade298a85498c" /><Relationship Type="http://schemas.openxmlformats.org/officeDocument/2006/relationships/slide" Target="/ppt/slides/slide10.xml" Id="Raf8e06f7f13e4350" /><Relationship Type="http://schemas.openxmlformats.org/officeDocument/2006/relationships/slide" Target="/ppt/slides/slide11.xml" Id="R36fe9235d57647e5" /><Relationship Type="http://schemas.openxmlformats.org/officeDocument/2006/relationships/slide" Target="/ppt/slides/slide12.xml" Id="Rbb86b54244bc412f" /><Relationship Type="http://schemas.openxmlformats.org/officeDocument/2006/relationships/slide" Target="/ppt/slides/slide13.xml" Id="Rb62a3d2da34940e0" /><Relationship Type="http://schemas.openxmlformats.org/officeDocument/2006/relationships/slide" Target="/ppt/slides/slide14.xml" Id="Rfbd589b7d9494c04" /><Relationship Type="http://schemas.openxmlformats.org/officeDocument/2006/relationships/slide" Target="/ppt/slides/slide15.xml" Id="R7f0d0e8628a746c5" /><Relationship Type="http://schemas.openxmlformats.org/officeDocument/2006/relationships/slide" Target="/ppt/slides/slide16.xml" Id="R7c3ab079bbe54a5c" /><Relationship Type="http://schemas.openxmlformats.org/officeDocument/2006/relationships/slide" Target="/ppt/slides/slide17.xml" Id="Ra2045c1c1d494d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cdd916bd164a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63a077aa0f4034" /><Relationship Type="http://schemas.openxmlformats.org/officeDocument/2006/relationships/notesMaster" Target="/ppt/notesMasters/notesMaster1.xml" Id="R02ebec660d3143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83f5c29d58457a" /><Relationship Type="http://schemas.openxmlformats.org/officeDocument/2006/relationships/notesMaster" Target="/ppt/notesMasters/notesMaster1.xml" Id="R71cf1cf9e79140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5c803e607248b3" /><Relationship Type="http://schemas.openxmlformats.org/officeDocument/2006/relationships/notesMaster" Target="/ppt/notesMasters/notesMaster1.xml" Id="R8eca77e852e64f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fa6826514e4ad8" /><Relationship Type="http://schemas.openxmlformats.org/officeDocument/2006/relationships/notesMaster" Target="/ppt/notesMasters/notesMaster1.xml" Id="R6f6014c7001846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c1708458064fed" /><Relationship Type="http://schemas.openxmlformats.org/officeDocument/2006/relationships/notesMaster" Target="/ppt/notesMasters/notesMaster1.xml" Id="R9591c8f8150c4c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840011a3e24d4b" /><Relationship Type="http://schemas.openxmlformats.org/officeDocument/2006/relationships/notesMaster" Target="/ppt/notesMasters/notesMaster1.xml" Id="R1f7983ed898c43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75219c73cc4ae4" /><Relationship Type="http://schemas.openxmlformats.org/officeDocument/2006/relationships/notesMaster" Target="/ppt/notesMasters/notesMaster1.xml" Id="R2a067c63e3b346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a862a4ba174dbd" /><Relationship Type="http://schemas.openxmlformats.org/officeDocument/2006/relationships/notesMaster" Target="/ppt/notesMasters/notesMaster1.xml" Id="R57ad1756e01549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273e5bd8a6413d" /><Relationship Type="http://schemas.openxmlformats.org/officeDocument/2006/relationships/notesMaster" Target="/ppt/notesMasters/notesMaster1.xml" Id="Rd9e5f4d0e73448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af3f865b704440" /><Relationship Type="http://schemas.openxmlformats.org/officeDocument/2006/relationships/notesMaster" Target="/ppt/notesMasters/notesMaster1.xml" Id="Rf097622688b040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3785988ea6430a" /><Relationship Type="http://schemas.openxmlformats.org/officeDocument/2006/relationships/notesMaster" Target="/ppt/notesMasters/notesMaster1.xml" Id="R6f6de4be696d49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1eac360040404b" /><Relationship Type="http://schemas.openxmlformats.org/officeDocument/2006/relationships/notesMaster" Target="/ppt/notesMasters/notesMaster1.xml" Id="Rd0ece075ac7147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12b16f6cb74f1b" /><Relationship Type="http://schemas.openxmlformats.org/officeDocument/2006/relationships/notesMaster" Target="/ppt/notesMasters/notesMaster1.xml" Id="Rbb3d01167b6f40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4ab596dd7d4e52" /><Relationship Type="http://schemas.openxmlformats.org/officeDocument/2006/relationships/notesMaster" Target="/ppt/notesMasters/notesMaster1.xml" Id="R2d63ca63eddd4d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b0b52d809a4796" /><Relationship Type="http://schemas.openxmlformats.org/officeDocument/2006/relationships/notesMaster" Target="/ppt/notesMasters/notesMaster1.xml" Id="Rb168a87da38147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3962e236114781" /><Relationship Type="http://schemas.openxmlformats.org/officeDocument/2006/relationships/notesMaster" Target="/ppt/notesMasters/notesMaster1.xml" Id="R047b698251614e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e2b4012de2446b" /><Relationship Type="http://schemas.openxmlformats.org/officeDocument/2006/relationships/notesMaster" Target="/ppt/notesMasters/notesMaster1.xml" Id="R6dea490c185a44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Словари и функции уже образуют работающую программу. Класс позволит сосредоточить правила одной сущности в одном месте. Мы используем композицию и не вводим абстрактные классы, множественное наследование и шаблоны проектирования.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Объединять данные и операции в простых классах Student и GradeBook без сложной иерархии наследования.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Класс описывает, какие данные и операции объединены одной сущностью. Объект — конкретный экземпляр этого класса. Для журнала студент имеет имя и оценки, а также операции добавления оценки и вычисления среднего. Два студента должны хранить независимые списки.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Метод __init__ инициализирует созданный экземпляр. Первый параметр self обозначает объект, для которого вызывается метод. При Student("Анна") имя передаётся параметру name, а self Python связывает с новым экземпляром автоматически. self.name и локальная name — разные роли: первая хранит состояние объекта, вторая существует как параметр вызова.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Класс не делает программу автоматически лучше. Он полезен, когда данные и правила регулярно используются вместе. Для простого вычисления суммы отдельного списка достаточно функции. В этом курсе ООП вводится через конкретную задачу, без требования превращать каждую вспомогательную операцию в класс.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означает self.name внутри метода?</a:t>
            </a:r>
          </a:p>
          <a:p xmlns:a="http://schemas.openxmlformats.org/drawingml/2006/main">
            <a:r>
              <a:t>Ответ: Атрибут name конкретного экземпляра, для которого выполняется метод.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Анна [5]</a:t>
            </a:r>
          </a:p>
          <a:p xmlns:a="http://schemas.openxmlformats.org/drawingml/2006/main">
            <a:r>
              <a:t>Борис 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Что означает self.name внутри метода?</a:t>
            </a:r>
          </a:p>
          <a:p xmlns:a="http://schemas.openxmlformats.org/drawingml/2006/main">
            <a:r>
              <a:t>Атрибут name конкретного экземпляра, для которого выполняется метод.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 может использовать состояние экземпляра через self. Поэтому average не требует передавать список оценок повторно: он находится в self.grades. Возвращаемое значение при этом подчиняется прежнему контракту: число либо None. Переход к классу не должен незаметно менять смысл вычисления.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Операции ввода и печати оставляем за пределами модели. Метод среднего не спрашивает имя, не читает файл и не формирует меню. Такой класс можно использовать и в консольной программе, и в тесте. Это также упрощает повторное использование уже написанных функций.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Объясните два способа чтения вызова student.average(): «вызвать average для student» и «получить среднее этого студента». Оба помогают понять связь данных и поведения. Если метод никогда не использует состояние объекта, стоит подумать, не лучше ли обычная функция.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Зачем копировать входной список в __init__?</a:t>
            </a:r>
          </a:p>
          <a:p xmlns:a="http://schemas.openxmlformats.org/drawingml/2006/main">
            <a:r>
              <a:t>Ответ: Чтобы последующее изменение списка вызывающим кодом не изменяло оценки объекта.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4.5</a:t>
            </a:r>
          </a:p>
          <a:p xmlns:a="http://schemas.openxmlformats.org/drawingml/2006/main">
            <a:r>
              <a:t>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Зачем копировать входной список в __init__?</a:t>
            </a:r>
          </a:p>
          <a:p xmlns:a="http://schemas.openxmlformats.org/drawingml/2006/main">
            <a:r>
              <a:t>Чтобы последующее изменение списка вызывающим кодом не изменяло оценки объекта.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Объект должен создаваться с допустимыми данными. Если имя пустое, разумнее вызвать исключение при создании, чем получить объект, который позже невозможно корректно отобразить. Нормализацию выполняем до проверки окончательной пустоты: строка из пробелов после очистки не является именем.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Все публичные операции изменения также должны соблюдать правила. Проверка только в __init__ не защитит от добавления неверной оценки через метод. Поэтому общую проверку можно вынести во вспомогательную функцию и вызывать из конструктора и метода добавления. Это уменьшает вероятность расхождения правил.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учебном проекте атрибуты доступны напрямую, но пользователи класса обязаны менять оценки через add_grade и не менять student_id после включения в журнал. Это договорённость интерфейса. Полное ограничение доступа через свойства и неизменяемые объекты здесь не требуется, чтобы не перегружать тему.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проверка только при создании не гарантирует правильность будущих оценок?</a:t>
            </a:r>
          </a:p>
          <a:p xmlns:a="http://schemas.openxmlformats.org/drawingml/2006/main">
            <a:r>
              <a:t>Ответ: Позднее состояние меняется методами, и каждый такой вход также должен проверяться.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Анна Иванова</a:t>
            </a:r>
          </a:p>
          <a:p xmlns:a="http://schemas.openxmlformats.org/drawingml/2006/main">
            <a:r>
              <a:t>Пустое имя отклонено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Почему проверка только при создании не гарантирует правильность будущих оценок?</a:t>
            </a:r>
          </a:p>
          <a:p xmlns:a="http://schemas.openxmlformats.org/drawingml/2006/main">
            <a:r>
              <a:t>Позднее состояние меняется методами, и каждый такой вход также должен проверяться.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Атрибут, присвоенный внутри __init__ через self, принадлежит экземпляру. Изменяемая коллекция, объявленная прямо в теле класса, может оказаться общей для всех объектов. Это типичная ошибка: grades = [] на уровне класса выглядит удобно, но добавление оценки одним объектом становится видимым другим.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индивидуального состояния создаём self.grades = [] в конструкторе. Если начальные оценки передаются параметром, используем grades=None и внутри создаём новый список или копию. Не используем [] как значение параметра по умолчанию: он также может разделяться между вызовами.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Проверка независимости требует минимум двух объектов. Добавьте оценку одному, затем проверьте второй. Тест, создающий только один объект, не способен показать совместное использование состояния. Эта ситуация связывает знания о ссылках на коллекции со структурой классов.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Какой минимальный тест выявляет общий список оценок?</a:t>
            </a:r>
          </a:p>
          <a:p xmlns:a="http://schemas.openxmlformats.org/drawingml/2006/main">
            <a:r>
              <a:t>Ответ: Создать два объекта, изменить список первого и проверить неизменность списка второго.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[5] 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Какой минимальный тест выявляет общий список оценок?</a:t>
            </a:r>
          </a:p>
          <a:p xmlns:a="http://schemas.openxmlformats.org/drawingml/2006/main">
            <a:r>
              <a:t>Создать два объекта, изменить список первого и проверить неизменность списка второго.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Композиция означает, что один объект хранит другие объекты и использует их операции. GradeBook содержит студентов, индексированных по ID. Журнал отвечает за уникальность ID и поиск записи. Сам студент отвечает за допустимость своих оценок и расчёт среднего.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Разделение ответственности предотвращает дублирование: GradeBook.add_grade находит студента и вызывает его add_grade. Не нужно ещё раз вручную повторять весь алгоритм добавления в журнале. При изменении правила оценок достаточно обновить Student и его тесты.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короткой демонстрации используем метод get. В итоговом контракте он называется get_student. Имена учебных фрагментов не заменяют спецификацию проекта. Главное здесь — понять, как экземпляр GradeBook хранит ссылки на Student, а не только строки и числа.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Кто должен проверять диапазон оценки: Student или меню?</a:t>
            </a:r>
          </a:p>
          <a:p xmlns:a="http://schemas.openxmlformats.org/drawingml/2006/main">
            <a:r>
              <a:t>Ответ: Модель Student обязана защищать своё правило. Меню отдельно преобразует ввод и показывает сообщение об ошибке.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S01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Кто должен проверять диапазон оценки: Student или меню?</a:t>
            </a:r>
          </a:p>
          <a:p xmlns:a="http://schemas.openxmlformats.org/drawingml/2006/main">
            <a:r>
              <a:t>Модель Student обязана защищать своё правило. Меню отдельно преобразует ввод и показывает сообщение об ошибке.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json не знает, как сохранить произвольный Student. Поэтому объект предоставляет to_dict, возвращающий только простые сериализуемые значения. Схема словаря должна соответствовать формату файла: в семестровом проекте используются id, name, group и grades. При этом имя атрибута student_id может отличаться от ключа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Список оценок в возвращённом словаре копируем. Иначе вызывающий код сможет изменить состояние студента через подготовленный экспортный словарь. Обратное преобразование from_dict создаёт новый объект, а конструктор повторно проверяет значения. Это позволяет использовать одни и те же правила для ввода и файла.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from_dict удобно оформить через @classmethod. Его первый параметр cls обозначает сам класс, и cls(...) создаёт экземпляр. Для текущего курса достаточно этого простого применения. Не требуется углубляться в метаклассы или сложные фабрики.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Чем cls в classmethod отличается от self в обычном методе?</a:t>
            </a:r>
          </a:p>
          <a:p xmlns:a="http://schemas.openxmlformats.org/drawingml/2006/main">
            <a:r>
              <a:t>Ответ: cls обозначает класс, self — конкретный экземпляр этого класса.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{'name': 'Анна'}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Чем cls в classmethod отличается от self в обычном методе?</a:t>
            </a:r>
          </a:p>
          <a:p xmlns:a="http://schemas.openxmlformats.org/drawingml/2006/main">
            <a:r>
              <a:t>cls обозначает класс, self — конкретный экземпляр этого класса.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 класса проверяет и результаты методов, и изменение состояния. Сначала создаём объект с известными данными, выполняем одну операцию и сравниваем состояние или возвращаемое значение. Для неверной операции проверяем исключение и отсутствие изменения.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Особое внимание уделяем независимости: исходный список конструктора, другой экземпляр и словарь to_dict не должны неожиданно менять оценки студента. Журнал, напротив, хранит сам переданный объект Student: это явно описано в семестровом контракте. Нужно различать места, где требуется копия, и места, где общая ссылка является намеренной.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практике сначала реализуйте минимальный Student, затем добавляйте методы по одному и запускайте проверки. После этого переходите к GradeBook. Одновременная реализация всех файлов затрудняет локализацию ошибки и создаёт лишнюю нагрузку.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Нужно ли копировать Student при добавлении в GradeBook?</a:t>
            </a:r>
          </a:p>
          <a:p xmlns:a="http://schemas.openxmlformats.org/drawingml/2006/main">
            <a:r>
              <a:t>Ответ: В нашем итоговом контракте нет: журнал хранит переданный объект, и get_student возвращает его 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Метод изменил состояние по контракту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Нужно ли копировать Student при добавлении в GradeBook?</a:t>
            </a:r>
          </a:p>
          <a:p xmlns:a="http://schemas.openxmlformats.org/drawingml/2006/main">
            <a:r>
              <a:t>В нашем итоговом контракте нет: журнал хранит переданный объект, и get_student возвращает его 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Перенесите обработку одной записи в класс Student. Добавьте конструктор, add_grade, average и to_dict. Проверьте независимость двух экземпляров и сохранность входного списка.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Справочники: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lectures/06/README.md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https://docs.python.org/3/library/functions.html#classmethod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6889408ea4d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d64a1a08bf4cf6" /><Relationship Type="http://schemas.openxmlformats.org/officeDocument/2006/relationships/slideLayout" Target="/ppt/slideLayouts/slideLayout1.xml" Id="Rbbc0c4f53a0f4e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c0c4f53a0f4e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ea7bc9f3e4637" /><Relationship Type="http://schemas.openxmlformats.org/officeDocument/2006/relationships/notesSlide" Target="/ppt/notesSlides/notesSlide1.xml" Id="R28310676999c46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6882b61244231" /><Relationship Type="http://schemas.openxmlformats.org/officeDocument/2006/relationships/notesSlide" Target="/ppt/notesSlides/notesSlide2.xml" Id="Re36b465353ca47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fc742a9d34d7a" /><Relationship Type="http://schemas.openxmlformats.org/officeDocument/2006/relationships/notesSlide" Target="/ppt/notesSlides/notesSlide3.xml" Id="R09dc9c649cf84b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a4d475f99405e" /><Relationship Type="http://schemas.openxmlformats.org/officeDocument/2006/relationships/notesSlide" Target="/ppt/notesSlides/notesSlide4.xml" Id="R3a255eb86c8644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969a9645f4594" /><Relationship Type="http://schemas.openxmlformats.org/officeDocument/2006/relationships/notesSlide" Target="/ppt/notesSlides/notesSlide5.xml" Id="R2c72a27fce4245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46c3f9373478b" /><Relationship Type="http://schemas.openxmlformats.org/officeDocument/2006/relationships/notesSlide" Target="/ppt/notesSlides/notesSlide6.xml" Id="R4cecc0d758704e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ba04a88984072" /><Relationship Type="http://schemas.openxmlformats.org/officeDocument/2006/relationships/notesSlide" Target="/ppt/notesSlides/notesSlide7.xml" Id="R3590cd62440b49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f5c112250462a" /><Relationship Type="http://schemas.openxmlformats.org/officeDocument/2006/relationships/notesSlide" Target="/ppt/notesSlides/notesSlide8.xml" Id="R926d4903da9b40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baf05042b4656" /><Relationship Type="http://schemas.openxmlformats.org/officeDocument/2006/relationships/notesSlide" Target="/ppt/notesSlides/notesSlide9.xml" Id="Rb93976cc3af04b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5047a9e904e3b" /><Relationship Type="http://schemas.openxmlformats.org/officeDocument/2006/relationships/notesSlide" Target="/ppt/notesSlides/notesSlide10.xml" Id="R29937dfeddcd40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2e53bc7c9476a" /><Relationship Type="http://schemas.openxmlformats.org/officeDocument/2006/relationships/notesSlide" Target="/ppt/notesSlides/notesSlide11.xml" Id="R9638e9ba81b146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aede5936749ce" /><Relationship Type="http://schemas.openxmlformats.org/officeDocument/2006/relationships/notesSlide" Target="/ppt/notesSlides/notesSlide12.xml" Id="R66c8781099c947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626ea04134353" /><Relationship Type="http://schemas.openxmlformats.org/officeDocument/2006/relationships/notesSlide" Target="/ppt/notesSlides/notesSlide13.xml" Id="Re7ba4eed08f24b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8bec6327a4905" /><Relationship Type="http://schemas.openxmlformats.org/officeDocument/2006/relationships/notesSlide" Target="/ppt/notesSlides/notesSlide14.xml" Id="Rdbc3f563fac244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8bbfc413a47db" /><Relationship Type="http://schemas.openxmlformats.org/officeDocument/2006/relationships/notesSlide" Target="/ppt/notesSlides/notesSlide15.xml" Id="Ra6a2c71b12404d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48dbe22154163" /><Relationship Type="http://schemas.openxmlformats.org/officeDocument/2006/relationships/notesSlide" Target="/ppt/notesSlides/notesSlide16.xml" Id="Rf32f981503084e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9f37cd74a4998" /><Relationship Type="http://schemas.openxmlformats.org/officeDocument/2006/relationships/notesSlide" Target="/ppt/notesSlides/notesSlide17.xml" Id="R3388fc59a09949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D6965-8167-4A3C-9158-AEA6C9D7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3D6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D6C3"/>
                </a:solidFill>
                <a:latin typeface="Arial"/>
                <a:ea typeface="Arial"/>
                <a:cs typeface="Arial"/>
              </a:rPr>
              <a:t>PYTHON / 2 КУРС / ЛЕКЦИЯ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77823-C659-45BE-B760-19AAE775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Основы объектно-ориентированного программирования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ADDBA-C98E-4B0C-BE2E-4078340B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BDD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DE5"/>
                </a:solidFill>
                <a:latin typeface="Arial"/>
                <a:ea typeface="Arial"/>
                <a:cs typeface="Arial"/>
              </a:rPr>
              <a:t>Алгоритмизация и программирование</a:t>
            </a:r>
          </a:p>
          <a:p xmlns:a="http://schemas.openxmlformats.org/drawingml/2006/main">
            <a:pPr>
              <a:defRPr sz="2175" b="0">
                <a:solidFill>
                  <a:srgbClr val="CBDD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DE5"/>
                </a:solidFill>
                <a:latin typeface="Arial"/>
                <a:ea typeface="Arial"/>
                <a:cs typeface="Arial"/>
              </a:rPr>
              <a:t>Прикладной курс · 90 минут</a:t>
            </a:r>
          </a:p>
        </p:txBody>
      </p:sp>
    </p:spTree>
    <p:extLst>
      <p:ext uri="{BB962C8B-B14F-4D97-AF65-F5344CB8AC3E}">
        <p14:creationId xmlns:p14="http://schemas.microsoft.com/office/powerpoint/2010/main" val="1057486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74F07-83CA-45C8-949B-AB81BCCD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Результат занятия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1E766-C9BB-4C91-ABC1-B6706108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Создать независимые экземпляры класса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Объяснить self и назначение __init__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Проверять данные при создании объекта и добавлении оценки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Собрать класс-контейнер из объектов другого класса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6097F-FCE2-41A5-82C3-1109B739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2 из 17</a:t>
            </a:r>
          </a:p>
        </p:txBody>
      </p:sp>
    </p:spTree>
    <p:extLst>
      <p:ext uri="{BB962C8B-B14F-4D97-AF65-F5344CB8AC3E}">
        <p14:creationId xmlns:p14="http://schemas.microsoft.com/office/powerpoint/2010/main" val="176046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57666-9F87-47EE-9D8A-AB1E9EDC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Класс и объект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FF248-C72C-40FD-86C9-A54274F7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Класс описывает сущность, объект хранит конкретное состояние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self обозначает текущий экземпляр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__init__ задаёт начальные атрибуты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66D87-AA8F-4FBF-87F0-D90D784F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3 из 17</a:t>
            </a:r>
          </a:p>
        </p:txBody>
      </p:sp>
    </p:spTree>
    <p:extLst>
      <p:ext uri="{BB962C8B-B14F-4D97-AF65-F5344CB8AC3E}">
        <p14:creationId xmlns:p14="http://schemas.microsoft.com/office/powerpoint/2010/main" val="11934353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AA7E1-B196-43F8-B4CF-59DE71C7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Класс и объект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6BFD1-B0EB-401B-B1B3-4E256961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class Student: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def __init__(self, name):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self.name = name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self.grades = 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anna = Student("Анна")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boris = Student("Борис")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anna.grades.append(5)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print(anna.name, anna.grades)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print(boris.name, boris.grades)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2074B-D17F-47C0-A67D-16D0688B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4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11959362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FB0CF-3932-46D7-824D-B74486A7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Методы и ответственность объекта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3CD9A-2DEA-42DA-B2FB-24BE0F8B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Метод получает доступ к состоянию через self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Вычислительный контракт сохраняется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Модель не содержит интерактивного ввода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33ABB-51CF-4E79-BB8C-31BC127F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5 из 17</a:t>
            </a:r>
          </a:p>
        </p:txBody>
      </p:sp>
    </p:spTree>
    <p:extLst>
      <p:ext uri="{BB962C8B-B14F-4D97-AF65-F5344CB8AC3E}">
        <p14:creationId xmlns:p14="http://schemas.microsoft.com/office/powerpoint/2010/main" val="2969060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EA1B0-94CB-4C95-BBD0-D7689437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Методы и ответственность объекта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064A2-5E43-4540-A1F8-B25CD134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class Student: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def __init__(self, grades):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self.grades = grades.copy()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def average(self):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if not self.grades: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   return None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return sum(self.grades) / len(self.grades)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print(Student([4, 5]).average())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print(Student([]).average())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E59A7-C834-4BF2-91E4-7194A9DE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6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1187682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107DB-48F5-4EC2-BC3E-FE31A1DE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Проверка состояния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B4D19-D5CF-47DC-A570-4E22CC5D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Конструктор отклоняет неверные начальные данные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Методы изменения повторно проверяют вход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Правила обращения к атрибутам описываются в контракте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8983D-2FB5-4ED8-A03F-1AB3E37E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7 из 17</a:t>
            </a:r>
          </a:p>
        </p:txBody>
      </p:sp>
    </p:spTree>
    <p:extLst>
      <p:ext uri="{BB962C8B-B14F-4D97-AF65-F5344CB8AC3E}">
        <p14:creationId xmlns:p14="http://schemas.microsoft.com/office/powerpoint/2010/main" val="5263415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07627-61A7-4BC4-9B6C-4EB22643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Проверка состояния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9F3E3-C5EC-46BE-9C37-0022719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class Student: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def __init__(self, name):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if not isinstance(name, str) or not name.strip():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   raise ValueError("Имя не может быть пустым")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self.name = " ".join(name.split())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print(Student("  Анна   Иванова ").name)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try: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Student(" ")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except ValueError: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print("Пустое имя отклонено")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2C668-7A6D-4853-8D69-4932F244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8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9274272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57577-4106-40E8-8F04-B8550F42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Общие и индивидуальные атрибуты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DBDC0-DDF0-4930-BE84-DC08E8E6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Состояние экземпляра создаётся через self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Изменяемый атрибут класса может стать общим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Независимость проверяется на двух объектах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D87B6-FA3D-45C9-9B41-AA80EA16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9 из 17</a:t>
            </a:r>
          </a:p>
        </p:txBody>
      </p:sp>
    </p:spTree>
    <p:extLst>
      <p:ext uri="{BB962C8B-B14F-4D97-AF65-F5344CB8AC3E}">
        <p14:creationId xmlns:p14="http://schemas.microsoft.com/office/powerpoint/2010/main" val="17687975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7AD43-C1A5-4439-AC25-0A854040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Общие и индивидуальные атрибуты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01FB2-7ED6-4292-89E3-7EF017E6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class Student: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def __init__(self, grades=None):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self.grades = [] if grades is None else grades.copy()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a, b = Student(), Student()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a.grades.append(5)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assert b.grades == []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print(a.grades, b.grades)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200DD-C694-4B89-A336-F6F378FC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10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3467690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DF6B8-1EC1-4888-BD92-EC3582EE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Композиция: журнал содержит студентов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28E97-333E-4FB1-938E-F6398A96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Журнал управляет коллекцией студентов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Студент управляет собственными оценками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Одна операция делегирует часть работы другой сущности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B170B-2293-471E-A8CF-402FBBD4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11 из 17</a:t>
            </a:r>
          </a:p>
        </p:txBody>
      </p:sp>
    </p:spTree>
    <p:extLst>
      <p:ext uri="{BB962C8B-B14F-4D97-AF65-F5344CB8AC3E}">
        <p14:creationId xmlns:p14="http://schemas.microsoft.com/office/powerpoint/2010/main" val="15622679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DCA8F-CE07-4AF2-AFB1-F551CBCB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Композиция: журнал содержит студентов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0BD30-BA8C-4437-B9AB-5FF1DF6C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class Student: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def __init__(self, student_id):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self.student_id = student_id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class GradeBook: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def __init__(self):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self.students = {}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def add(self, student):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self.students[student.student_id] = student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book = GradeBook()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book.add(Student("S01"))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print(book.students["S01"].student_id)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AA817-88DD-473F-A445-A0AA755A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12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11773023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2CA7B-F92E-48D9-85C6-8DA410DD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Преобразование объекта в словарь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D1FF1-A14A-495F-AA57-AC5DEF98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to_dict возвращает простые значения для 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Вложенный список копируется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from_dict создаёт объект через обычный конструктор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F9FE8-6B5F-4342-B59A-359B1B08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13 из 17</a:t>
            </a:r>
          </a:p>
        </p:txBody>
      </p:sp>
    </p:spTree>
    <p:extLst>
      <p:ext uri="{BB962C8B-B14F-4D97-AF65-F5344CB8AC3E}">
        <p14:creationId xmlns:p14="http://schemas.microsoft.com/office/powerpoint/2010/main" val="10297508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71FE7-AA9A-45AF-9BCE-86C2BEAA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Преобразование объекта в словарь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F640D-DA2F-4C34-8DF9-E70D8909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class Student: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def __init__(self, name):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self.name = name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def to_dict(self):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return {"name": self.name}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@classmethod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def from_dict(cls, data):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return cls(data["name"])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student = Student.from_dict({"name": "Анна"})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print(student.to_dict())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064EE-5286-4A31-8132-ACF44E4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14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4332343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1CCA1-6DDA-43B6-A799-FF2896BB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Тестирование класса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DB825-6A36-4A65-B34A-7FEF982E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Проверяются результат и состояние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Копирование требуется только там, где его обещает контракт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Класс удобно развивать по одному методу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42595-B7BA-4A64-B7B9-194D60F0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15 из 17</a:t>
            </a:r>
          </a:p>
        </p:txBody>
      </p:sp>
    </p:spTree>
    <p:extLst>
      <p:ext uri="{BB962C8B-B14F-4D97-AF65-F5344CB8AC3E}">
        <p14:creationId xmlns:p14="http://schemas.microsoft.com/office/powerpoint/2010/main" val="15364718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E97F0-7583-476F-8A01-71865151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Тестирование класса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48769-F2AF-4D22-8678-C6474C4F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class Student: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def __init__(self):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self.grades = []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def add_grade(self, grade):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if type(grade) is not int or not 2 &lt;= grade &lt;= 5: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   raise ValueError("Неверная оценка")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self.grades.append(grade)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s = Student()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s.add_grade(5)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assert s.grades == [5]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print("Метод изменил состояние по контракту")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69C89-0E7F-413A-BB01-72BE10F7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16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8187043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17F74-3218-462C-905D-9310B5C8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Самопроверка и практика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8E75C-09A8-497D-A40E-8A6AD2BE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Зачем копировать входной список в __init__?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Кто должен проверять диапазон оценки: Student или меню?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Практики 11 и 12: применение материала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BB160-256E-4415-A124-9CA89036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6   /   17 из 17</a:t>
            </a:r>
          </a:p>
        </p:txBody>
      </p:sp>
    </p:spTree>
    <p:extLst>
      <p:ext uri="{BB962C8B-B14F-4D97-AF65-F5344CB8AC3E}">
        <p14:creationId xmlns:p14="http://schemas.microsoft.com/office/powerpoint/2010/main" val="1254700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2026-09-09T09:52:09.9270000Z</dcterms:created>
  <dcterms:modified xsi:type="dcterms:W3CDTF">2026-09-09T09:52:09.9270000Z</dcterms:modified>
</coreProperties>
</file>