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ab6c0335dc48ed" /><Relationship Type="http://schemas.openxmlformats.org/officeDocument/2006/relationships/extended-properties" Target="/docProps/app.xml" Id="R992ee96bcc1b4a68" /><Relationship Type="http://schemas.openxmlformats.org/officeDocument/2006/relationships/officeDocument" Target="/ppt/presentation.xml" Id="R971d27a2d4a543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c29b7dc95544ad"/>
  </p:sldMasterIdLst>
  <p:notesMasterIdLst>
    <p:notesMasterId xmlns:r="http://schemas.openxmlformats.org/officeDocument/2006/relationships" r:id="Rb7d63aad3f77486f"/>
  </p:notesMasterIdLst>
  <p:sldIdLst>
    <p:sldId xmlns:r="http://schemas.openxmlformats.org/officeDocument/2006/relationships" id="256" r:id="Rffaa5a5275184311"/>
    <p:sldId xmlns:r="http://schemas.openxmlformats.org/officeDocument/2006/relationships" id="257" r:id="R4a80b56f0c4e498c"/>
    <p:sldId xmlns:r="http://schemas.openxmlformats.org/officeDocument/2006/relationships" id="258" r:id="R7ef80baca5ea4b28"/>
    <p:sldId xmlns:r="http://schemas.openxmlformats.org/officeDocument/2006/relationships" id="259" r:id="R6891f6beec254ac9"/>
    <p:sldId xmlns:r="http://schemas.openxmlformats.org/officeDocument/2006/relationships" id="260" r:id="R125d9e81890147d5"/>
    <p:sldId xmlns:r="http://schemas.openxmlformats.org/officeDocument/2006/relationships" id="261" r:id="R2a210fe2721a43e5"/>
    <p:sldId xmlns:r="http://schemas.openxmlformats.org/officeDocument/2006/relationships" id="262" r:id="Rc40adaf5c7974eae"/>
    <p:sldId xmlns:r="http://schemas.openxmlformats.org/officeDocument/2006/relationships" id="263" r:id="Rf2b48da74b744a12"/>
    <p:sldId xmlns:r="http://schemas.openxmlformats.org/officeDocument/2006/relationships" id="264" r:id="R2d85329d57c047fd"/>
    <p:sldId xmlns:r="http://schemas.openxmlformats.org/officeDocument/2006/relationships" id="265" r:id="R9420fd55f9444f56"/>
    <p:sldId xmlns:r="http://schemas.openxmlformats.org/officeDocument/2006/relationships" id="266" r:id="R8cc6d22724824cf2"/>
    <p:sldId xmlns:r="http://schemas.openxmlformats.org/officeDocument/2006/relationships" id="267" r:id="R0c5be5c482a243ec"/>
    <p:sldId xmlns:r="http://schemas.openxmlformats.org/officeDocument/2006/relationships" id="268" r:id="R602438a626004103"/>
    <p:sldId xmlns:r="http://schemas.openxmlformats.org/officeDocument/2006/relationships" id="269" r:id="R8aab550dc02a48b3"/>
    <p:sldId xmlns:r="http://schemas.openxmlformats.org/officeDocument/2006/relationships" id="270" r:id="R3e276182be8b439d"/>
    <p:sldId xmlns:r="http://schemas.openxmlformats.org/officeDocument/2006/relationships" id="271" r:id="R9e50fc0b45b24efd"/>
    <p:sldId xmlns:r="http://schemas.openxmlformats.org/officeDocument/2006/relationships" id="272" r:id="R82eb448a533440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eaf9f87cf74745" /><Relationship Type="http://schemas.openxmlformats.org/officeDocument/2006/relationships/slideMaster" Target="/ppt/slideMasters/slideMaster1.xml" Id="Rd6c29b7dc95544ad" /><Relationship Type="http://schemas.openxmlformats.org/officeDocument/2006/relationships/notesMaster" Target="/ppt/notesMasters/notesMaster1.xml" Id="Rb7d63aad3f77486f" /><Relationship Type="http://schemas.openxmlformats.org/officeDocument/2006/relationships/presProps" Target="/ppt/presProps.xml" Id="Rbfaf1c0ceb814254" /><Relationship Type="http://schemas.openxmlformats.org/officeDocument/2006/relationships/tableStyles" Target="/ppt/tableStyles.xml" Id="R5a1b6cbbb33c4791" /><Relationship Type="http://schemas.openxmlformats.org/officeDocument/2006/relationships/slide" Target="/ppt/slides/slide1.xml" Id="Rffaa5a5275184311" /><Relationship Type="http://schemas.openxmlformats.org/officeDocument/2006/relationships/slide" Target="/ppt/slides/slide2.xml" Id="R4a80b56f0c4e498c" /><Relationship Type="http://schemas.openxmlformats.org/officeDocument/2006/relationships/slide" Target="/ppt/slides/slide3.xml" Id="R7ef80baca5ea4b28" /><Relationship Type="http://schemas.openxmlformats.org/officeDocument/2006/relationships/slide" Target="/ppt/slides/slide4.xml" Id="R6891f6beec254ac9" /><Relationship Type="http://schemas.openxmlformats.org/officeDocument/2006/relationships/slide" Target="/ppt/slides/slide5.xml" Id="R125d9e81890147d5" /><Relationship Type="http://schemas.openxmlformats.org/officeDocument/2006/relationships/slide" Target="/ppt/slides/slide6.xml" Id="R2a210fe2721a43e5" /><Relationship Type="http://schemas.openxmlformats.org/officeDocument/2006/relationships/slide" Target="/ppt/slides/slide7.xml" Id="Rc40adaf5c7974eae" /><Relationship Type="http://schemas.openxmlformats.org/officeDocument/2006/relationships/slide" Target="/ppt/slides/slide8.xml" Id="Rf2b48da74b744a12" /><Relationship Type="http://schemas.openxmlformats.org/officeDocument/2006/relationships/slide" Target="/ppt/slides/slide9.xml" Id="R2d85329d57c047fd" /><Relationship Type="http://schemas.openxmlformats.org/officeDocument/2006/relationships/slide" Target="/ppt/slides/slide10.xml" Id="R9420fd55f9444f56" /><Relationship Type="http://schemas.openxmlformats.org/officeDocument/2006/relationships/slide" Target="/ppt/slides/slide11.xml" Id="R8cc6d22724824cf2" /><Relationship Type="http://schemas.openxmlformats.org/officeDocument/2006/relationships/slide" Target="/ppt/slides/slide12.xml" Id="R0c5be5c482a243ec" /><Relationship Type="http://schemas.openxmlformats.org/officeDocument/2006/relationships/slide" Target="/ppt/slides/slide13.xml" Id="R602438a626004103" /><Relationship Type="http://schemas.openxmlformats.org/officeDocument/2006/relationships/slide" Target="/ppt/slides/slide14.xml" Id="R8aab550dc02a48b3" /><Relationship Type="http://schemas.openxmlformats.org/officeDocument/2006/relationships/slide" Target="/ppt/slides/slide15.xml" Id="R3e276182be8b439d" /><Relationship Type="http://schemas.openxmlformats.org/officeDocument/2006/relationships/slide" Target="/ppt/slides/slide16.xml" Id="R9e50fc0b45b24efd" /><Relationship Type="http://schemas.openxmlformats.org/officeDocument/2006/relationships/slide" Target="/ppt/slides/slide17.xml" Id="R82eb448a533440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61809e259c40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d81bf335bb42e1" /><Relationship Type="http://schemas.openxmlformats.org/officeDocument/2006/relationships/notesMaster" Target="/ppt/notesMasters/notesMaster1.xml" Id="R01d58e66e61140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3581c344ba4de3" /><Relationship Type="http://schemas.openxmlformats.org/officeDocument/2006/relationships/notesMaster" Target="/ppt/notesMasters/notesMaster1.xml" Id="R6a6a8d49933b46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2b42a5828d4796" /><Relationship Type="http://schemas.openxmlformats.org/officeDocument/2006/relationships/notesMaster" Target="/ppt/notesMasters/notesMaster1.xml" Id="R2bb536a1c73b40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e0952b422e4d3d" /><Relationship Type="http://schemas.openxmlformats.org/officeDocument/2006/relationships/notesMaster" Target="/ppt/notesMasters/notesMaster1.xml" Id="Rca7b52f96d2c4a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d5ead0f3e2483d" /><Relationship Type="http://schemas.openxmlformats.org/officeDocument/2006/relationships/notesMaster" Target="/ppt/notesMasters/notesMaster1.xml" Id="Rc465b8d162974a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7ae267f0f14b74" /><Relationship Type="http://schemas.openxmlformats.org/officeDocument/2006/relationships/notesMaster" Target="/ppt/notesMasters/notesMaster1.xml" Id="Rc3b2b0afb33e4f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f8d86ba9884eaf" /><Relationship Type="http://schemas.openxmlformats.org/officeDocument/2006/relationships/notesMaster" Target="/ppt/notesMasters/notesMaster1.xml" Id="R1314960ff59d4e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3825b2c11946fb" /><Relationship Type="http://schemas.openxmlformats.org/officeDocument/2006/relationships/notesMaster" Target="/ppt/notesMasters/notesMaster1.xml" Id="R5d864a9b3d5548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7f34855e2f42d7" /><Relationship Type="http://schemas.openxmlformats.org/officeDocument/2006/relationships/notesMaster" Target="/ppt/notesMasters/notesMaster1.xml" Id="R991d8b4b75b745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d074d950654de8" /><Relationship Type="http://schemas.openxmlformats.org/officeDocument/2006/relationships/notesMaster" Target="/ppt/notesMasters/notesMaster1.xml" Id="R0c77849c962b4e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d1a46cd4ac427c" /><Relationship Type="http://schemas.openxmlformats.org/officeDocument/2006/relationships/notesMaster" Target="/ppt/notesMasters/notesMaster1.xml" Id="R3471a03fe93045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8ef59f7ef146ff" /><Relationship Type="http://schemas.openxmlformats.org/officeDocument/2006/relationships/notesMaster" Target="/ppt/notesMasters/notesMaster1.xml" Id="R7f47aaa4c69842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fad58aa8a84404" /><Relationship Type="http://schemas.openxmlformats.org/officeDocument/2006/relationships/notesMaster" Target="/ppt/notesMasters/notesMaster1.xml" Id="Rd39089b4c85049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45b9f81bee4de6" /><Relationship Type="http://schemas.openxmlformats.org/officeDocument/2006/relationships/notesMaster" Target="/ppt/notesMasters/notesMaster1.xml" Id="Racadd18e2ce949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f5788c8fad420e" /><Relationship Type="http://schemas.openxmlformats.org/officeDocument/2006/relationships/notesMaster" Target="/ppt/notesMasters/notesMaster1.xml" Id="R749f2cc3f4bd4c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e94cfe90ea4d2f" /><Relationship Type="http://schemas.openxmlformats.org/officeDocument/2006/relationships/notesMaster" Target="/ppt/notesMasters/notesMaster1.xml" Id="R6da54c97a0e747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c363ef1c96419b" /><Relationship Type="http://schemas.openxmlformats.org/officeDocument/2006/relationships/notesMaster" Target="/ppt/notesMasters/notesMaster1.xml" Id="R845e7acb88f84e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Строки уже изучались на первом курсе. Здесь методы строк объединяются в последовательность обработки: исходный текст, нормализация, выделение элементов, анализ, отчёт.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lectures/03/README.md</a:t>
            </a:r>
          </a:p>
          <a:p xmlns:a="http://schemas.openxmlformats.org/drawingml/2006/main">
            <a:r>
              <a:t>https://docs.python.org/3/library/stdtypes.html#text-sequence-type-str</a:t>
            </a:r>
          </a:p>
          <a:p xmlns:a="http://schemas.openxmlformats.org/drawingml/2006/main">
            <a:r>
              <a:t>https://docs.python.org/3/tutorial/datastructures.html#sets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Преобразовывать неоднородные строки в согласованные данные и строить простые текстовые отчёты.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lectures/03/README.md</a:t>
            </a:r>
          </a:p>
          <a:p xmlns:a="http://schemas.openxmlformats.org/drawingml/2006/main">
            <a:r>
              <a:t>https://docs.python.org/3/library/stdtypes.html#text-sequence-type-str</a:t>
            </a:r>
          </a:p>
          <a:p xmlns:a="http://schemas.openxmlformats.org/drawingml/2006/main">
            <a:r>
              <a:t>https://docs.python.org/3/tutorial/datastructures.html#sets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Нормализация приводит разные записи к выбранному общему виду. Для ФИО в нашем журнале удаляем пробелы по краям и заменяем любую последовательность пробельных символов одним обычным пробелом. Регистр сохраняем: автоматический title может неправильно изменить составные имена и аббревиатуры. Правило должно соответствовать назначению поля.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Выражение " ".join(text.split()) сначала получает слова, разделённые произвольными пробельными символами, затем соединяет их одним пробелом. Оно обрабатывает табуляцию и перевод строки. strip убирает только пробельные символы по краям, поэтому для внутренних повторов его недостаточно.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Очистка не должна незаметно выдумывать отсутствующие данные. Пустое имя после очистки остаётся пустым и позднее будет отклонено проверкой. Также нельзя удалять все пробелы из имени: «Анна Мария» и «АннаМария» будут разными значениями. Сначала формулируем правило, затем выбираем методы.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strip недостаточно для имени с двумя внутренними пробелами?</a:t>
            </a:r>
          </a:p>
          <a:p xmlns:a="http://schemas.openxmlformats.org/drawingml/2006/main">
            <a:r>
              <a:t>Ответ: Он работает только с краями строки и оставляет повторяющиеся пробелы внутри.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lectures/03/README.md</a:t>
            </a:r>
          </a:p>
          <a:p xmlns:a="http://schemas.openxmlformats.org/drawingml/2006/main">
            <a:r>
              <a:t>https://docs.python.org/3/library/stdtypes.html#text-sequence-type-str</a:t>
            </a:r>
          </a:p>
          <a:p xmlns:a="http://schemas.openxmlformats.org/drawingml/2006/main">
            <a:r>
              <a:t>https://docs.python.org/3/tutorial/datastructures.html#sets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Анна Иванова</a:t>
            </a:r>
          </a:p>
          <a:p xmlns:a="http://schemas.openxmlformats.org/drawingml/2006/main">
            <a:r>
              <a:t>''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Почему strip недостаточно для имени с двумя внутренними пробелами?</a:t>
            </a:r>
          </a:p>
          <a:p xmlns:a="http://schemas.openxmlformats.org/drawingml/2006/main">
            <a:r>
              <a:t>Он работает только с краями строки и оставляет повторяющиеся пробелы внутри.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lectures/03/README.md</a:t>
            </a:r>
          </a:p>
          <a:p xmlns:a="http://schemas.openxmlformats.org/drawingml/2006/main">
            <a:r>
              <a:t>https://docs.python.org/3/library/stdtypes.html#text-sequence-type-str</a:t>
            </a:r>
          </a:p>
          <a:p xmlns:a="http://schemas.openxmlformats.org/drawingml/2006/main">
            <a:r>
              <a:t>https://docs.python.org/3/tutorial/datastructures.html#sets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поиска удобно сравнивать нормализованные копии строк. Метод casefold создаёт строку для сопоставления без учёта регистра. Исходное имя сохраняем и возвращаем пользователю в исходном оформлении. Важно применять одно правило к обеим сторонам: и к запросу, и к имени.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Оператор in для строк проверяет вхождение подстроки. Это не поиск целого слова: запрос «ан» может совпасть с разными именами. Такое поведение подходит для простого справочника, если описано в задании. Пустая строка содержится в любой строке, поэтому пустой запрос нужно обработать отдельно. В нашем курсе пустой запрос возвращает пустой список.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Разделите нормализацию имени и нормализацию запроса. Для имени удаляем повторяющиеся пробелы. Для запроса в семестровом контракте достаточно strip и casefold. Если вводить дополнительные преобразования, надо согласовать их с ожидаемыми результатами.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без проверки пустоты результат будет содержать все имена?</a:t>
            </a:r>
          </a:p>
          <a:p xmlns:a="http://schemas.openxmlformats.org/drawingml/2006/main">
            <a:r>
              <a:t>Ответ: Пустая строка является подстрокой любой строки в Python.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lectures/03/README.md</a:t>
            </a:r>
          </a:p>
          <a:p xmlns:a="http://schemas.openxmlformats.org/drawingml/2006/main">
            <a:r>
              <a:t>https://docs.python.org/3/library/stdtypes.html#text-sequence-type-str</a:t>
            </a:r>
          </a:p>
          <a:p xmlns:a="http://schemas.openxmlformats.org/drawingml/2006/main">
            <a:r>
              <a:t>https://docs.python.org/3/tutorial/datastructures.html#sets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['Анна', 'Антон']</a:t>
            </a:r>
          </a:p>
          <a:p xmlns:a="http://schemas.openxmlformats.org/drawingml/2006/main">
            <a:r>
              <a:t>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Почему без проверки пустоты результат будет содержать все имена?</a:t>
            </a:r>
          </a:p>
          <a:p xmlns:a="http://schemas.openxmlformats.org/drawingml/2006/main">
            <a:r>
              <a:t>Пустая строка является подстрокой любой строки в Python.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lectures/03/README.md</a:t>
            </a:r>
          </a:p>
          <a:p xmlns:a="http://schemas.openxmlformats.org/drawingml/2006/main">
            <a:r>
              <a:t>https://docs.python.org/3/library/stdtypes.html#text-sequence-type-str</a:t>
            </a:r>
          </a:p>
          <a:p xmlns:a="http://schemas.openxmlformats.org/drawingml/2006/main">
            <a:r>
              <a:t>https://docs.python.org/3/tutorial/datastructures.html#sets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учебного анализатора определим слово как непрерывную последовательность символов, для которых isalpha возвращает True. Всё остальное заменяем пробелом. Полученную строку разбиваем через split. Это правило просто проверить, и оно работает с русскими буквами без ручного перечисления алфавита.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Правило является учебной договорённостью. Оно разбивает «кто-то» на два слова и исключает цифры из слов. Если программе требуется сохранить дефисы или номера моделей, алгоритм нужно изменить вместе с тестами. Не называйте простую токенизацию полноценным лингвистическим анализом: она не объединяет формы «студент» и «студенты».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Заменять разделители пробелами безопаснее, чем удалять: текст «кот,пёс» должен превратиться в два слова, а не в «котпёс». На этом примере хорошо видно, почему короткий код не всегда отражает правильное правило обработки.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удаление запятой в кот,пёс даёт ошибочный результат?</a:t>
            </a:r>
          </a:p>
          <a:p xmlns:a="http://schemas.openxmlformats.org/drawingml/2006/main">
            <a:r>
              <a:t>Ответ: Границы слов исчезнут, и два слова объединятся в одно.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lectures/03/README.md</a:t>
            </a:r>
          </a:p>
          <a:p xmlns:a="http://schemas.openxmlformats.org/drawingml/2006/main">
            <a:r>
              <a:t>https://docs.python.org/3/library/stdtypes.html#text-sequence-type-str</a:t>
            </a:r>
          </a:p>
          <a:p xmlns:a="http://schemas.openxmlformats.org/drawingml/2006/main">
            <a:r>
              <a:t>https://docs.python.org/3/tutorial/datastructures.html#sets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['кот', 'пёс', 'кот']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Почему удаление запятой в кот,пёс даёт ошибочный результат?</a:t>
            </a:r>
          </a:p>
          <a:p xmlns:a="http://schemas.openxmlformats.org/drawingml/2006/main">
            <a:r>
              <a:t>Границы слов исчезнут, и два слова объединятся в одно.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lectures/03/README.md</a:t>
            </a:r>
          </a:p>
          <a:p xmlns:a="http://schemas.openxmlformats.org/drawingml/2006/main">
            <a:r>
              <a:t>https://docs.python.org/3/library/stdtypes.html#text-sequence-type-str</a:t>
            </a:r>
          </a:p>
          <a:p xmlns:a="http://schemas.openxmlformats.org/drawingml/2006/main">
            <a:r>
              <a:t>https://docs.python.org/3/tutorial/datastructures.html#sets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выделения слов можно считать, сколько раз встречается каждое значение. Используем словарь: ключ — слово, значение — число появлений. При каждом слове увеличиваем счётчик. Частотный анализ работает с уже подготовленным списком, поэтому не должен повторно очищать текст внутри каждой итерации.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Обсудите два разных показателя: число слов — длина списка, число различных слов — длина частотного словаря. Для «кот кот пёс» это 3 и 2. Такое различие полезно во многих задачах: число покупок и число разных товаров, число обращений и число уникальных пользователей.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стандартной библиотеке есть Counter, но сначала реализуем алгоритм вручную, чтобы понять накопление результата. После практики можно показать Counter как готовый инструмент с тем же назначением. Самостоятельное объяснение цикла важнее запоминания одной короткой команды.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вернёт функция для пустого списка?</a:t>
            </a:r>
          </a:p>
          <a:p xmlns:a="http://schemas.openxmlformats.org/drawingml/2006/main">
            <a:r>
              <a:t>Ответ: Пустой словарь: цикл не выполнится, а начальный результат останется пустым.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lectures/03/README.md</a:t>
            </a:r>
          </a:p>
          <a:p xmlns:a="http://schemas.openxmlformats.org/drawingml/2006/main">
            <a:r>
              <a:t>https://docs.python.org/3/library/stdtypes.html#text-sequence-type-str</a:t>
            </a:r>
          </a:p>
          <a:p xmlns:a="http://schemas.openxmlformats.org/drawingml/2006/main">
            <a:r>
              <a:t>https://docs.python.org/3/tutorial/datastructures.html#sets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{'кот': 2, 'пёс': 1}</a:t>
            </a:r>
          </a:p>
          <a:p xmlns:a="http://schemas.openxmlformats.org/drawingml/2006/main">
            <a:r>
              <a:t>3 2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Что вернёт функция для пустого списка?</a:t>
            </a:r>
          </a:p>
          <a:p xmlns:a="http://schemas.openxmlformats.org/drawingml/2006/main">
            <a:r>
              <a:t>Пустой словарь: цикл не выполнится, а начальный результат останется пустым.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lectures/03/README.md</a:t>
            </a:r>
          </a:p>
          <a:p xmlns:a="http://schemas.openxmlformats.org/drawingml/2006/main">
            <a:r>
              <a:t>https://docs.python.org/3/library/stdtypes.html#text-sequence-type-str</a:t>
            </a:r>
          </a:p>
          <a:p xmlns:a="http://schemas.openxmlformats.org/drawingml/2006/main">
            <a:r>
              <a:t>https://docs.python.org/3/tutorial/datastructures.html#sets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списка самых частых слов сначала превращаем словарь в пары слово–частота через items. Затем сортируем по убыванию частоты. В ключе сортировки удобно использовать отрицательное число: большее исходное значение станет меньшим отрицательным. Вторым элементом ключа используем слово, чтобы при одинаковой частоте порядок был определён.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[:limit] берёт первые limit элементов. В упражнении отдельно договоримся, что при limit &lt;= 0 результат пустой. Без этого отрицательный предел среза означал бы удаление нескольких элементов с конца, что не соответствует смыслу «не показывать ни одного слова».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Детерминированный порядок нужен не только для тестов: два запуска на одинаковых данных должны выдавать одинаковый понятный отчёт. Если при равной частоте требовалось бы сохранять порядок первого появления, это был бы другой контракт. В нашем варианте используется лексикографическое сравнение строк Python.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Зачем второй ключ, если частоты уже отсортированы?</a:t>
            </a:r>
          </a:p>
          <a:p xmlns:a="http://schemas.openxmlformats.org/drawingml/2006/main">
            <a:r>
              <a:t>Ответ: Он задаёт однозначный порядок для слов с одинаковой частотой.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lectures/03/README.md</a:t>
            </a:r>
          </a:p>
          <a:p xmlns:a="http://schemas.openxmlformats.org/drawingml/2006/main">
            <a:r>
              <a:t>https://docs.python.org/3/library/stdtypes.html#text-sequence-type-str</a:t>
            </a:r>
          </a:p>
          <a:p xmlns:a="http://schemas.openxmlformats.org/drawingml/2006/main">
            <a:r>
              <a:t>https://docs.python.org/3/tutorial/datastructures.html#sets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[('кот', 3), ('дом', 2)]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Зачем второй ключ, если частоты уже отсортированы?</a:t>
            </a:r>
          </a:p>
          <a:p xmlns:a="http://schemas.openxmlformats.org/drawingml/2006/main">
            <a:r>
              <a:t>Он задаёт однозначный порядок для слов с одинаковой частотой.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lectures/03/README.md</a:t>
            </a:r>
          </a:p>
          <a:p xmlns:a="http://schemas.openxmlformats.org/drawingml/2006/main">
            <a:r>
              <a:t>https://docs.python.org/3/library/stdtypes.html#text-sequence-type-str</a:t>
            </a:r>
          </a:p>
          <a:p xmlns:a="http://schemas.openxmlformats.org/drawingml/2006/main">
            <a:r>
              <a:t>https://docs.python.org/3/tutorial/datastructures.html#sets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Множество удобно для проверки, встречалось ли значение раньше. Однако простое преобразование списка в set не выражает требование сохранить порядок первых появлений. Поэтому используем одновременно список результата и множество уже встреченных ключей.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каждого имени вычисляем нормализованный ключ. Если ключ ещё не встречался, добавляем его в seen и сохраняем отображаемое имя в result. Если встречался — пропускаем запись. Пустые значения после очистки тоже пропускаем. Так можно считать « Анна » и «АННА» одной записью, сохранив оформление первого появления.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реальной базе одинаковые имена не доказывают, что речь об одном человеке. Здесь удаляем дубли текстовых строк как отдельное упражнение. В семестровом журнале идентичность определяется ID, и автоматически объединять студентов по имени нельзя.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не следует применять это правило для удаления студентов из журнала?</a:t>
            </a:r>
          </a:p>
          <a:p xmlns:a="http://schemas.openxmlformats.org/drawingml/2006/main">
            <a:r>
              <a:t>Ответ: Разные студенты могут иметь одинаковые имена. Для записей журнала нужен уникальный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lectures/03/README.md</a:t>
            </a:r>
          </a:p>
          <a:p xmlns:a="http://schemas.openxmlformats.org/drawingml/2006/main">
            <a:r>
              <a:t>https://docs.python.org/3/library/stdtypes.html#text-sequence-type-str</a:t>
            </a:r>
          </a:p>
          <a:p xmlns:a="http://schemas.openxmlformats.org/drawingml/2006/main">
            <a:r>
              <a:t>https://docs.python.org/3/tutorial/datastructures.html#sets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['Анна', 'Борис']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Почему не следует применять это правило для удаления студентов из журнала?</a:t>
            </a:r>
          </a:p>
          <a:p xmlns:a="http://schemas.openxmlformats.org/drawingml/2006/main">
            <a:r>
              <a:t>Разные студенты могут иметь одинаковые имена. Для записей журнала нужен уникальный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lectures/03/README.md</a:t>
            </a:r>
          </a:p>
          <a:p xmlns:a="http://schemas.openxmlformats.org/drawingml/2006/main">
            <a:r>
              <a:t>https://docs.python.org/3/library/stdtypes.html#text-sequence-type-str</a:t>
            </a:r>
          </a:p>
          <a:p xmlns:a="http://schemas.openxmlformats.org/drawingml/2006/main">
            <a:r>
              <a:t>https://docs.python.org/3/tutorial/datastructures.html#sets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Текстовую задачу удобно организовать как несколько этапов: очистка, выделение элементов, анализ, представление результата. У каждого этапа свой вход и выход. Тогда ошибку можно локализовать: если частоты неверны, сначала посмотрим на список слов, а затем на подсчёт.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примеров заранее составляем таблицу ожидаемых результатов. Обязательно включаем пустую строку, строку только из разделителей, разный регистр, повторяющиеся слова и случай без пробела после знака препинания. Не ограничиваемся большим произвольным текстом: на нём сложно вручную проверить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При обработке файлов позднее нужно будет различать ошибку чтения и пустое содержимое. Пустой текст является корректным входом анализатора. Это правило позволит использовать те же функции и в консоли, и после чтения файла без дополнительных специальных случаев.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полезно тестировать строку только из знаков препинания?</a:t>
            </a:r>
          </a:p>
          <a:p xmlns:a="http://schemas.openxmlformats.org/drawingml/2006/main">
            <a:r>
              <a:t>Ответ: Она проверяет, что анализатор возвращает пустой список слов и не создаёт ложных токенов.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lectures/03/README.md</a:t>
            </a:r>
          </a:p>
          <a:p xmlns:a="http://schemas.openxmlformats.org/drawingml/2006/main">
            <a:r>
              <a:t>https://docs.python.org/3/library/stdtypes.html#text-sequence-type-str</a:t>
            </a:r>
          </a:p>
          <a:p xmlns:a="http://schemas.openxmlformats.org/drawingml/2006/main">
            <a:r>
              <a:t>https://docs.python.org/3/tutorial/datastructures.html#sets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Проверка нормализации завершена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Почему полезно тестировать строку только из знаков препинания?</a:t>
            </a:r>
          </a:p>
          <a:p xmlns:a="http://schemas.openxmlformats.org/drawingml/2006/main">
            <a:r>
              <a:t>Она проверяет, что анализатор возвращает пустой список слов и не создаёт ложных токенов.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lectures/03/README.md</a:t>
            </a:r>
          </a:p>
          <a:p xmlns:a="http://schemas.openxmlformats.org/drawingml/2006/main">
            <a:r>
              <a:t>https://docs.python.org/3/library/stdtypes.html#text-sequence-type-str</a:t>
            </a:r>
          </a:p>
          <a:p xmlns:a="http://schemas.openxmlformats.org/drawingml/2006/main">
            <a:r>
              <a:t>https://docs.python.org/3/tutorial/datastructures.html#sets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Составьте 10 коротких входов для анализатора текста и заранее запишите ожидаемые слова и частоты. Реализуйте обработку и объясните поведение дефиса, цифр и буквы ё.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Справочники:</a:t>
            </a:r>
          </a:p>
          <a:p xmlns:a="http://schemas.openxmlformats.org/drawingml/2006/main">
            <a:r>
              <a:t>https://docs.python.org/3/library/stdtypes.html#text-sequence-type-str</a:t>
            </a:r>
          </a:p>
          <a:p xmlns:a="http://schemas.openxmlformats.org/drawingml/2006/main">
            <a:r>
              <a:t>https://docs.python.org/3/tutorial/datastructures.html#sets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lectures/03/README.md</a:t>
            </a:r>
          </a:p>
          <a:p xmlns:a="http://schemas.openxmlformats.org/drawingml/2006/main">
            <a:r>
              <a:t>https://docs.python.org/3/library/stdtypes.html#text-sequence-type-str</a:t>
            </a:r>
          </a:p>
          <a:p xmlns:a="http://schemas.openxmlformats.org/drawingml/2006/main">
            <a:r>
              <a:t>https://docs.python.org/3/tutorial/datastructures.html#sets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7d44b53d749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c5da63e12f4e31" /><Relationship Type="http://schemas.openxmlformats.org/officeDocument/2006/relationships/slideLayout" Target="/ppt/slideLayouts/slideLayout1.xml" Id="R929a0b8e30e64f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9a0b8e30e64f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f82742a0849b7" /><Relationship Type="http://schemas.openxmlformats.org/officeDocument/2006/relationships/notesSlide" Target="/ppt/notesSlides/notesSlide1.xml" Id="Raf776492d1ee43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fc5d3b6e04439" /><Relationship Type="http://schemas.openxmlformats.org/officeDocument/2006/relationships/notesSlide" Target="/ppt/notesSlides/notesSlide2.xml" Id="R95b3ec313bf741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b7cd1b52b494f" /><Relationship Type="http://schemas.openxmlformats.org/officeDocument/2006/relationships/notesSlide" Target="/ppt/notesSlides/notesSlide3.xml" Id="R1519334dc26b41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0ab91c19546e8" /><Relationship Type="http://schemas.openxmlformats.org/officeDocument/2006/relationships/notesSlide" Target="/ppt/notesSlides/notesSlide4.xml" Id="R7b961432092249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37510d6964c9e" /><Relationship Type="http://schemas.openxmlformats.org/officeDocument/2006/relationships/notesSlide" Target="/ppt/notesSlides/notesSlide5.xml" Id="Re990461a84bf40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d5d2f11934ae3" /><Relationship Type="http://schemas.openxmlformats.org/officeDocument/2006/relationships/notesSlide" Target="/ppt/notesSlides/notesSlide6.xml" Id="Reff7337c6c314c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40da579ef41ec" /><Relationship Type="http://schemas.openxmlformats.org/officeDocument/2006/relationships/notesSlide" Target="/ppt/notesSlides/notesSlide7.xml" Id="R04638f89afe745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01c8b3dfe42ee" /><Relationship Type="http://schemas.openxmlformats.org/officeDocument/2006/relationships/notesSlide" Target="/ppt/notesSlides/notesSlide8.xml" Id="R72ac85b44c484f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4742ce6b048a0" /><Relationship Type="http://schemas.openxmlformats.org/officeDocument/2006/relationships/notesSlide" Target="/ppt/notesSlides/notesSlide9.xml" Id="Ra3da796db3a245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bc4babc6c4023" /><Relationship Type="http://schemas.openxmlformats.org/officeDocument/2006/relationships/notesSlide" Target="/ppt/notesSlides/notesSlide10.xml" Id="Rd49e765551b042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7adaf69404b8b" /><Relationship Type="http://schemas.openxmlformats.org/officeDocument/2006/relationships/notesSlide" Target="/ppt/notesSlides/notesSlide11.xml" Id="Ra7238d71daf043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d653ef36742cb" /><Relationship Type="http://schemas.openxmlformats.org/officeDocument/2006/relationships/notesSlide" Target="/ppt/notesSlides/notesSlide12.xml" Id="R27d3306f232f46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51084968447ed" /><Relationship Type="http://schemas.openxmlformats.org/officeDocument/2006/relationships/notesSlide" Target="/ppt/notesSlides/notesSlide13.xml" Id="Re0a07eb2d8884b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26e8e4d5d4eae" /><Relationship Type="http://schemas.openxmlformats.org/officeDocument/2006/relationships/notesSlide" Target="/ppt/notesSlides/notesSlide14.xml" Id="R2d3b5d94e6e746d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9b622d8bf4437" /><Relationship Type="http://schemas.openxmlformats.org/officeDocument/2006/relationships/notesSlide" Target="/ppt/notesSlides/notesSlide15.xml" Id="R973c864dc1694b4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3567312234aac" /><Relationship Type="http://schemas.openxmlformats.org/officeDocument/2006/relationships/notesSlide" Target="/ppt/notesSlides/notesSlide16.xml" Id="Rfc44a7622ef54ff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e62798bfe4f38" /><Relationship Type="http://schemas.openxmlformats.org/officeDocument/2006/relationships/notesSlide" Target="/ppt/notesSlides/notesSlide17.xml" Id="R11404c8cf8ac4f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F3AA7-4EE8-4C6F-B11D-9DDA3409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3D6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D6C3"/>
                </a:solidFill>
                <a:latin typeface="Arial"/>
                <a:ea typeface="Arial"/>
                <a:cs typeface="Arial"/>
              </a:rPr>
              <a:t>PYTHON / 2 КУРС / ЛЕКЦИЯ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F0F80-8C16-4927-8F16-60170696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Обработка текста и очистка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7772D-53C2-4CBB-B87D-E557F5EF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BDDE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DE5"/>
                </a:solidFill>
                <a:latin typeface="Arial"/>
                <a:ea typeface="Arial"/>
                <a:cs typeface="Arial"/>
              </a:rPr>
              <a:t>Алгоритмизация и программирование</a:t>
            </a:r>
          </a:p>
          <a:p xmlns:a="http://schemas.openxmlformats.org/drawingml/2006/main">
            <a:pPr>
              <a:defRPr sz="2175" b="0">
                <a:solidFill>
                  <a:srgbClr val="CBDDE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DE5"/>
                </a:solidFill>
                <a:latin typeface="Arial"/>
                <a:ea typeface="Arial"/>
                <a:cs typeface="Arial"/>
              </a:rPr>
              <a:t>Прикладной курс · 90 минут</a:t>
            </a:r>
          </a:p>
        </p:txBody>
      </p:sp>
    </p:spTree>
    <p:extLst>
      <p:ext uri="{BB962C8B-B14F-4D97-AF65-F5344CB8AC3E}">
        <p14:creationId xmlns:p14="http://schemas.microsoft.com/office/powerpoint/2010/main" val="1942498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5A9F3-547F-42B5-BE43-A3CB3481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Результат занятия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742FF-8322-41A1-A45A-9F144B9C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Нормализовать пробелы и регистр по явному правилу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Разделить текст на слова без внешних библиотек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Подсчитать частоты и выбрать самые частые слова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Находить дубли с сохранением порядка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45D2D-9792-40C1-8AB9-8F654732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3   /   2 из 17</a:t>
            </a:r>
          </a:p>
        </p:txBody>
      </p:sp>
    </p:spTree>
    <p:extLst>
      <p:ext uri="{BB962C8B-B14F-4D97-AF65-F5344CB8AC3E}">
        <p14:creationId xmlns:p14="http://schemas.microsoft.com/office/powerpoint/2010/main" val="1048887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63603-F181-4B1F-9934-63E2E1A1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Правила нормализации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A0B58-2CB9-4434-ADB3-7D8D6DDD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Нормализация зависит от назначения поля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split без аргумента учитывает разные пробелы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Регистр отображаемого имени сохраняется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B4853-34F9-41E5-8A0D-D395752E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3   /   3 из 17</a:t>
            </a:r>
          </a:p>
        </p:txBody>
      </p:sp>
    </p:spTree>
    <p:extLst>
      <p:ext uri="{BB962C8B-B14F-4D97-AF65-F5344CB8AC3E}">
        <p14:creationId xmlns:p14="http://schemas.microsoft.com/office/powerpoint/2010/main" val="7404469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17E24-B0CB-4A41-84B7-0C1F8CA4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Правила нормализации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A8ADF-5284-4FA1-8DEB-872DA21F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def normalize_name(text):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return " ".join(text.split())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print(normalize_name("  Анна\t  Иванова\n"))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print(repr(normalize_name(" \t ")))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CF96D-7AA1-49C6-A32E-2BFEA6EE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3   /   4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5806459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C6DD9-1FD1-45BF-9A57-A4ADB880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Сравнение без учёта регистра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CD2FB-E9DC-491A-94CE-5FF5BF04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Нормализуются обе стороны сравнения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Подстрока может совпасть с частью слова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Пустой запрос обрабатывается отдельно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92A9F-8DE9-4EAA-A5D1-D0E33EE2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3   /   5 из 17</a:t>
            </a:r>
          </a:p>
        </p:txBody>
      </p:sp>
    </p:spTree>
    <p:extLst>
      <p:ext uri="{BB962C8B-B14F-4D97-AF65-F5344CB8AC3E}">
        <p14:creationId xmlns:p14="http://schemas.microsoft.com/office/powerpoint/2010/main" val="3876009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C8A66-8D10-4AA7-97FC-601DDE64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Сравнение без учёта регистра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94007-7E77-4C1E-A42C-CB83E22E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def find_names(names, query):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query = query.strip().casefold()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if not query: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return []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return [name for name in names if query in name.casefold()]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print(find_names(["Анна", "Борис", "Антон"], " АН "))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print(find_names(["Анна"], " "))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64947-FD55-4B45-94FC-B146F3BA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3   /   6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9998213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45A63-B925-432D-96B0-8D172D67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Выделение слов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8F14E-BDC4-4549-8067-631EF135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Слово определяется явным правилом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Разделители заменяются пробелами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Формы одного слова пока считаются отдельно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79E36-A1DF-4AC5-BC7B-24692D83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3   /   7 из 17</a:t>
            </a:r>
          </a:p>
        </p:txBody>
      </p:sp>
    </p:spTree>
    <p:extLst>
      <p:ext uri="{BB962C8B-B14F-4D97-AF65-F5344CB8AC3E}">
        <p14:creationId xmlns:p14="http://schemas.microsoft.com/office/powerpoint/2010/main" val="7683648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0A539-FAC0-420C-95A0-2CCB39B7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Выделение слов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0D6E5-4A16-4BBF-B06E-0F6B18C7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def tokenize(text):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chars = []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for char in text.casefold():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chars.append(char if char.isalpha() else " ")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return "".join(chars).split()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print(tokenize("Кот,пёс! КОТ-2."))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80735-19A1-429E-844E-DDA646DC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3   /   8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313738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20628-BCB8-482B-9601-80BCD6C4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Частотный словарь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5A23F-3268-483D-BBD7-F2382E9A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Ключом является подготовленное слово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Счётчик начинается с нуля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Общее количество и число уникальных слов различаются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98593-F3D3-4E98-B2C4-AEA013F8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3   /   9 из 17</a:t>
            </a:r>
          </a:p>
        </p:txBody>
      </p:sp>
    </p:spTree>
    <p:extLst>
      <p:ext uri="{BB962C8B-B14F-4D97-AF65-F5344CB8AC3E}">
        <p14:creationId xmlns:p14="http://schemas.microsoft.com/office/powerpoint/2010/main" val="5790856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5C84A-0E35-49AB-8966-EFF3B7CD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Частотный словарь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13B8D-7DF1-4F4F-8D39-AEAA24BA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def frequencies(words):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counts = {}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for word in words: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counts[word] = counts.get(word, 0) + 1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return counts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words = ["кот", "кот", "пёс"]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counts = frequencies(words)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print(counts)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print(len(words), len(counts))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F9C22-1E31-472C-9A4D-71201864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3   /   10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1570873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D0CF1-9B6E-48A4-9310-E9B700BF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Топ слов и устойчивое правило порядка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B5709-2816-4BD4-AD4C-365191BB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Первый ключ задаёт убывание частоты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Второй ключ разрешает равенство частот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Нулевой и отрицательный лимит дают пустой список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2744D-80A3-475D-8BEC-F48B95DC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3   /   11 из 17</a:t>
            </a:r>
          </a:p>
        </p:txBody>
      </p:sp>
    </p:spTree>
    <p:extLst>
      <p:ext uri="{BB962C8B-B14F-4D97-AF65-F5344CB8AC3E}">
        <p14:creationId xmlns:p14="http://schemas.microsoft.com/office/powerpoint/2010/main" val="3002412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43718-120F-4BCD-9A46-465912B3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Топ слов и устойчивое правило порядка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F40E8-C7F6-48CF-8E23-F9B86B29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def top_words(counts, limit):</a:t>
            </a:r>
          </a:p>
          <a:p xmlns:a="http://schemas.openxmlformats.org/drawingml/2006/main">
            <a:pPr>
              <a:def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if limit &lt;= 0:</a:t>
            </a:r>
          </a:p>
          <a:p xmlns:a="http://schemas.openxmlformats.org/drawingml/2006/main">
            <a:pPr>
              <a:def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return []</a:t>
            </a:r>
          </a:p>
          <a:p xmlns:a="http://schemas.openxmlformats.org/drawingml/2006/main">
            <a:pPr>
              <a:def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pairs = sorted(counts.items(), key=lambda pair: (-pair[1], pair[0]))</a:t>
            </a:r>
          </a:p>
          <a:p xmlns:a="http://schemas.openxmlformats.org/drawingml/2006/main">
            <a:pPr>
              <a:def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return pairs[:limit]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print(top_words({"пёс": 2, "кот": 3, "дом": 2}, 2))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23A95-CABB-4C59-91F6-E846C35E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3   /   12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5479660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2299F-072A-4109-B42A-2105D695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Удаление дублей с сохранением порядка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E0A0D-716B-48DC-8AFD-D875C219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Множество хранит уже встреченные ключи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Список сохраняет порядок первых появлений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Дубль текста не означает одного и того же человека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9AE0D-894E-44ED-BFBF-F8243748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3   /   13 из 17</a:t>
            </a:r>
          </a:p>
        </p:txBody>
      </p:sp>
    </p:spTree>
    <p:extLst>
      <p:ext uri="{BB962C8B-B14F-4D97-AF65-F5344CB8AC3E}">
        <p14:creationId xmlns:p14="http://schemas.microsoft.com/office/powerpoint/2010/main" val="3290128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7A390-351D-4D38-B769-ADD85180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Удаление дублей с сохранением порядка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8E8EB-33D9-4B42-8FD7-02AF63CF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def unique_names(names):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result, seen = [], set()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for raw in names: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name = " ".join(raw.split())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key = name.casefold()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if name and key not in seen: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    seen.add(key)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    result.append(name)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return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print(unique_names([" Анна ", "Борис", "АННА", ""]))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D9078-5671-488A-8404-3FEF64FD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3   /   14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5127596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44F13-612B-48FD-AC94-B44A2F68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Последовательность обработки и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C9B28-D519-4F4A-9E29-89CC1751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Каждый этап имеет собственный результат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Короткие входы удобнее проверять вручную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Пустой текст является допустимым входом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4D4E0-85ED-4AAA-A350-4DD96509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3   /   15 из 17</a:t>
            </a:r>
          </a:p>
        </p:txBody>
      </p:sp>
    </p:spTree>
    <p:extLst>
      <p:ext uri="{BB962C8B-B14F-4D97-AF65-F5344CB8AC3E}">
        <p14:creationId xmlns:p14="http://schemas.microsoft.com/office/powerpoint/2010/main" val="14277277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9CDBD-CD3E-40E9-88B6-8562B4B9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Последовательность обработки и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2EA55-85D9-46C2-9918-54128669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def normalize_name(text):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return " ".join(text.split())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cases = [("  Анна   Иванова ", "Анна Иванова"),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 ("\t\n", ""), ("Борис", "Борис")]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for source, expected in cases: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assert normalize_name(source) == expected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print("Проверка нормализации завершена")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820FD-B2B2-419A-A2A0-7E705FD2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3   /   16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8648959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FE563-9BA8-40EF-B1CB-94AE08FF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Самопроверка и практика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CCEC8-7435-423C-80F7-BE763E67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Почему без проверки пустоты результат будет содержать все имена?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Зачем второй ключ, если частоты уже отсортированы?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Практики 5 и 6: применение материала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B9B91-9494-41C0-90BD-5AD10063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3   /   17 из 17</a:t>
            </a:r>
          </a:p>
        </p:txBody>
      </p:sp>
    </p:spTree>
    <p:extLst>
      <p:ext uri="{BB962C8B-B14F-4D97-AF65-F5344CB8AC3E}">
        <p14:creationId xmlns:p14="http://schemas.microsoft.com/office/powerpoint/2010/main" val="1902627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2026-09-09T09:52:05.2020000Z</dcterms:created>
  <dcterms:modified xsi:type="dcterms:W3CDTF">2026-09-09T09:52:05.2020000Z</dcterms:modified>
</coreProperties>
</file>