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52535b9cb04183" /><Relationship Type="http://schemas.openxmlformats.org/officeDocument/2006/relationships/extended-properties" Target="/docProps/app.xml" Id="Rba327022963e4f30" /><Relationship Type="http://schemas.openxmlformats.org/officeDocument/2006/relationships/officeDocument" Target="/ppt/presentation.xml" Id="R631a5a2df7c9405b" /></Relationships>
</file>

<file path=ppt/presentation.xml><?xml version="1.0" encoding="utf-8"?>
<p:presentation xmlns:p="http://schemas.openxmlformats.org/presentationml/2006/main">
  <p:sldMasterIdLst>
    <p:sldMasterId xmlns:r="http://schemas.openxmlformats.org/officeDocument/2006/relationships" id="2147483648" r:id="R3b94c5014ec34265"/>
  </p:sldMasterIdLst>
  <p:notesMasterIdLst>
    <p:notesMasterId xmlns:r="http://schemas.openxmlformats.org/officeDocument/2006/relationships" r:id="R87d08ea79efe4b79"/>
  </p:notesMasterIdLst>
  <p:sldIdLst>
    <p:sldId xmlns:r="http://schemas.openxmlformats.org/officeDocument/2006/relationships" id="256" r:id="Rcbfde4803ac04dab"/>
    <p:sldId xmlns:r="http://schemas.openxmlformats.org/officeDocument/2006/relationships" id="257" r:id="Rae7c1e4ff9344a4f"/>
    <p:sldId xmlns:r="http://schemas.openxmlformats.org/officeDocument/2006/relationships" id="258" r:id="Ra1efc59d853d4777"/>
    <p:sldId xmlns:r="http://schemas.openxmlformats.org/officeDocument/2006/relationships" id="259" r:id="R4ee3606da3644c63"/>
    <p:sldId xmlns:r="http://schemas.openxmlformats.org/officeDocument/2006/relationships" id="260" r:id="R1e0590b729864663"/>
    <p:sldId xmlns:r="http://schemas.openxmlformats.org/officeDocument/2006/relationships" id="261" r:id="R1341624ddb064e4f"/>
    <p:sldId xmlns:r="http://schemas.openxmlformats.org/officeDocument/2006/relationships" id="262" r:id="R2455e92378a0458d"/>
    <p:sldId xmlns:r="http://schemas.openxmlformats.org/officeDocument/2006/relationships" id="263" r:id="R27c0c78c60c44c3d"/>
    <p:sldId xmlns:r="http://schemas.openxmlformats.org/officeDocument/2006/relationships" id="264" r:id="R39f7468607bd49d3"/>
    <p:sldId xmlns:r="http://schemas.openxmlformats.org/officeDocument/2006/relationships" id="265" r:id="R0ceb49860e5a4b2a"/>
    <p:sldId xmlns:r="http://schemas.openxmlformats.org/officeDocument/2006/relationships" id="266" r:id="R54134df1c393409d"/>
    <p:sldId xmlns:r="http://schemas.openxmlformats.org/officeDocument/2006/relationships" id="267" r:id="R84fc8516966b43ca"/>
    <p:sldId xmlns:r="http://schemas.openxmlformats.org/officeDocument/2006/relationships" id="268" r:id="Rb0371501a2744c46"/>
    <p:sldId xmlns:r="http://schemas.openxmlformats.org/officeDocument/2006/relationships" id="269" r:id="Rfb075d446ec74dcd"/>
    <p:sldId xmlns:r="http://schemas.openxmlformats.org/officeDocument/2006/relationships" id="270" r:id="R1a686801846043ab"/>
    <p:sldId xmlns:r="http://schemas.openxmlformats.org/officeDocument/2006/relationships" id="271" r:id="R261430ae68ff408c"/>
    <p:sldId xmlns:r="http://schemas.openxmlformats.org/officeDocument/2006/relationships" id="272" r:id="R69a87dbd9af341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96d42e28274a95" /><Relationship Type="http://schemas.openxmlformats.org/officeDocument/2006/relationships/slideMaster" Target="/ppt/slideMasters/slideMaster1.xml" Id="R3b94c5014ec34265" /><Relationship Type="http://schemas.openxmlformats.org/officeDocument/2006/relationships/notesMaster" Target="/ppt/notesMasters/notesMaster1.xml" Id="R87d08ea79efe4b79" /><Relationship Type="http://schemas.openxmlformats.org/officeDocument/2006/relationships/presProps" Target="/ppt/presProps.xml" Id="Rc092f93d2a4748fc" /><Relationship Type="http://schemas.openxmlformats.org/officeDocument/2006/relationships/tableStyles" Target="/ppt/tableStyles.xml" Id="R290e9f946611469b" /><Relationship Type="http://schemas.openxmlformats.org/officeDocument/2006/relationships/slide" Target="/ppt/slides/slide1.xml" Id="Rcbfde4803ac04dab" /><Relationship Type="http://schemas.openxmlformats.org/officeDocument/2006/relationships/slide" Target="/ppt/slides/slide2.xml" Id="Rae7c1e4ff9344a4f" /><Relationship Type="http://schemas.openxmlformats.org/officeDocument/2006/relationships/slide" Target="/ppt/slides/slide3.xml" Id="Ra1efc59d853d4777" /><Relationship Type="http://schemas.openxmlformats.org/officeDocument/2006/relationships/slide" Target="/ppt/slides/slide4.xml" Id="R4ee3606da3644c63" /><Relationship Type="http://schemas.openxmlformats.org/officeDocument/2006/relationships/slide" Target="/ppt/slides/slide5.xml" Id="R1e0590b729864663" /><Relationship Type="http://schemas.openxmlformats.org/officeDocument/2006/relationships/slide" Target="/ppt/slides/slide6.xml" Id="R1341624ddb064e4f" /><Relationship Type="http://schemas.openxmlformats.org/officeDocument/2006/relationships/slide" Target="/ppt/slides/slide7.xml" Id="R2455e92378a0458d" /><Relationship Type="http://schemas.openxmlformats.org/officeDocument/2006/relationships/slide" Target="/ppt/slides/slide8.xml" Id="R27c0c78c60c44c3d" /><Relationship Type="http://schemas.openxmlformats.org/officeDocument/2006/relationships/slide" Target="/ppt/slides/slide9.xml" Id="R39f7468607bd49d3" /><Relationship Type="http://schemas.openxmlformats.org/officeDocument/2006/relationships/slide" Target="/ppt/slides/slide10.xml" Id="R0ceb49860e5a4b2a" /><Relationship Type="http://schemas.openxmlformats.org/officeDocument/2006/relationships/slide" Target="/ppt/slides/slide11.xml" Id="R54134df1c393409d" /><Relationship Type="http://schemas.openxmlformats.org/officeDocument/2006/relationships/slide" Target="/ppt/slides/slide12.xml" Id="R84fc8516966b43ca" /><Relationship Type="http://schemas.openxmlformats.org/officeDocument/2006/relationships/slide" Target="/ppt/slides/slide13.xml" Id="Rb0371501a2744c46" /><Relationship Type="http://schemas.openxmlformats.org/officeDocument/2006/relationships/slide" Target="/ppt/slides/slide14.xml" Id="Rfb075d446ec74dcd" /><Relationship Type="http://schemas.openxmlformats.org/officeDocument/2006/relationships/slide" Target="/ppt/slides/slide15.xml" Id="R1a686801846043ab" /><Relationship Type="http://schemas.openxmlformats.org/officeDocument/2006/relationships/slide" Target="/ppt/slides/slide16.xml" Id="R261430ae68ff408c" /><Relationship Type="http://schemas.openxmlformats.org/officeDocument/2006/relationships/slide" Target="/ppt/slides/slide17.xml" Id="R69a87dbd9af341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c6c756074047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7c4c39271a42c6" /><Relationship Type="http://schemas.openxmlformats.org/officeDocument/2006/relationships/notesMaster" Target="/ppt/notesMasters/notesMaster1.xml" Id="Rca389e1eba184c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15be8c4a0e48d4" /><Relationship Type="http://schemas.openxmlformats.org/officeDocument/2006/relationships/notesMaster" Target="/ppt/notesMasters/notesMaster1.xml" Id="R544f074247774a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549e9f69284f16" /><Relationship Type="http://schemas.openxmlformats.org/officeDocument/2006/relationships/notesMaster" Target="/ppt/notesMasters/notesMaster1.xml" Id="R0c61792bd60a44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476c5bb22544d8" /><Relationship Type="http://schemas.openxmlformats.org/officeDocument/2006/relationships/notesMaster" Target="/ppt/notesMasters/notesMaster1.xml" Id="R9872bd440b6848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e76a6c49b949e3" /><Relationship Type="http://schemas.openxmlformats.org/officeDocument/2006/relationships/notesMaster" Target="/ppt/notesMasters/notesMaster1.xml" Id="Re0cedeefcb4148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fc4de088e646f1" /><Relationship Type="http://schemas.openxmlformats.org/officeDocument/2006/relationships/notesMaster" Target="/ppt/notesMasters/notesMaster1.xml" Id="R217a3e99b9124d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b6945aed7541be" /><Relationship Type="http://schemas.openxmlformats.org/officeDocument/2006/relationships/notesMaster" Target="/ppt/notesMasters/notesMaster1.xml" Id="R52805d98197843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af0f02c3514dd6" /><Relationship Type="http://schemas.openxmlformats.org/officeDocument/2006/relationships/notesMaster" Target="/ppt/notesMasters/notesMaster1.xml" Id="Rdc0e81a8dc0f46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646f6c30154717" /><Relationship Type="http://schemas.openxmlformats.org/officeDocument/2006/relationships/notesMaster" Target="/ppt/notesMasters/notesMaster1.xml" Id="R350d011e1e1f41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c51608e1a34b6e" /><Relationship Type="http://schemas.openxmlformats.org/officeDocument/2006/relationships/notesMaster" Target="/ppt/notesMasters/notesMaster1.xml" Id="R1ec1fdc6a4984d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6995e50dcf4847" /><Relationship Type="http://schemas.openxmlformats.org/officeDocument/2006/relationships/notesMaster" Target="/ppt/notesMasters/notesMaster1.xml" Id="R08369f7a86cc4a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0e958388f840cc" /><Relationship Type="http://schemas.openxmlformats.org/officeDocument/2006/relationships/notesMaster" Target="/ppt/notesMasters/notesMaster1.xml" Id="R781ad916b6874e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e8277cf1f040bf" /><Relationship Type="http://schemas.openxmlformats.org/officeDocument/2006/relationships/notesMaster" Target="/ppt/notesMasters/notesMaster1.xml" Id="R1cc0994f798543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cc9c68c4274489" /><Relationship Type="http://schemas.openxmlformats.org/officeDocument/2006/relationships/notesMaster" Target="/ppt/notesMasters/notesMaster1.xml" Id="R2cd5eae1889b4a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eaabf4447d4e39" /><Relationship Type="http://schemas.openxmlformats.org/officeDocument/2006/relationships/notesMaster" Target="/ppt/notesMasters/notesMaster1.xml" Id="R8357a2a8c24f4d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d8f1e0a1d04086" /><Relationship Type="http://schemas.openxmlformats.org/officeDocument/2006/relationships/notesMaster" Target="/ppt/notesMasters/notesMaster1.xml" Id="R6d888afa2acc42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16c3b85337e46c6" /><Relationship Type="http://schemas.openxmlformats.org/officeDocument/2006/relationships/notesMaster" Target="/ppt/notesMasters/notesMaster1.xml" Id="Re22ee446494a4f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предыдущих занятиях большинство функций получали корректные входы. Теперь добавляем явную проверку пользовательских и файловых данных и заменяем ручное наблюдение повторяемыми тестами.</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Предсказуемо обрабатывать неверные данные и подтверждать корректность программы тестами.</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Синтаксическая ошибка не позволяет разобрать программу. Ошибка выполнения возникает во время конкретной операции, например при int("пять"). Логическая ошибка может не вызвать исключения: программа вычисляет неверное среднее, но успешно завершает работу. Для последнего случая нужен известный ожидаемый результат.</a:t>
            </a:r>
          </a:p>
          <a:p xmlns:a="http://schemas.openxmlformats.org/drawingml/2006/main">
            <a:r>
              <a:t/>
            </a:r>
          </a:p>
          <a:p xmlns:a="http://schemas.openxmlformats.org/drawingml/2006/main">
            <a:r>
              <a:t>Traceback показывает цепочку вызовов и место исключения. Начинайте с последней строки: тип и сообщение. Затем найдите ближайшую строку своего кода. Не пытайтесь исправлять всё сразу. Воспроизведите проблему на коротком входе, определите неверное предположение, внесите изменение и повторите тот же случай.</a:t>
            </a:r>
          </a:p>
          <a:p xmlns:a="http://schemas.openxmlformats.org/drawingml/2006/main">
            <a:r>
              <a:t/>
            </a:r>
          </a:p>
          <a:p xmlns:a="http://schemas.openxmlformats.org/drawingml/2006/main">
            <a:r>
              <a:t>Печать промежуточных значений полезна в начале обучения, но после исправления отладочный вывод стоит убрать. Иначе тесты и интерфейс будут засорены. При наличии отладчика можно поставить точку останова и посмотреть значения переменных, не меняя программу.</a:t>
            </a:r>
          </a:p>
          <a:p xmlns:a="http://schemas.openxmlformats.org/drawingml/2006/main">
            <a:r>
              <a:t/>
            </a:r>
          </a:p>
          <a:p xmlns:a="http://schemas.openxmlformats.org/drawingml/2006/main">
            <a:r>
              <a:t>Вопрос: Какой тест обнаружит среднее, посчитанное через деление на len(grades)+1?</a:t>
            </a:r>
          </a:p>
          <a:p xmlns:a="http://schemas.openxmlformats.org/drawingml/2006/main">
            <a:r>
              <a:t>Ответ: Тест с вручную вычисленным ожидаемым средним, например [4, 4] должно давать 4.</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ValueError</a:t>
            </a:r>
          </a:p>
          <a:p xmlns:a="http://schemas.openxmlformats.org/drawingml/2006/main">
            <a:r>
              <a:t>Нужно целое число, например 5</a:t>
            </a:r>
          </a:p>
          <a:p xmlns:a="http://schemas.openxmlformats.org/drawingml/2006/main">
            <a:r>
              <a:t/>
            </a:r>
          </a:p>
          <a:p xmlns:a="http://schemas.openxmlformats.org/drawingml/2006/main">
            <a:r>
              <a:t>Какой тест обнаружит среднее, посчитанное через деление на len(grades)+1?</a:t>
            </a:r>
          </a:p>
          <a:p xmlns:a="http://schemas.openxmlformats.org/drawingml/2006/main">
            <a:r>
              <a:t>Тест с вручную вычисленным ожидаемым средним, например [4, 4] должно давать 4.</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Функция должна явно сообщать, что вход не соответствует контракту. ValueError подходит для недопустимого значения. В учебном API мы также договорились использовать его для неподходящего типа входного поля, чтобы новичкам было проще соблюдать один контракт валидации. Это выбранное правило проекта, а не универсальное требование Python.</a:t>
            </a:r>
          </a:p>
          <a:p xmlns:a="http://schemas.openxmlformats.org/drawingml/2006/main">
            <a:r>
              <a:t/>
            </a:r>
          </a:p>
          <a:p xmlns:a="http://schemas.openxmlformats.org/drawingml/2006/main">
            <a:r>
              <a:t>Оценка допускается только как целое число 2–5. isinstance(True, int) возвращает True, поэтому для этой проверки используем type(value) is int. Преобразование строки "4" в число относится к интерфейсу, а не к модели. Модель принимает уже подготовленное значение и не угадывает намерение вызывающего кода.</a:t>
            </a:r>
          </a:p>
          <a:p xmlns:a="http://schemas.openxmlformats.org/drawingml/2006/main">
            <a:r>
              <a:t/>
            </a:r>
          </a:p>
          <a:p xmlns:a="http://schemas.openxmlformats.org/drawingml/2006/main">
            <a:r>
              <a:t>Исключение нужно вызвать до изменения данных. Если сначала добавить оценку, а затем проверить диапазон, после ошибки в списке останется неверное значение. Такое повреждение состояния часто проявляется далеко от исходного места ошибки.</a:t>
            </a:r>
          </a:p>
          <a:p xmlns:a="http://schemas.openxmlformats.org/drawingml/2006/main">
            <a:r>
              <a:t/>
            </a:r>
          </a:p>
          <a:p xmlns:a="http://schemas.openxmlformats.org/drawingml/2006/main">
            <a:r>
              <a:t>Вопрос: Почему int(value) внутри модели может скрыть ошибку?</a:t>
            </a:r>
          </a:p>
          <a:p xmlns:a="http://schemas.openxmlformats.org/drawingml/2006/main">
            <a:r>
              <a:t>Ответ: Он может превратить строку или логическое значение в число, хотя контракт требует исходное целое значение.</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4</a:t>
            </a:r>
          </a:p>
          <a:p xmlns:a="http://schemas.openxmlformats.org/drawingml/2006/main">
            <a:r>
              <a:t>Логическое значение отклонено</a:t>
            </a:r>
          </a:p>
          <a:p xmlns:a="http://schemas.openxmlformats.org/drawingml/2006/main">
            <a:r>
              <a:t/>
            </a:r>
          </a:p>
          <a:p xmlns:a="http://schemas.openxmlformats.org/drawingml/2006/main">
            <a:r>
              <a:t>Почему int(value) внутри модели может скрыть ошибку?</a:t>
            </a:r>
          </a:p>
          <a:p xmlns:a="http://schemas.openxmlformats.org/drawingml/2006/main">
            <a:r>
              <a:t>Он может превратить строку или логическое значение в число, хотя контракт требует исходное целое значение.</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Низкоуровневая функция сообщает об ошибке через исключение. Интерфейс перехватывает ожидаемый тип и показывает понятное сообщение, после чего может повторить действие. Не следует перехватывать все исключения без разбора: так ошибка программирования замаскируется под обычный неверный ввод.</a:t>
            </a:r>
          </a:p>
          <a:p xmlns:a="http://schemas.openxmlformats.org/drawingml/2006/main">
            <a:r>
              <a:t/>
            </a:r>
          </a:p>
          <a:p xmlns:a="http://schemas.openxmlformats.org/drawingml/2006/main">
            <a:r>
              <a:t>try должен охватывать тот небольшой участок, где ожидается конкретная ошибка. В примере обработка ввода работает со строками и вызывает чистую функцию parse_grade. Число за пределами диапазона тоже приводит к ValueError. Для пользователя достаточно понятного сообщения, а разработчик сохраняет конкретный контракт.</a:t>
            </a:r>
          </a:p>
          <a:p xmlns:a="http://schemas.openxmlformats.org/drawingml/2006/main">
            <a:r>
              <a:t/>
            </a:r>
          </a:p>
          <a:p xmlns:a="http://schemas.openxmlformats.org/drawingml/2006/main">
            <a:r>
              <a:t>Не используйте except: pass. Он молча скрывает проблему, и пользователь не понимает, сработала ли команда. Если ошибку нельзя исправить на текущем уровне, разрешите ей подняться выше либо добавьте пояснение через raise ... from error. В семестровом меню перехватываются ValueError, KeyError и OSError.</a:t>
            </a:r>
          </a:p>
          <a:p xmlns:a="http://schemas.openxmlformats.org/drawingml/2006/main">
            <a:r>
              <a:t/>
            </a:r>
          </a:p>
          <a:p xmlns:a="http://schemas.openxmlformats.org/drawingml/2006/main">
            <a:r>
              <a:t>Вопрос: Почему не стоит оборачивать всю программу в except Exception с сообщением «Неверный ввод»?</a:t>
            </a:r>
          </a:p>
          <a:p xmlns:a="http://schemas.openxmlformats.org/drawingml/2006/main">
            <a:r>
              <a:t>Ответ: Так будут скрыты собственные ошибки программы, не связанные с вводом пользователя.</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4</a:t>
            </a:r>
          </a:p>
          <a:p xmlns:a="http://schemas.openxmlformats.org/drawingml/2006/main">
            <a:r>
              <a:t>Введите целое число от 2 до 5</a:t>
            </a:r>
          </a:p>
          <a:p xmlns:a="http://schemas.openxmlformats.org/drawingml/2006/main">
            <a:r>
              <a:t>Введите целое число от 2 до 5</a:t>
            </a:r>
          </a:p>
          <a:p xmlns:a="http://schemas.openxmlformats.org/drawingml/2006/main">
            <a:r>
              <a:t/>
            </a:r>
          </a:p>
          <a:p xmlns:a="http://schemas.openxmlformats.org/drawingml/2006/main">
            <a:r>
              <a:t>Почему не стоит оборачивать всю программу в except Exception с сообщением «Неверный ввод»?</a:t>
            </a:r>
          </a:p>
          <a:p xmlns:a="http://schemas.openxmlformats.org/drawingml/2006/main">
            <a:r>
              <a:t>Так будут скрыты собственные ошибки программы, не связанные с вводом пользователя.</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Тест состоит из подготовки, действия и проверки. Сначала выбираем вход и ожидаемый результат, затем вызываем функцию и сравниваем результат. Ожидание должно следовать из задания и ручного расчёта. Если вычислить его той же формулой с той же ошибкой, тест даст ложное чувство уверенности.</a:t>
            </a:r>
          </a:p>
          <a:p xmlns:a="http://schemas.openxmlformats.org/drawingml/2006/main">
            <a:r>
              <a:t/>
            </a:r>
          </a:p>
          <a:p xmlns:a="http://schemas.openxmlformats.org/drawingml/2006/main">
            <a:r>
              <a:t>Разбейте входы на категории: обычный случай, пустые данные, границы диапазона, неверные значения и типы. Для оценок отдельные категории — 2 и 5, значения ниже и выше, строка, float и bool. Для списка стоит проверить независимость от исходного контейнера. Один большой сценарий не заменяет небольшие проверки разных правил.</a:t>
            </a:r>
          </a:p>
          <a:p xmlns:a="http://schemas.openxmlformats.org/drawingml/2006/main">
            <a:r>
              <a:t/>
            </a:r>
          </a:p>
          <a:p xmlns:a="http://schemas.openxmlformats.org/drawingml/2006/main">
            <a:r>
              <a:t>Сравнение чисел с плавающей точкой иногда требует допуска. assertAlmostEqual подходит для среднего, а строки CSV нужно сравнивать точно, потому что формат двух знаков входит в контракт. Выбор проверки зависит от вида результата.</a:t>
            </a:r>
          </a:p>
          <a:p xmlns:a="http://schemas.openxmlformats.org/drawingml/2006/main">
            <a:r>
              <a:t/>
            </a:r>
          </a:p>
          <a:p xmlns:a="http://schemas.openxmlformats.org/drawingml/2006/main">
            <a:r>
              <a:t>Вопрос: Почему тест [4, 4] полезен даже при наличии теста [5, 4, 5]?</a:t>
            </a:r>
          </a:p>
          <a:p xmlns:a="http://schemas.openxmlformats.org/drawingml/2006/main">
            <a:r>
              <a:t>Ответ: Он даёт простой точный ожидаемый результат и помогает обнаружить ошибки делителя без сложного ручного расчёта.</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Обычный, граничный и пустой случаи проверены</a:t>
            </a:r>
          </a:p>
          <a:p xmlns:a="http://schemas.openxmlformats.org/drawingml/2006/main">
            <a:r>
              <a:t/>
            </a:r>
          </a:p>
          <a:p xmlns:a="http://schemas.openxmlformats.org/drawingml/2006/main">
            <a:r>
              <a:t>Почему тест [4, 4] полезен даже при наличии теста [5, 4, 5]?</a:t>
            </a:r>
          </a:p>
          <a:p xmlns:a="http://schemas.openxmlformats.org/drawingml/2006/main">
            <a:r>
              <a:t>Он даёт простой точный ожидаемый результат и помогает обнаружить ошибки делителя без сложного ручного расчёта.</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unittest входит в стандартную библиотеку. Тесты оформляются методами класса, наследующего unittest.TestCase. Имена методов начинаются с test_. Проверки assertEqual, assertIsNone и assertRaises дают понятные сообщения о несовпадении. Запуск discovery собирает тесты из файлов test_*.py.</a:t>
            </a:r>
          </a:p>
          <a:p xmlns:a="http://schemas.openxmlformats.org/drawingml/2006/main">
            <a:r>
              <a:t/>
            </a:r>
          </a:p>
          <a:p xmlns:a="http://schemas.openxmlformats.org/drawingml/2006/main">
            <a:r>
              <a:t>В каждом тесте желательно проверять одно правило, хотя для его проверки может понадобиться несколько утверждений. Название test_empty_average сообщает больше, чем test_1. При нескольких сходных входах subTest позволяет показать, на каком значении возникла ошибка, не останавливая остальные подслучаи.</a:t>
            </a:r>
          </a:p>
          <a:p xmlns:a="http://schemas.openxmlformats.org/drawingml/2006/main">
            <a:r>
              <a:t/>
            </a:r>
          </a:p>
          <a:p xmlns:a="http://schemas.openxmlformats.org/drawingml/2006/main">
            <a:r>
              <a:t>Ниже запускаем набор программно, чтобы демонстрационный пример выдавал предсказуемую короткую строку. В обычном проекте студент будет использовать python -m unittest discover -s tests -v. Успешный запуск требует, чтобы тесты действительно были обнаружены, а не просто чтобы процесс завершился без исключения.</a:t>
            </a:r>
          </a:p>
          <a:p xmlns:a="http://schemas.openxmlformats.org/drawingml/2006/main">
            <a:r>
              <a:t/>
            </a:r>
          </a:p>
          <a:p xmlns:a="http://schemas.openxmlformats.org/drawingml/2006/main">
            <a:r>
              <a:t>Вопрос: Почему сообщение «Ran 0 tests» не подтверждает корректность решения?</a:t>
            </a:r>
          </a:p>
          <a:p xmlns:a="http://schemas.openxmlformats.org/drawingml/2006/main">
            <a:r>
              <a:t>Ответ: Не выполнено ни одной проверки; возможно, неправильно названы файлы, методы или указан каталог.</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2 True</a:t>
            </a:r>
          </a:p>
          <a:p xmlns:a="http://schemas.openxmlformats.org/drawingml/2006/main">
            <a:r>
              <a:t/>
            </a:r>
          </a:p>
          <a:p xmlns:a="http://schemas.openxmlformats.org/drawingml/2006/main">
            <a:r>
              <a:t>Почему сообщение «Ran 0 tests» не подтверждает корректность решения?</a:t>
            </a:r>
          </a:p>
          <a:p xmlns:a="http://schemas.openxmlformats.org/drawingml/2006/main">
            <a:r>
              <a:t>Не выполнено ни одной проверки; возможно, неправильно названы файлы, методы или указан каталог.</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Отрицательный тест должен проверять именно ожидаемое исключение. Слишком широкая проверка может принять случайный TypeError за правильно выполненную валидацию ValueError. После исключения полезно проверить состояние: неверная операция не должна оставить частичные изменения.</a:t>
            </a:r>
          </a:p>
          <a:p xmlns:a="http://schemas.openxmlformats.org/drawingml/2006/main">
            <a:r>
              <a:t/>
            </a:r>
          </a:p>
          <a:p xmlns:a="http://schemas.openxmlformats.org/drawingml/2006/main">
            <a:r>
              <a:t>Например, добавление оценки 6 обязано завершиться ValueError, а прежний список [4] должен остаться [4]. Эти два утверждения проверяют разные стороны одного требования. Если функция просто вызывает raise после append, первая проверка пройдёт, а вторая обнаружит ошибку.</a:t>
            </a:r>
          </a:p>
          <a:p xmlns:a="http://schemas.openxmlformats.org/drawingml/2006/main">
            <a:r>
              <a:t/>
            </a:r>
          </a:p>
          <a:p xmlns:a="http://schemas.openxmlformats.org/drawingml/2006/main">
            <a:r>
              <a:t>Для загрузки журнала действует похожее правило: создаём новый объект, проверяем все записи и только после успешного возврата заменяем текущий журнал в меню. Так обработка неверного файла не уничтожает уже введённые данные.</a:t>
            </a:r>
          </a:p>
          <a:p xmlns:a="http://schemas.openxmlformats.org/drawingml/2006/main">
            <a:r>
              <a:t/>
            </a:r>
          </a:p>
          <a:p xmlns:a="http://schemas.openxmlformats.org/drawingml/2006/main">
            <a:r>
              <a:t>Вопрос: Почему pass допустим в этом демонстрационном except, но плох для пользовательского меню?</a:t>
            </a:r>
          </a:p>
          <a:p xmlns:a="http://schemas.openxmlformats.org/drawingml/2006/main">
            <a:r>
              <a:t>Ответ: Здесь ошибка ожидается как часть короткого примера и затем проверяется состояние. В меню пользователю нужно объяснить неудачу.</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[4]</a:t>
            </a:r>
          </a:p>
          <a:p xmlns:a="http://schemas.openxmlformats.org/drawingml/2006/main">
            <a:r>
              <a:t/>
            </a:r>
          </a:p>
          <a:p xmlns:a="http://schemas.openxmlformats.org/drawingml/2006/main">
            <a:r>
              <a:t>Почему pass допустим в этом демонстрационном except, но плох для пользовательского меню?</a:t>
            </a:r>
          </a:p>
          <a:p xmlns:a="http://schemas.openxmlformats.org/drawingml/2006/main">
            <a:r>
              <a:t>Здесь ошибка ожидается как часть короткого примера и затем проверяется состояние. В меню пользователю нужно объяснить неудачу.</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Файловые тесты должны работать независимо от того, запускались ли они раньше. TemporaryDirectory создаёт временный каталог и удаляет его после блока with. Внутри можно безопасно создавать JSON и CSV, не трогая демонстрационные или пользовательские данные.</a:t>
            </a:r>
          </a:p>
          <a:p xmlns:a="http://schemas.openxmlformats.org/drawingml/2006/main">
            <a:r>
              <a:t/>
            </a:r>
          </a:p>
          <a:p xmlns:a="http://schemas.openxmlformats.org/drawingml/2006/main">
            <a:r>
              <a:t>Проверяйте содержимое после записи, а не только существование файла. Для CSV полезно читать результат через csv.reader: переводы строк могут различаться по платформам, но строки и поля должны совпадать. Отдельный тест нужен для кавычек и разделителя внутри имени, иначе ручной join может ошибочно выглядеть правильным.</a:t>
            </a:r>
          </a:p>
          <a:p xmlns:a="http://schemas.openxmlformats.org/drawingml/2006/main">
            <a:r>
              <a:t/>
            </a:r>
          </a:p>
          <a:p xmlns:a="http://schemas.openxmlformats.org/drawingml/2006/main">
            <a:r>
              <a:t>Тест не должен зависеть от сети, случайной даты или порядка запуска других тестов. Если ему нужен файл, он создаёт его сам. Если несколько тестов используют одну подготовку, можно применить setUp, но каждый случай должен получать независимое начальное состояние.</a:t>
            </a:r>
          </a:p>
          <a:p xmlns:a="http://schemas.openxmlformats.org/drawingml/2006/main">
            <a:r>
              <a:t/>
            </a:r>
          </a:p>
          <a:p xmlns:a="http://schemas.openxmlformats.org/drawingml/2006/main">
            <a:r>
              <a:t>Вопрос: Почему тест не должен записывать результат в постоянный report.csv студента?</a:t>
            </a:r>
          </a:p>
          <a:p xmlns:a="http://schemas.openxmlformats.org/drawingml/2006/main">
            <a:r>
              <a:t>Ответ: Он может повредить рабочие данные и зависеть от предыдущего содержимого файла.</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Ожидаемый вывод:</a:t>
            </a:r>
          </a:p>
          <a:p xmlns:a="http://schemas.openxmlformats.org/drawingml/2006/main">
            <a:r>
              <a:t>Файловая проверка выполнена</a:t>
            </a:r>
          </a:p>
          <a:p xmlns:a="http://schemas.openxmlformats.org/drawingml/2006/main">
            <a:r>
              <a:t/>
            </a:r>
          </a:p>
          <a:p xmlns:a="http://schemas.openxmlformats.org/drawingml/2006/main">
            <a:r>
              <a:t>Почему тест не должен записывать результат в постоянный report.csv студента?</a:t>
            </a:r>
          </a:p>
          <a:p xmlns:a="http://schemas.openxmlformats.org/drawingml/2006/main">
            <a:r>
              <a:t>Он может повредить рабочие данные и зависеть от предыдущего содержимого файла.</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Добавьте к своей программе проверки неверного ввода и не менее восьми тестов unittest. Для одного исправленного дефекта сохраните тест, который выявлял ошибку до исправления.</a:t>
            </a:r>
          </a:p>
          <a:p xmlns:a="http://schemas.openxmlformats.org/drawingml/2006/main">
            <a:r>
              <a:t/>
            </a:r>
          </a:p>
          <a:p xmlns:a="http://schemas.openxmlformats.org/drawingml/2006/main">
            <a:r>
              <a:t>Справочники:</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a:p xmlns:a="http://schemas.openxmlformats.org/drawingml/2006/main">
            <a:r>
              <a:t/>
            </a:r>
          </a:p>
          <a:p xmlns:a="http://schemas.openxmlformats.org/drawingml/2006/main">
            <a:r>
              <a:t>Учебный конспект: lectures/05/README.md</a:t>
            </a:r>
          </a:p>
          <a:p xmlns:a="http://schemas.openxmlformats.org/drawingml/2006/main">
            <a:r>
              <a:t>https://docs.python.org/3/tutorial/errors.html</a:t>
            </a:r>
          </a:p>
          <a:p xmlns:a="http://schemas.openxmlformats.org/drawingml/2006/main">
            <a:r>
              <a:t>https://docs.python.org/3/library/unittest.html</a:t>
            </a:r>
          </a:p>
          <a:p xmlns:a="http://schemas.openxmlformats.org/drawingml/2006/main">
            <a:r>
              <a:t>https://docs.python.org/3/library/tempfile.html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e591f55a6540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3a7ef618fc4d8b" /><Relationship Type="http://schemas.openxmlformats.org/officeDocument/2006/relationships/slideLayout" Target="/ppt/slideLayouts/slideLayout1.xml" Id="R6e8a8c77ce3b44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8a8c77ce3b44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9a89bec7f64533" /><Relationship Type="http://schemas.openxmlformats.org/officeDocument/2006/relationships/notesSlide" Target="/ppt/notesSlides/notesSlide1.xml" Id="R5b90788319a44d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48bfb2654648fc" /><Relationship Type="http://schemas.openxmlformats.org/officeDocument/2006/relationships/notesSlide" Target="/ppt/notesSlides/notesSlide2.xml" Id="R003532e69a2444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35a4e0ced2495a" /><Relationship Type="http://schemas.openxmlformats.org/officeDocument/2006/relationships/notesSlide" Target="/ppt/notesSlides/notesSlide3.xml" Id="R559dad95673141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7ee72bb44a43cd" /><Relationship Type="http://schemas.openxmlformats.org/officeDocument/2006/relationships/notesSlide" Target="/ppt/notesSlides/notesSlide4.xml" Id="R37de2e5459e445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9c6d1cd7234903" /><Relationship Type="http://schemas.openxmlformats.org/officeDocument/2006/relationships/notesSlide" Target="/ppt/notesSlides/notesSlide5.xml" Id="Rb2024fff23b54f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19a76e73b34570" /><Relationship Type="http://schemas.openxmlformats.org/officeDocument/2006/relationships/notesSlide" Target="/ppt/notesSlides/notesSlide6.xml" Id="R3de12104cd254d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454068b5b04c3d" /><Relationship Type="http://schemas.openxmlformats.org/officeDocument/2006/relationships/notesSlide" Target="/ppt/notesSlides/notesSlide7.xml" Id="R710933081f5047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575434518240ba" /><Relationship Type="http://schemas.openxmlformats.org/officeDocument/2006/relationships/notesSlide" Target="/ppt/notesSlides/notesSlide8.xml" Id="R5ce9d6a22fb641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deba933476481b" /><Relationship Type="http://schemas.openxmlformats.org/officeDocument/2006/relationships/notesSlide" Target="/ppt/notesSlides/notesSlide9.xml" Id="Rab2ba61abb8045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301d6e66e44e40" /><Relationship Type="http://schemas.openxmlformats.org/officeDocument/2006/relationships/notesSlide" Target="/ppt/notesSlides/notesSlide10.xml" Id="R618dd8200d144a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4f77875a9b478e" /><Relationship Type="http://schemas.openxmlformats.org/officeDocument/2006/relationships/notesSlide" Target="/ppt/notesSlides/notesSlide11.xml" Id="Ra3ade141bd034c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7176cfaf7b485b" /><Relationship Type="http://schemas.openxmlformats.org/officeDocument/2006/relationships/notesSlide" Target="/ppt/notesSlides/notesSlide12.xml" Id="R44c2e205f84744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94764bf75246d3" /><Relationship Type="http://schemas.openxmlformats.org/officeDocument/2006/relationships/notesSlide" Target="/ppt/notesSlides/notesSlide13.xml" Id="R8470e0eb084740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86d1f504d44d6d" /><Relationship Type="http://schemas.openxmlformats.org/officeDocument/2006/relationships/notesSlide" Target="/ppt/notesSlides/notesSlide14.xml" Id="R6f707cd801a040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efa39edb4e49e3" /><Relationship Type="http://schemas.openxmlformats.org/officeDocument/2006/relationships/notesSlide" Target="/ppt/notesSlides/notesSlide15.xml" Id="Rcdb3118b507c4f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b061eb6f41d4f4c" /><Relationship Type="http://schemas.openxmlformats.org/officeDocument/2006/relationships/notesSlide" Target="/ppt/notesSlides/notesSlide16.xml" Id="Rf75442bb85db40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9f17fc3b22a479f" /><Relationship Type="http://schemas.openxmlformats.org/officeDocument/2006/relationships/notesSlide" Target="/ppt/notesSlides/notesSlide17.xml" Id="R9085ad00564e4581" /></Relationships>
</file>

<file path=ppt/slides/slide1.xml><?xml version="1.0" encoding="utf-8"?>
<p:sld xmlns:p="http://schemas.openxmlformats.org/presentationml/2006/main">
  <p:cSld>
    <p:bg>
      <p:bgPr>
        <a:solidFill xmlns:a="http://schemas.openxmlformats.org/drawingml/2006/main">
          <a:srgbClr val="122D3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73C937D-D874-45F1-94CB-AC0D41A8BBF0}"/>
              </a:ext>
            </a:extLst>
          </p:cNvPr>
          <p:cNvSpPr>
            <a:spLocks xmlns:a="http://schemas.openxmlformats.org/drawingml/2006/main" noGrp="1"/>
          </p:cNvSpPr>
          <p:nvPr/>
        </p:nvSpPr>
        <p:spPr>
          <a:xfrm xmlns:a="http://schemas.openxmlformats.org/drawingml/2006/main">
            <a:off x="704850" y="7239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3D6C3"/>
                </a:solidFill>
                <a:latin typeface="Arial"/>
                <a:ea typeface="Arial"/>
                <a:cs typeface="Arial"/>
              </a:defRPr>
            </a:pPr>
            <a:r>
              <a:rPr sz="1800" b="0">
                <a:solidFill>
                  <a:srgbClr val="73D6C3"/>
                </a:solidFill>
                <a:latin typeface="Arial"/>
                <a:ea typeface="Arial"/>
                <a:cs typeface="Arial"/>
              </a:rPr>
              <a:t>PYTHON / 2 КУРС / ЛЕКЦИЯ 5</a:t>
            </a:r>
          </a:p>
        </p:txBody>
      </p:sp>
      <p:sp>
        <p:nvSpPr>
          <p:cNvPr id="2" name="">
            <a:extLst xmlns:a="http://schemas.openxmlformats.org/drawingml/2006/main">
              <a:ext uri="{FF2B5EF4-FFF2-40B4-BE49-F238E27FC236}">
                <a16:creationId xmlns:a16="http://schemas.microsoft.com/office/drawing/2014/main" id="{EAF7C9F7-C346-437B-BB4F-0F712F1D7627}"/>
              </a:ext>
            </a:extLst>
          </p:cNvPr>
          <p:cNvSpPr>
            <a:spLocks xmlns:a="http://schemas.openxmlformats.org/drawingml/2006/main" noGrp="1"/>
          </p:cNvSpPr>
          <p:nvPr/>
        </p:nvSpPr>
        <p:spPr>
          <a:xfrm xmlns:a="http://schemas.openxmlformats.org/drawingml/2006/main">
            <a:off x="685800" y="19621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Ошибки, отладка и автоматические тесты</a:t>
            </a:r>
          </a:p>
        </p:txBody>
      </p:sp>
      <p:sp>
        <p:nvSpPr>
          <p:cNvPr id="3" name="">
            <a:extLst xmlns:a="http://schemas.openxmlformats.org/drawingml/2006/main">
              <a:ext uri="{FF2B5EF4-FFF2-40B4-BE49-F238E27FC236}">
                <a16:creationId xmlns:a16="http://schemas.microsoft.com/office/drawing/2014/main" id="{34988367-0F7B-4CF1-B175-01885D09B12C}"/>
              </a:ext>
            </a:extLst>
          </p:cNvPr>
          <p:cNvSpPr>
            <a:spLocks xmlns:a="http://schemas.openxmlformats.org/drawingml/2006/main" noGrp="1"/>
          </p:cNvSpPr>
          <p:nvPr/>
        </p:nvSpPr>
        <p:spPr>
          <a:xfrm xmlns:a="http://schemas.openxmlformats.org/drawingml/2006/main">
            <a:off x="723900" y="49720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BDDE5"/>
                </a:solidFill>
                <a:latin typeface="Arial"/>
                <a:ea typeface="Arial"/>
                <a:cs typeface="Arial"/>
              </a:defRPr>
            </a:pPr>
            <a:r>
              <a:rPr sz="2175" b="0">
                <a:solidFill>
                  <a:srgbClr val="CBDDE5"/>
                </a:solidFill>
                <a:latin typeface="Arial"/>
                <a:ea typeface="Arial"/>
                <a:cs typeface="Arial"/>
              </a:rPr>
              <a:t>Алгоритмизация и программирование</a:t>
            </a:r>
          </a:p>
          <a:p xmlns:a="http://schemas.openxmlformats.org/drawingml/2006/main">
            <a:pPr>
              <a:defRPr sz="2175" b="0">
                <a:solidFill>
                  <a:srgbClr val="CBDDE5"/>
                </a:solidFill>
                <a:latin typeface="Arial"/>
                <a:ea typeface="Arial"/>
                <a:cs typeface="Arial"/>
              </a:defRPr>
            </a:pPr>
            <a:r>
              <a:rPr sz="2175" b="0">
                <a:solidFill>
                  <a:srgbClr val="CBDDE5"/>
                </a:solidFill>
                <a:latin typeface="Arial"/>
                <a:ea typeface="Arial"/>
                <a:cs typeface="Arial"/>
              </a:rPr>
              <a:t>Прикладной курс · 90 минут</a:t>
            </a:r>
          </a:p>
        </p:txBody>
      </p:sp>
    </p:spTree>
    <p:extLst>
      <p:ext uri="{BB962C8B-B14F-4D97-AF65-F5344CB8AC3E}">
        <p14:creationId xmlns:p14="http://schemas.microsoft.com/office/powerpoint/2010/main" val="1085288895"/>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6711CB8-C42C-4CEC-B259-67EDD0C71278}"/>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Результат занятия</a:t>
            </a:r>
          </a:p>
        </p:txBody>
      </p:sp>
      <p:sp>
        <p:nvSpPr>
          <p:cNvPr id="2" name="">
            <a:extLst xmlns:a="http://schemas.openxmlformats.org/drawingml/2006/main">
              <a:ext uri="{FF2B5EF4-FFF2-40B4-BE49-F238E27FC236}">
                <a16:creationId xmlns:a16="http://schemas.microsoft.com/office/drawing/2014/main" id="{8555D060-7FA7-4129-BE3B-34E65439B888}"/>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Различать синтаксическую, исполнительную и логическую ошибку</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Выбирать ValueError и KeyError по смыслу</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Сохранять прежнее состояние при неудачной операции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Писать тесты unittest с временными файлами</a:t>
            </a:r>
          </a:p>
        </p:txBody>
      </p:sp>
      <p:sp>
        <p:nvSpPr>
          <p:cNvPr id="3" name="">
            <a:extLst xmlns:a="http://schemas.openxmlformats.org/drawingml/2006/main">
              <a:ext uri="{FF2B5EF4-FFF2-40B4-BE49-F238E27FC236}">
                <a16:creationId xmlns:a16="http://schemas.microsoft.com/office/drawing/2014/main" id="{82682286-5AD4-485C-A733-91D298D67D1F}"/>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2 из 17</a:t>
            </a:r>
          </a:p>
        </p:txBody>
      </p:sp>
    </p:spTree>
    <p:extLst>
      <p:ext uri="{BB962C8B-B14F-4D97-AF65-F5344CB8AC3E}">
        <p14:creationId xmlns:p14="http://schemas.microsoft.com/office/powerpoint/2010/main" val="214406654"/>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320822E-F4CD-49EA-B9EC-FA22B2736E98}"/>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Виды ошибок и чтение traceback</a:t>
            </a:r>
          </a:p>
        </p:txBody>
      </p:sp>
      <p:sp>
        <p:nvSpPr>
          <p:cNvPr id="2" name="">
            <a:extLst xmlns:a="http://schemas.openxmlformats.org/drawingml/2006/main">
              <a:ext uri="{FF2B5EF4-FFF2-40B4-BE49-F238E27FC236}">
                <a16:creationId xmlns:a16="http://schemas.microsoft.com/office/drawing/2014/main" id="{EF484B17-F452-4571-9D90-D7AC14818814}"/>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Исключение и неверный результат требуют разных проверок</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Traceback читается от типа ошибки к строке своего кода</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Минимальный воспроизводимый вход ускоряет поиск</a:t>
            </a:r>
          </a:p>
        </p:txBody>
      </p:sp>
      <p:sp>
        <p:nvSpPr>
          <p:cNvPr id="3" name="">
            <a:extLst xmlns:a="http://schemas.openxmlformats.org/drawingml/2006/main">
              <a:ext uri="{FF2B5EF4-FFF2-40B4-BE49-F238E27FC236}">
                <a16:creationId xmlns:a16="http://schemas.microsoft.com/office/drawing/2014/main" id="{FFD0CF62-BDC3-4EA3-B36C-DEAB0291CFA8}"/>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3 из 17</a:t>
            </a:r>
          </a:p>
        </p:txBody>
      </p:sp>
    </p:spTree>
    <p:extLst>
      <p:ext uri="{BB962C8B-B14F-4D97-AF65-F5344CB8AC3E}">
        <p14:creationId xmlns:p14="http://schemas.microsoft.com/office/powerpoint/2010/main" val="601823199"/>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8A4502E-747E-4C1D-B78C-06A6A79C1485}"/>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Виды ошибок и чтение traceback</a:t>
            </a:r>
          </a:p>
        </p:txBody>
      </p:sp>
      <p:sp>
        <p:nvSpPr>
          <p:cNvPr id="2" name="">
            <a:extLst xmlns:a="http://schemas.openxmlformats.org/drawingml/2006/main">
              <a:ext uri="{FF2B5EF4-FFF2-40B4-BE49-F238E27FC236}">
                <a16:creationId xmlns:a16="http://schemas.microsoft.com/office/drawing/2014/main" id="{F3D3ADC3-150A-4B93-B0D5-6B2FC6D6197B}"/>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try:</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grade = int("пять")</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except ValueError as error:</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print(type(error).__name__)</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print("Нужно целое число, например 5")</a:t>
            </a:r>
          </a:p>
        </p:txBody>
      </p:sp>
      <p:sp>
        <p:nvSpPr>
          <p:cNvPr id="3" name="">
            <a:extLst xmlns:a="http://schemas.openxmlformats.org/drawingml/2006/main">
              <a:ext uri="{FF2B5EF4-FFF2-40B4-BE49-F238E27FC236}">
                <a16:creationId xmlns:a16="http://schemas.microsoft.com/office/drawing/2014/main" id="{EDFD3C23-0AD0-4283-8305-F50FAEF1A169}"/>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4 из 17   /   Разбор кода</a:t>
            </a:r>
          </a:p>
        </p:txBody>
      </p:sp>
    </p:spTree>
    <p:extLst>
      <p:ext uri="{BB962C8B-B14F-4D97-AF65-F5344CB8AC3E}">
        <p14:creationId xmlns:p14="http://schemas.microsoft.com/office/powerpoint/2010/main" val="347165815"/>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F80DA8D-83DD-482E-B641-13A7549F3C09}"/>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Проверка данных и raise</a:t>
            </a:r>
          </a:p>
        </p:txBody>
      </p:sp>
      <p:sp>
        <p:nvSpPr>
          <p:cNvPr id="2" name="">
            <a:extLst xmlns:a="http://schemas.openxmlformats.org/drawingml/2006/main">
              <a:ext uri="{FF2B5EF4-FFF2-40B4-BE49-F238E27FC236}">
                <a16:creationId xmlns:a16="http://schemas.microsoft.com/office/drawing/2014/main" id="{928531C3-3B15-426D-B273-2C83F7179F09}"/>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Контракт определяет допустимые типы и значения</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Проверка предшествует изменению состояния</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Преобразование ввода отделяется от проверки модели</a:t>
            </a:r>
          </a:p>
        </p:txBody>
      </p:sp>
      <p:sp>
        <p:nvSpPr>
          <p:cNvPr id="3" name="">
            <a:extLst xmlns:a="http://schemas.openxmlformats.org/drawingml/2006/main">
              <a:ext uri="{FF2B5EF4-FFF2-40B4-BE49-F238E27FC236}">
                <a16:creationId xmlns:a16="http://schemas.microsoft.com/office/drawing/2014/main" id="{C16EC79D-69CF-4FB5-A498-533853887185}"/>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5 из 17</a:t>
            </a:r>
          </a:p>
        </p:txBody>
      </p:sp>
    </p:spTree>
    <p:extLst>
      <p:ext uri="{BB962C8B-B14F-4D97-AF65-F5344CB8AC3E}">
        <p14:creationId xmlns:p14="http://schemas.microsoft.com/office/powerpoint/2010/main" val="117923936"/>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7B51174-BD21-4BA1-A82B-6E95E22913AB}"/>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Проверка данных и raise</a:t>
            </a:r>
          </a:p>
        </p:txBody>
      </p:sp>
      <p:sp>
        <p:nvSpPr>
          <p:cNvPr id="2" name="">
            <a:extLst xmlns:a="http://schemas.openxmlformats.org/drawingml/2006/main">
              <a:ext uri="{FF2B5EF4-FFF2-40B4-BE49-F238E27FC236}">
                <a16:creationId xmlns:a16="http://schemas.microsoft.com/office/drawing/2014/main" id="{A7135D04-B1F7-4FF4-9706-6D7C2C516842}"/>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validate_grade(value):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type(value) is not int or not 2 &lt;= value &lt;= 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raise ValueError("Оценка должна быть целым числом 2–5")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value</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print(validate_grade(4))</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try:</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validate_grade(True)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except ValueError:</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print("Логическое значение отклонено")</a:t>
            </a:r>
          </a:p>
        </p:txBody>
      </p:sp>
      <p:sp>
        <p:nvSpPr>
          <p:cNvPr id="3" name="">
            <a:extLst xmlns:a="http://schemas.openxmlformats.org/drawingml/2006/main">
              <a:ext uri="{FF2B5EF4-FFF2-40B4-BE49-F238E27FC236}">
                <a16:creationId xmlns:a16="http://schemas.microsoft.com/office/drawing/2014/main" id="{D607F91A-EA75-4FDB-9DB6-F5BA267A8CF6}"/>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6 из 17   /   Разбор кода</a:t>
            </a:r>
          </a:p>
        </p:txBody>
      </p:sp>
    </p:spTree>
    <p:extLst>
      <p:ext uri="{BB962C8B-B14F-4D97-AF65-F5344CB8AC3E}">
        <p14:creationId xmlns:p14="http://schemas.microsoft.com/office/powerpoint/2010/main" val="215882558"/>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1FE586-B935-48F2-B39F-805A2E435CB9}"/>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Обработка ошибок на границе интерфейса</a:t>
            </a:r>
          </a:p>
        </p:txBody>
      </p:sp>
      <p:sp>
        <p:nvSpPr>
          <p:cNvPr id="2" name="">
            <a:extLst xmlns:a="http://schemas.openxmlformats.org/drawingml/2006/main">
              <a:ext uri="{FF2B5EF4-FFF2-40B4-BE49-F238E27FC236}">
                <a16:creationId xmlns:a16="http://schemas.microsoft.com/office/drawing/2014/main" id="{8C9FECD6-D613-4397-89CB-F8F222598716}"/>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Модель сообщает об ошибке, интерфейс объясняет её пользователю</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Перехватываются ожидаемые типы исключений</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Молчаливое подавление мешает обнаружить проблему</a:t>
            </a:r>
          </a:p>
        </p:txBody>
      </p:sp>
      <p:sp>
        <p:nvSpPr>
          <p:cNvPr id="3" name="">
            <a:extLst xmlns:a="http://schemas.openxmlformats.org/drawingml/2006/main">
              <a:ext uri="{FF2B5EF4-FFF2-40B4-BE49-F238E27FC236}">
                <a16:creationId xmlns:a16="http://schemas.microsoft.com/office/drawing/2014/main" id="{DA08DB68-6EC1-4721-967F-960B10E9A1FD}"/>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7 из 17</a:t>
            </a:r>
          </a:p>
        </p:txBody>
      </p:sp>
    </p:spTree>
    <p:extLst>
      <p:ext uri="{BB962C8B-B14F-4D97-AF65-F5344CB8AC3E}">
        <p14:creationId xmlns:p14="http://schemas.microsoft.com/office/powerpoint/2010/main" val="352481085"/>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4ADE623-0BDF-4D8E-BDFD-312BE83CD8D5}"/>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Обработка ошибок на границе интерфейса</a:t>
            </a:r>
          </a:p>
        </p:txBody>
      </p:sp>
      <p:sp>
        <p:nvSpPr>
          <p:cNvPr id="2" name="">
            <a:extLst xmlns:a="http://schemas.openxmlformats.org/drawingml/2006/main">
              <a:ext uri="{FF2B5EF4-FFF2-40B4-BE49-F238E27FC236}">
                <a16:creationId xmlns:a16="http://schemas.microsoft.com/office/drawing/2014/main" id="{B981152F-50A0-4656-823A-05F91466BCC8}"/>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parse_grade(text):</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value = int(text.strip())</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not 2 &lt;= value &lt;= 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raise ValueError("Оценка вне диапазона")</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value</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for text in [" 4 ", "пять", "6"]:</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try:</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print(parse_grade(text))</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except ValueError:</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print("Введите целое число от 2 до 5")</a:t>
            </a:r>
          </a:p>
        </p:txBody>
      </p:sp>
      <p:sp>
        <p:nvSpPr>
          <p:cNvPr id="3" name="">
            <a:extLst xmlns:a="http://schemas.openxmlformats.org/drawingml/2006/main">
              <a:ext uri="{FF2B5EF4-FFF2-40B4-BE49-F238E27FC236}">
                <a16:creationId xmlns:a16="http://schemas.microsoft.com/office/drawing/2014/main" id="{B7A9C26A-7483-4F42-83A5-49572E3EF9BE}"/>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8 из 17   /   Разбор кода</a:t>
            </a:r>
          </a:p>
        </p:txBody>
      </p:sp>
    </p:spTree>
    <p:extLst>
      <p:ext uri="{BB962C8B-B14F-4D97-AF65-F5344CB8AC3E}">
        <p14:creationId xmlns:p14="http://schemas.microsoft.com/office/powerpoint/2010/main" val="579033206"/>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9E673BC-D9AE-4C44-BD51-9630CBB8A04F}"/>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План тестирования</a:t>
            </a:r>
          </a:p>
        </p:txBody>
      </p:sp>
      <p:sp>
        <p:nvSpPr>
          <p:cNvPr id="2" name="">
            <a:extLst xmlns:a="http://schemas.openxmlformats.org/drawingml/2006/main">
              <a:ext uri="{FF2B5EF4-FFF2-40B4-BE49-F238E27FC236}">
                <a16:creationId xmlns:a16="http://schemas.microsoft.com/office/drawing/2014/main" id="{76133246-EED1-445A-AFD3-B533099CC255}"/>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Ожидаемый результат определяется независимо</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Нужны обычные и граничные случаи</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Числа и их строковое оформление проверяются по-разному</a:t>
            </a:r>
          </a:p>
        </p:txBody>
      </p:sp>
      <p:sp>
        <p:nvSpPr>
          <p:cNvPr id="3" name="">
            <a:extLst xmlns:a="http://schemas.openxmlformats.org/drawingml/2006/main">
              <a:ext uri="{FF2B5EF4-FFF2-40B4-BE49-F238E27FC236}">
                <a16:creationId xmlns:a16="http://schemas.microsoft.com/office/drawing/2014/main" id="{04DCCDC9-F412-4C1C-942A-DA525D9B0FB7}"/>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9 из 17</a:t>
            </a:r>
          </a:p>
        </p:txBody>
      </p:sp>
    </p:spTree>
    <p:extLst>
      <p:ext uri="{BB962C8B-B14F-4D97-AF65-F5344CB8AC3E}">
        <p14:creationId xmlns:p14="http://schemas.microsoft.com/office/powerpoint/2010/main" val="535238224"/>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EF6C825-9BCC-4373-B70C-E2A9441B6382}"/>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План тестирования</a:t>
            </a:r>
          </a:p>
        </p:txBody>
      </p:sp>
      <p:sp>
        <p:nvSpPr>
          <p:cNvPr id="2" name="">
            <a:extLst xmlns:a="http://schemas.openxmlformats.org/drawingml/2006/main">
              <a:ext uri="{FF2B5EF4-FFF2-40B4-BE49-F238E27FC236}">
                <a16:creationId xmlns:a16="http://schemas.microsoft.com/office/drawing/2014/main" id="{59B52AB9-92C9-41DD-B91E-885B5FB73C33}"/>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average(grades):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return sum(grades) / len(grades) if grades else None</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assert average([4, 4]) == 4</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assert average([2]) == 2</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assert average([]) is None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print("Обычный, граничный и пустой случаи проверены")</a:t>
            </a:r>
          </a:p>
        </p:txBody>
      </p:sp>
      <p:sp>
        <p:nvSpPr>
          <p:cNvPr id="3" name="">
            <a:extLst xmlns:a="http://schemas.openxmlformats.org/drawingml/2006/main">
              <a:ext uri="{FF2B5EF4-FFF2-40B4-BE49-F238E27FC236}">
                <a16:creationId xmlns:a16="http://schemas.microsoft.com/office/drawing/2014/main" id="{5589B62D-47F7-4B86-9F94-99AF655AF4AE}"/>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10 из 17   /   Разбор кода</a:t>
            </a:r>
          </a:p>
        </p:txBody>
      </p:sp>
    </p:spTree>
    <p:extLst>
      <p:ext uri="{BB962C8B-B14F-4D97-AF65-F5344CB8AC3E}">
        <p14:creationId xmlns:p14="http://schemas.microsoft.com/office/powerpoint/2010/main" val="1130720507"/>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0497FBF-878C-43CB-8DB7-6A4C9D9BA983}"/>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unittest</a:t>
            </a:r>
          </a:p>
        </p:txBody>
      </p:sp>
      <p:sp>
        <p:nvSpPr>
          <p:cNvPr id="2" name="">
            <a:extLst xmlns:a="http://schemas.openxmlformats.org/drawingml/2006/main">
              <a:ext uri="{FF2B5EF4-FFF2-40B4-BE49-F238E27FC236}">
                <a16:creationId xmlns:a16="http://schemas.microsoft.com/office/drawing/2014/main" id="{4C3069A9-21D8-4B50-BD7D-17A804E98970}"/>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Тестовые методы начинаются с test_</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Названия описывают проверяемое правило</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Успех требует найденных и выполненных тестов</a:t>
            </a:r>
          </a:p>
        </p:txBody>
      </p:sp>
      <p:sp>
        <p:nvSpPr>
          <p:cNvPr id="3" name="">
            <a:extLst xmlns:a="http://schemas.openxmlformats.org/drawingml/2006/main">
              <a:ext uri="{FF2B5EF4-FFF2-40B4-BE49-F238E27FC236}">
                <a16:creationId xmlns:a16="http://schemas.microsoft.com/office/drawing/2014/main" id="{0BEEC173-78F7-4647-8F5E-CDC3FFCFD342}"/>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11 из 17</a:t>
            </a:r>
          </a:p>
        </p:txBody>
      </p:sp>
    </p:spTree>
    <p:extLst>
      <p:ext uri="{BB962C8B-B14F-4D97-AF65-F5344CB8AC3E}">
        <p14:creationId xmlns:p14="http://schemas.microsoft.com/office/powerpoint/2010/main" val="340803729"/>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6A0A412-033D-4E10-833C-4B5B4CCD083D}"/>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unittest</a:t>
            </a:r>
          </a:p>
        </p:txBody>
      </p:sp>
      <p:sp>
        <p:nvSpPr>
          <p:cNvPr id="2" name="">
            <a:extLst xmlns:a="http://schemas.openxmlformats.org/drawingml/2006/main">
              <a:ext uri="{FF2B5EF4-FFF2-40B4-BE49-F238E27FC236}">
                <a16:creationId xmlns:a16="http://schemas.microsoft.com/office/drawing/2014/main" id="{5BA1FECC-8C6B-4F66-AE8E-2EFEBA7FD254}"/>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import unittest</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import io</a:t>
            </a:r>
          </a:p>
          <a:p xmlns:a="http://schemas.openxmlformats.org/drawingml/2006/main">
            <a:r>
              <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class GradeTests(unittest.TestCase):</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    def test_sum(self):</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        self.assertEqual(sum([2, 5]), 7)</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    def test_empty(self):</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        self.assertEqual(sum([]), 0)</a:t>
            </a:r>
          </a:p>
          <a:p xmlns:a="http://schemas.openxmlformats.org/drawingml/2006/main">
            <a:r>
              <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suite = unittest.defaultTestLoader.loadTestsFromTestCase(GradeTests)</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result = unittest.TextTestRunner(stream=io.StringIO()).run(suite)</a:t>
            </a:r>
          </a:p>
          <a:p xmlns:a="http://schemas.openxmlformats.org/drawingml/2006/main">
            <a:pPr>
              <a:defRPr sz="1800" b="1">
                <a:solidFill>
                  <a:srgbClr val="174B5B"/>
                </a:solidFill>
                <a:latin typeface="Courier New"/>
                <a:ea typeface="Courier New"/>
                <a:cs typeface="Courier New"/>
              </a:defRPr>
            </a:pPr>
            <a:r>
              <a:rPr sz="1800" b="1">
                <a:solidFill>
                  <a:srgbClr val="174B5B"/>
                </a:solidFill>
                <a:latin typeface="Courier New"/>
                <a:ea typeface="Courier New"/>
                <a:cs typeface="Courier New"/>
              </a:rPr>
              <a:t>print(result.testsRun, result.wasSuccessful())</a:t>
            </a:r>
          </a:p>
        </p:txBody>
      </p:sp>
      <p:sp>
        <p:nvSpPr>
          <p:cNvPr id="3" name="">
            <a:extLst xmlns:a="http://schemas.openxmlformats.org/drawingml/2006/main">
              <a:ext uri="{FF2B5EF4-FFF2-40B4-BE49-F238E27FC236}">
                <a16:creationId xmlns:a16="http://schemas.microsoft.com/office/drawing/2014/main" id="{AD3E944B-9F55-4E5D-8DCE-D00C54467394}"/>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12 из 17   /   Разбор кода</a:t>
            </a:r>
          </a:p>
        </p:txBody>
      </p:sp>
    </p:spTree>
    <p:extLst>
      <p:ext uri="{BB962C8B-B14F-4D97-AF65-F5344CB8AC3E}">
        <p14:creationId xmlns:p14="http://schemas.microsoft.com/office/powerpoint/2010/main" val="1447324614"/>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438F7AE-010E-4D4F-9C46-6FD7836B3039}"/>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Проверка исключения и сохранности данных</a:t>
            </a:r>
          </a:p>
        </p:txBody>
      </p:sp>
      <p:sp>
        <p:nvSpPr>
          <p:cNvPr id="2" name="">
            <a:extLst xmlns:a="http://schemas.openxmlformats.org/drawingml/2006/main">
              <a:ext uri="{FF2B5EF4-FFF2-40B4-BE49-F238E27FC236}">
                <a16:creationId xmlns:a16="http://schemas.microsoft.com/office/drawing/2014/main" id="{58F82833-E64D-4D1A-9726-35801DE0C8DF}"/>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Проверяется конкретный тип исключения</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После ошибки проверяется прежнее состояние</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Загрузка заменяет данные только после полного успеха</a:t>
            </a:r>
          </a:p>
        </p:txBody>
      </p:sp>
      <p:sp>
        <p:nvSpPr>
          <p:cNvPr id="3" name="">
            <a:extLst xmlns:a="http://schemas.openxmlformats.org/drawingml/2006/main">
              <a:ext uri="{FF2B5EF4-FFF2-40B4-BE49-F238E27FC236}">
                <a16:creationId xmlns:a16="http://schemas.microsoft.com/office/drawing/2014/main" id="{974CE253-1EFA-4C6F-A175-9AEE1B732393}"/>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13 из 17</a:t>
            </a:r>
          </a:p>
        </p:txBody>
      </p:sp>
    </p:spTree>
    <p:extLst>
      <p:ext uri="{BB962C8B-B14F-4D97-AF65-F5344CB8AC3E}">
        <p14:creationId xmlns:p14="http://schemas.microsoft.com/office/powerpoint/2010/main" val="2109771700"/>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99D83BA-70FC-41A2-97C8-9D002E1C7F6A}"/>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Проверка исключения и сохранности данных</a:t>
            </a:r>
          </a:p>
        </p:txBody>
      </p:sp>
      <p:sp>
        <p:nvSpPr>
          <p:cNvPr id="2" name="">
            <a:extLst xmlns:a="http://schemas.openxmlformats.org/drawingml/2006/main">
              <a:ext uri="{FF2B5EF4-FFF2-40B4-BE49-F238E27FC236}">
                <a16:creationId xmlns:a16="http://schemas.microsoft.com/office/drawing/2014/main" id="{C2C96844-D900-45ED-86EC-F7E53819842D}"/>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grades = [4]</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def add_grade(value):</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if type(value) is not int or not 2 &lt;= value &lt;= 5:</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raise ValueError("Неверная оценка")</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grades.append(value)</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try:</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add_grade(6)</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except ValueError:</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pass</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print(grades)</a:t>
            </a:r>
          </a:p>
        </p:txBody>
      </p:sp>
      <p:sp>
        <p:nvSpPr>
          <p:cNvPr id="3" name="">
            <a:extLst xmlns:a="http://schemas.openxmlformats.org/drawingml/2006/main">
              <a:ext uri="{FF2B5EF4-FFF2-40B4-BE49-F238E27FC236}">
                <a16:creationId xmlns:a16="http://schemas.microsoft.com/office/drawing/2014/main" id="{49E547AD-85F9-4F6F-8D66-88DAB435AA8A}"/>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14 из 17   /   Разбор кода</a:t>
            </a:r>
          </a:p>
        </p:txBody>
      </p:sp>
    </p:spTree>
    <p:extLst>
      <p:ext uri="{BB962C8B-B14F-4D97-AF65-F5344CB8AC3E}">
        <p14:creationId xmlns:p14="http://schemas.microsoft.com/office/powerpoint/2010/main" val="707145218"/>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E5F7C7A-2145-41A8-ABD7-D6D5D4337770}"/>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Тестирование файлов</a:t>
            </a:r>
          </a:p>
        </p:txBody>
      </p:sp>
      <p:sp>
        <p:nvSpPr>
          <p:cNvPr id="2" name="">
            <a:extLst xmlns:a="http://schemas.openxmlformats.org/drawingml/2006/main">
              <a:ext uri="{FF2B5EF4-FFF2-40B4-BE49-F238E27FC236}">
                <a16:creationId xmlns:a16="http://schemas.microsoft.com/office/drawing/2014/main" id="{F307D152-10E9-4FFA-986C-C978479DA950}"/>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Временный каталог изолирует файлы теста</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Проверяется содержимое, а не только наличие</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Каждый тест создаёт собственные исходные данные</a:t>
            </a:r>
          </a:p>
        </p:txBody>
      </p:sp>
      <p:sp>
        <p:nvSpPr>
          <p:cNvPr id="3" name="">
            <a:extLst xmlns:a="http://schemas.openxmlformats.org/drawingml/2006/main">
              <a:ext uri="{FF2B5EF4-FFF2-40B4-BE49-F238E27FC236}">
                <a16:creationId xmlns:a16="http://schemas.microsoft.com/office/drawing/2014/main" id="{6B9F69D1-2C6D-4F64-A1DC-45829D71DBCF}"/>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15 из 17</a:t>
            </a:r>
          </a:p>
        </p:txBody>
      </p:sp>
    </p:spTree>
    <p:extLst>
      <p:ext uri="{BB962C8B-B14F-4D97-AF65-F5344CB8AC3E}">
        <p14:creationId xmlns:p14="http://schemas.microsoft.com/office/powerpoint/2010/main" val="1886573646"/>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1240498-2DF7-41CE-B814-310A289F39EB}"/>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Тестирование файлов</a:t>
            </a:r>
          </a:p>
        </p:txBody>
      </p:sp>
      <p:sp>
        <p:nvSpPr>
          <p:cNvPr id="2" name="">
            <a:extLst xmlns:a="http://schemas.openxmlformats.org/drawingml/2006/main">
              <a:ext uri="{FF2B5EF4-FFF2-40B4-BE49-F238E27FC236}">
                <a16:creationId xmlns:a16="http://schemas.microsoft.com/office/drawing/2014/main" id="{9896E2AE-7D4F-4B07-BDD5-E442BB978C10}"/>
              </a:ext>
            </a:extLst>
          </p:cNvPr>
          <p:cNvSpPr>
            <a:spLocks xmlns:a="http://schemas.openxmlformats.org/drawingml/2006/main" noGrp="1"/>
          </p:cNvSpPr>
          <p:nvPr/>
        </p:nvSpPr>
        <p:spPr>
          <a:xfrm xmlns:a="http://schemas.openxmlformats.org/drawingml/2006/main">
            <a:off x="685800" y="1781175"/>
            <a:ext cx="10858500" cy="423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from pathlib import Path</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import tempfile</a:t>
            </a:r>
          </a:p>
          <a:p xmlns:a="http://schemas.openxmlformats.org/drawingml/2006/main">
            <a:r>
              <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with tempfile.TemporaryDirectory() as folder:</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path = Path(folder) / "report.txt"</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path.write_text("Анна: 4.50\n", encoding="utf-8")</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assert path.read_text(encoding="utf-8") == "Анна: 4.50\n"</a:t>
            </a:r>
          </a:p>
          <a:p xmlns:a="http://schemas.openxmlformats.org/drawingml/2006/main">
            <a:pPr>
              <a:defRPr sz="2100" b="1">
                <a:solidFill>
                  <a:srgbClr val="174B5B"/>
                </a:solidFill>
                <a:latin typeface="Courier New"/>
                <a:ea typeface="Courier New"/>
                <a:cs typeface="Courier New"/>
              </a:defRPr>
            </a:pPr>
            <a:r>
              <a:rPr sz="2100" b="1">
                <a:solidFill>
                  <a:srgbClr val="174B5B"/>
                </a:solidFill>
                <a:latin typeface="Courier New"/>
                <a:ea typeface="Courier New"/>
                <a:cs typeface="Courier New"/>
              </a:rPr>
              <a:t>    print("Файловая проверка выполнена")</a:t>
            </a:r>
          </a:p>
        </p:txBody>
      </p:sp>
      <p:sp>
        <p:nvSpPr>
          <p:cNvPr id="3" name="">
            <a:extLst xmlns:a="http://schemas.openxmlformats.org/drawingml/2006/main">
              <a:ext uri="{FF2B5EF4-FFF2-40B4-BE49-F238E27FC236}">
                <a16:creationId xmlns:a16="http://schemas.microsoft.com/office/drawing/2014/main" id="{885EE163-D34C-417D-9EDB-F11A86EE21D6}"/>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16 из 17   /   Разбор кода</a:t>
            </a:r>
          </a:p>
        </p:txBody>
      </p:sp>
    </p:spTree>
    <p:extLst>
      <p:ext uri="{BB962C8B-B14F-4D97-AF65-F5344CB8AC3E}">
        <p14:creationId xmlns:p14="http://schemas.microsoft.com/office/powerpoint/2010/main" val="913150680"/>
      </p:ext>
    </p:extLst>
  </p:cSld>
</p:sld>
</file>

<file path=ppt/slides/slide1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7BE1D9E-9D2A-44D2-9CAF-9C0981F59CF5}"/>
              </a:ext>
            </a:extLst>
          </p:cNvPr>
          <p:cNvSpPr>
            <a:spLocks xmlns:a="http://schemas.openxmlformats.org/drawingml/2006/main" noGrp="1"/>
          </p:cNvSpPr>
          <p:nvPr/>
        </p:nvSpPr>
        <p:spPr>
          <a:xfrm xmlns:a="http://schemas.openxmlformats.org/drawingml/2006/main">
            <a:off x="647700" y="4572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D3F"/>
                </a:solidFill>
                <a:latin typeface="Arial"/>
                <a:ea typeface="Arial"/>
                <a:cs typeface="Arial"/>
              </a:defRPr>
            </a:pPr>
            <a:r>
              <a:rPr sz="3300" b="1">
                <a:solidFill>
                  <a:srgbClr val="122D3F"/>
                </a:solidFill>
                <a:latin typeface="Arial"/>
                <a:ea typeface="Arial"/>
                <a:cs typeface="Arial"/>
              </a:rPr>
              <a:t>Самопроверка и практика</a:t>
            </a:r>
          </a:p>
        </p:txBody>
      </p:sp>
      <p:sp>
        <p:nvSpPr>
          <p:cNvPr id="2" name="">
            <a:extLst xmlns:a="http://schemas.openxmlformats.org/drawingml/2006/main">
              <a:ext uri="{FF2B5EF4-FFF2-40B4-BE49-F238E27FC236}">
                <a16:creationId xmlns:a16="http://schemas.microsoft.com/office/drawing/2014/main" id="{3A7C9899-2654-48EB-983E-4AACAB706F93}"/>
              </a:ext>
            </a:extLst>
          </p:cNvPr>
          <p:cNvSpPr>
            <a:spLocks xmlns:a="http://schemas.openxmlformats.org/drawingml/2006/main" noGrp="1"/>
          </p:cNvSpPr>
          <p:nvPr/>
        </p:nvSpPr>
        <p:spPr>
          <a:xfrm xmlns:a="http://schemas.openxmlformats.org/drawingml/2006/main">
            <a:off x="704850" y="2095500"/>
            <a:ext cx="10668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Почему int(value) внутри модели может скрыть ошибку?</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Почему сообщение «Ran 0 tests» не подтверждает корректность решения?</a:t>
            </a:r>
          </a:p>
          <a:p xmlns:a="http://schemas.openxmlformats.org/drawingml/2006/main">
            <a:r>
              <a:t/>
            </a:r>
          </a:p>
          <a:p xmlns:a="http://schemas.openxmlformats.org/drawingml/2006/main">
            <a:pPr>
              <a:defRPr sz="2625" b="0">
                <a:solidFill>
                  <a:srgbClr val="233C4A"/>
                </a:solidFill>
                <a:latin typeface="Arial"/>
                <a:ea typeface="Arial"/>
                <a:cs typeface="Arial"/>
              </a:defRPr>
            </a:pPr>
            <a:r>
              <a:rPr sz="2625" b="0">
                <a:solidFill>
                  <a:srgbClr val="233C4A"/>
                </a:solidFill>
                <a:latin typeface="Arial"/>
                <a:ea typeface="Arial"/>
                <a:cs typeface="Arial"/>
              </a:rPr>
              <a:t>Практики 9 и 10: применение материала</a:t>
            </a:r>
          </a:p>
        </p:txBody>
      </p:sp>
      <p:sp>
        <p:nvSpPr>
          <p:cNvPr id="3" name="">
            <a:extLst xmlns:a="http://schemas.openxmlformats.org/drawingml/2006/main">
              <a:ext uri="{FF2B5EF4-FFF2-40B4-BE49-F238E27FC236}">
                <a16:creationId xmlns:a16="http://schemas.microsoft.com/office/drawing/2014/main" id="{DEE11C58-DC7F-4899-9FBD-73FA08F975E4}"/>
              </a:ext>
            </a:extLst>
          </p:cNvPr>
          <p:cNvSpPr>
            <a:spLocks xmlns:a="http://schemas.openxmlformats.org/drawingml/2006/main" noGrp="1"/>
          </p:cNvSpPr>
          <p:nvPr/>
        </p:nvSpPr>
        <p:spPr>
          <a:xfrm xmlns:a="http://schemas.openxmlformats.org/drawingml/2006/main">
            <a:off x="704850" y="62769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E8C"/>
                </a:solidFill>
                <a:latin typeface="Arial"/>
                <a:ea typeface="Arial"/>
                <a:cs typeface="Arial"/>
              </a:defRPr>
            </a:pPr>
            <a:r>
              <a:rPr sz="1350" b="0">
                <a:solidFill>
                  <a:srgbClr val="657E8C"/>
                </a:solidFill>
                <a:latin typeface="Arial"/>
                <a:ea typeface="Arial"/>
                <a:cs typeface="Arial"/>
              </a:rPr>
              <a:t>Лекция 5   /   17 из 17</a:t>
            </a:r>
          </a:p>
        </p:txBody>
      </p:sp>
    </p:spTree>
    <p:extLst>
      <p:ext uri="{BB962C8B-B14F-4D97-AF65-F5344CB8AC3E}">
        <p14:creationId xmlns:p14="http://schemas.microsoft.com/office/powerpoint/2010/main" val="1577060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2026-09-09T09:52:08.4010000Z</dcterms:created>
  <dcterms:modified xsi:type="dcterms:W3CDTF">2026-09-09T09:52:08.4010000Z</dcterms:modified>
</coreProperties>
</file>